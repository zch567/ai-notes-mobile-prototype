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76" r:id="rId8"/>
    <p:sldId id="275" r:id="rId9"/>
    <p:sldId id="277" r:id="rId10"/>
    <p:sldId id="274" r:id="rId11"/>
    <p:sldId id="283" r:id="rId12"/>
    <p:sldId id="270" r:id="rId13"/>
    <p:sldId id="280" r:id="rId14"/>
    <p:sldId id="284" r:id="rId15"/>
    <p:sldId id="279" r:id="rId16"/>
  </p:sldIdLst>
  <p:sldSz cx="12192000" cy="6858000"/>
  <p:notesSz cx="6858000" cy="9144000"/>
  <p:custDataLst>
    <p:tags r:id="rId20"/>
  </p:custDataLst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0C6E"/>
    <a:srgbClr val="4F81BD"/>
    <a:srgbClr val="DEE6CE"/>
    <a:srgbClr val="D7E4BD"/>
    <a:srgbClr val="D2A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95701" autoAdjust="0"/>
  </p:normalViewPr>
  <p:slideViewPr>
    <p:cSldViewPr snapToGrid="0">
      <p:cViewPr varScale="1">
        <p:scale>
          <a:sx n="91" d="100"/>
          <a:sy n="91" d="100"/>
        </p:scale>
        <p:origin x="59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gs" Target="tags/tag36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8A71C8-A1DB-43F1-B4EF-6C89532C47D9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633DB19-CC5A-4FA7-8C3A-8090D2302732}">
      <dgm:prSet phldrT="[文本]"/>
      <dgm:spPr>
        <a:solidFill>
          <a:srgbClr val="7E0C6E"/>
        </a:solidFill>
      </dgm:spPr>
      <dgm:t>
        <a:bodyPr/>
        <a:lstStyle/>
        <a:p>
          <a:r>
            <a:rPr lang="zh-CN" altLang="en-US" b="1" dirty="0">
              <a:ln>
                <a:noFill/>
              </a:ln>
              <a:latin typeface="微软雅黑" panose="020B0503020204020204" charset="-122"/>
              <a:ea typeface="微软雅黑" panose="020B0503020204020204" charset="-122"/>
            </a:rPr>
            <a:t>三大核心优势</a:t>
          </a:r>
        </a:p>
      </dgm:t>
    </dgm:pt>
    <dgm:pt modelId="{BB2F09B5-E498-414F-AA6E-18C614EA5670}" cxnId="{8441590B-2059-46A2-B949-A948E89DD5F4}" type="parTrans">
      <dgm:prSet/>
      <dgm:spPr/>
      <dgm:t>
        <a:bodyPr/>
        <a:lstStyle/>
        <a:p>
          <a:endParaRPr lang="zh-CN" altLang="en-US"/>
        </a:p>
      </dgm:t>
    </dgm:pt>
    <dgm:pt modelId="{12D17424-D387-43C7-9A25-A53E0813238A}" cxnId="{8441590B-2059-46A2-B949-A948E89DD5F4}" type="sibTrans">
      <dgm:prSet/>
      <dgm:spPr/>
      <dgm:t>
        <a:bodyPr/>
        <a:lstStyle/>
        <a:p>
          <a:endParaRPr lang="zh-CN" altLang="en-US"/>
        </a:p>
      </dgm:t>
    </dgm:pt>
    <dgm:pt modelId="{FEE0C1ED-34E7-4517-AA65-C6E148B6CAFA}">
      <dgm:prSet phldrT="[文本]"/>
      <dgm:spPr>
        <a:solidFill>
          <a:srgbClr val="7E0C6E"/>
        </a:solidFill>
      </dgm:spPr>
      <dgm:t>
        <a:bodyPr/>
        <a:lstStyle/>
        <a:p>
          <a:r>
            <a:rPr lang="zh-CN" altLang="en-US" b="1" dirty="0">
              <a:latin typeface="微软雅黑" panose="020B0503020204020204" charset="-122"/>
              <a:ea typeface="微软雅黑" panose="020B0503020204020204" charset="-122"/>
            </a:rPr>
            <a:t>无需拆卸改造</a:t>
          </a:r>
        </a:p>
      </dgm:t>
    </dgm:pt>
    <dgm:pt modelId="{9987C47C-B813-4D3E-8D66-155CA80CA8EC}" cxnId="{7599E30F-1882-4470-8576-2951B49DFE6A}" type="parTrans">
      <dgm:prSet/>
      <dgm:spPr/>
      <dgm:t>
        <a:bodyPr/>
        <a:lstStyle/>
        <a:p>
          <a:endParaRPr lang="zh-CN" altLang="en-US"/>
        </a:p>
      </dgm:t>
    </dgm:pt>
    <dgm:pt modelId="{37615694-3E7E-41AE-BCAC-CA1D643FA518}" cxnId="{7599E30F-1882-4470-8576-2951B49DFE6A}" type="sibTrans">
      <dgm:prSet/>
      <dgm:spPr/>
      <dgm:t>
        <a:bodyPr/>
        <a:lstStyle/>
        <a:p>
          <a:endParaRPr lang="zh-CN" altLang="en-US"/>
        </a:p>
      </dgm:t>
    </dgm:pt>
    <dgm:pt modelId="{3A211FD8-818E-40AE-9D68-C840C3FF7DB7}">
      <dgm:prSet phldrT="[文本]"/>
      <dgm:spPr>
        <a:solidFill>
          <a:srgbClr val="7E0C6E"/>
        </a:solidFill>
      </dgm:spPr>
      <dgm:t>
        <a:bodyPr/>
        <a:lstStyle/>
        <a:p>
          <a:r>
            <a:rPr lang="zh-CN" altLang="en-US" b="1" dirty="0">
              <a:latin typeface="微软雅黑" panose="020B0503020204020204" charset="-122"/>
              <a:ea typeface="微软雅黑" panose="020B0503020204020204" charset="-122"/>
            </a:rPr>
            <a:t>物联网上传至云端</a:t>
          </a:r>
        </a:p>
      </dgm:t>
    </dgm:pt>
    <dgm:pt modelId="{7D93C6FD-04DC-455A-9ECC-153E080D8529}" cxnId="{CEC15B42-3708-45E0-A50B-473831970ADB}" type="parTrans">
      <dgm:prSet/>
      <dgm:spPr/>
      <dgm:t>
        <a:bodyPr/>
        <a:lstStyle/>
        <a:p>
          <a:endParaRPr lang="zh-CN" altLang="en-US"/>
        </a:p>
      </dgm:t>
    </dgm:pt>
    <dgm:pt modelId="{A4D8127A-D2FF-4825-AD65-493771944323}" cxnId="{CEC15B42-3708-45E0-A50B-473831970ADB}" type="sibTrans">
      <dgm:prSet/>
      <dgm:spPr/>
      <dgm:t>
        <a:bodyPr/>
        <a:lstStyle/>
        <a:p>
          <a:endParaRPr lang="zh-CN" altLang="en-US"/>
        </a:p>
      </dgm:t>
    </dgm:pt>
    <dgm:pt modelId="{F1D57F33-F75C-4909-B441-DD18B85F9891}">
      <dgm:prSet phldrT="[文本]"/>
      <dgm:spPr>
        <a:solidFill>
          <a:srgbClr val="7E0C6E"/>
        </a:solidFill>
      </dgm:spPr>
      <dgm:t>
        <a:bodyPr/>
        <a:lstStyle/>
        <a:p>
          <a:r>
            <a:rPr lang="en-US" altLang="zh-CN" b="1" dirty="0">
              <a:latin typeface="微软雅黑" panose="020B0503020204020204" charset="-122"/>
              <a:ea typeface="微软雅黑" panose="020B0503020204020204" charset="-122"/>
            </a:rPr>
            <a:t>AI</a:t>
          </a:r>
          <a:r>
            <a:rPr lang="zh-CN" altLang="en-US" b="1" dirty="0">
              <a:latin typeface="微软雅黑" panose="020B0503020204020204" charset="-122"/>
              <a:ea typeface="微软雅黑" panose="020B0503020204020204" charset="-122"/>
            </a:rPr>
            <a:t>生成节水建议</a:t>
          </a:r>
        </a:p>
      </dgm:t>
    </dgm:pt>
    <dgm:pt modelId="{AF01225C-8892-4C84-B52F-76D72DD14A22}" cxnId="{23AF8B77-977B-4C62-8BAB-E7B6CA915DEB}" type="parTrans">
      <dgm:prSet/>
      <dgm:spPr/>
      <dgm:t>
        <a:bodyPr/>
        <a:lstStyle/>
        <a:p>
          <a:endParaRPr lang="zh-CN" altLang="en-US"/>
        </a:p>
      </dgm:t>
    </dgm:pt>
    <dgm:pt modelId="{0027693F-FFDB-458C-B9F2-ABE4CA6B36B5}" cxnId="{23AF8B77-977B-4C62-8BAB-E7B6CA915DEB}" type="sibTrans">
      <dgm:prSet/>
      <dgm:spPr/>
      <dgm:t>
        <a:bodyPr/>
        <a:lstStyle/>
        <a:p>
          <a:endParaRPr lang="zh-CN" altLang="en-US"/>
        </a:p>
      </dgm:t>
    </dgm:pt>
    <dgm:pt modelId="{13EB29B0-782E-4646-B667-51BA259B5B15}" type="pres">
      <dgm:prSet presAssocID="{7A8A71C8-A1DB-43F1-B4EF-6C89532C47D9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051B697-71D2-4FA6-A888-B73AB75CA22E}" type="pres">
      <dgm:prSet presAssocID="{6633DB19-CC5A-4FA7-8C3A-8090D2302732}" presName="root1" presStyleCnt="0"/>
      <dgm:spPr/>
    </dgm:pt>
    <dgm:pt modelId="{D86A8DC3-A518-4590-BB37-2AC7F889727A}" type="pres">
      <dgm:prSet presAssocID="{6633DB19-CC5A-4FA7-8C3A-8090D2302732}" presName="LevelOneTextNode" presStyleLbl="node0" presStyleIdx="0" presStyleCnt="1" custAng="5400000" custScaleX="117434" custScaleY="66159" custLinFactX="-13637" custLinFactNeighborX="-100000" custLinFactNeighborY="0">
        <dgm:presLayoutVars>
          <dgm:chPref val="3"/>
        </dgm:presLayoutVars>
      </dgm:prSet>
      <dgm:spPr>
        <a:prstGeom prst="flowChartTerminator">
          <a:avLst/>
        </a:prstGeom>
      </dgm:spPr>
    </dgm:pt>
    <dgm:pt modelId="{B9454608-3A3A-4830-BF09-3A65BAA50771}" type="pres">
      <dgm:prSet presAssocID="{6633DB19-CC5A-4FA7-8C3A-8090D2302732}" presName="level2hierChild" presStyleCnt="0"/>
      <dgm:spPr/>
    </dgm:pt>
    <dgm:pt modelId="{D6461120-149B-41C9-8BA9-2DEADA44B078}" type="pres">
      <dgm:prSet presAssocID="{9987C47C-B813-4D3E-8D66-155CA80CA8EC}" presName="conn2-1" presStyleLbl="parChTrans1D2" presStyleIdx="0" presStyleCnt="3"/>
      <dgm:spPr/>
    </dgm:pt>
    <dgm:pt modelId="{ECFFC434-FF79-4DD7-8CC5-90AECF89AB88}" type="pres">
      <dgm:prSet presAssocID="{9987C47C-B813-4D3E-8D66-155CA80CA8EC}" presName="connTx" presStyleLbl="parChTrans1D2" presStyleIdx="0" presStyleCnt="3"/>
      <dgm:spPr/>
    </dgm:pt>
    <dgm:pt modelId="{99883555-33D6-4300-AFD6-ED426E45FA54}" type="pres">
      <dgm:prSet presAssocID="{FEE0C1ED-34E7-4517-AA65-C6E148B6CAFA}" presName="root2" presStyleCnt="0"/>
      <dgm:spPr/>
    </dgm:pt>
    <dgm:pt modelId="{7518DCF2-71A6-4FE6-B8B3-3BD0D7D982DF}" type="pres">
      <dgm:prSet presAssocID="{FEE0C1ED-34E7-4517-AA65-C6E148B6CAFA}" presName="LevelTwoTextNode" presStyleLbl="node2" presStyleIdx="0" presStyleCnt="3" custLinFactNeighborX="31718" custLinFactNeighborY="3309">
        <dgm:presLayoutVars>
          <dgm:chPref val="3"/>
        </dgm:presLayoutVars>
      </dgm:prSet>
      <dgm:spPr>
        <a:prstGeom prst="roundRect">
          <a:avLst/>
        </a:prstGeom>
      </dgm:spPr>
    </dgm:pt>
    <dgm:pt modelId="{FA962DCF-FA15-413E-BD48-D63053D20F32}" type="pres">
      <dgm:prSet presAssocID="{FEE0C1ED-34E7-4517-AA65-C6E148B6CAFA}" presName="level3hierChild" presStyleCnt="0"/>
      <dgm:spPr/>
    </dgm:pt>
    <dgm:pt modelId="{492C7F02-37AB-47D6-A821-35D68CC51D7F}" type="pres">
      <dgm:prSet presAssocID="{7D93C6FD-04DC-455A-9ECC-153E080D8529}" presName="conn2-1" presStyleLbl="parChTrans1D2" presStyleIdx="1" presStyleCnt="3"/>
      <dgm:spPr/>
    </dgm:pt>
    <dgm:pt modelId="{8CB25F9F-3F9F-41F2-802A-97847381AB1B}" type="pres">
      <dgm:prSet presAssocID="{7D93C6FD-04DC-455A-9ECC-153E080D8529}" presName="connTx" presStyleLbl="parChTrans1D2" presStyleIdx="1" presStyleCnt="3"/>
      <dgm:spPr/>
    </dgm:pt>
    <dgm:pt modelId="{299F4E7A-D2B2-4FF2-B0AC-98A0BDAA40C3}" type="pres">
      <dgm:prSet presAssocID="{3A211FD8-818E-40AE-9D68-C840C3FF7DB7}" presName="root2" presStyleCnt="0"/>
      <dgm:spPr/>
    </dgm:pt>
    <dgm:pt modelId="{E40F9E97-0DD7-4792-A32D-8C2676101F20}" type="pres">
      <dgm:prSet presAssocID="{3A211FD8-818E-40AE-9D68-C840C3FF7DB7}" presName="LevelTwoTextNode" presStyleLbl="node2" presStyleIdx="1" presStyleCnt="3" custLinFactNeighborX="31717">
        <dgm:presLayoutVars>
          <dgm:chPref val="3"/>
        </dgm:presLayoutVars>
      </dgm:prSet>
      <dgm:spPr>
        <a:prstGeom prst="roundRect">
          <a:avLst/>
        </a:prstGeom>
      </dgm:spPr>
    </dgm:pt>
    <dgm:pt modelId="{973661EE-E626-425A-B9DE-5366784DE708}" type="pres">
      <dgm:prSet presAssocID="{3A211FD8-818E-40AE-9D68-C840C3FF7DB7}" presName="level3hierChild" presStyleCnt="0"/>
      <dgm:spPr/>
    </dgm:pt>
    <dgm:pt modelId="{2F0C0CDA-9F11-417F-BD4C-71CC14D94DD5}" type="pres">
      <dgm:prSet presAssocID="{AF01225C-8892-4C84-B52F-76D72DD14A22}" presName="conn2-1" presStyleLbl="parChTrans1D2" presStyleIdx="2" presStyleCnt="3"/>
      <dgm:spPr/>
    </dgm:pt>
    <dgm:pt modelId="{2F9ED895-7C03-4FE1-8D79-43FA658EA9F7}" type="pres">
      <dgm:prSet presAssocID="{AF01225C-8892-4C84-B52F-76D72DD14A22}" presName="connTx" presStyleLbl="parChTrans1D2" presStyleIdx="2" presStyleCnt="3"/>
      <dgm:spPr/>
    </dgm:pt>
    <dgm:pt modelId="{5BCE35A7-A4C8-49A7-92D4-C77D2AA2781F}" type="pres">
      <dgm:prSet presAssocID="{F1D57F33-F75C-4909-B441-DD18B85F9891}" presName="root2" presStyleCnt="0"/>
      <dgm:spPr/>
    </dgm:pt>
    <dgm:pt modelId="{F2EB2D37-14E3-4FF5-8A0E-5B444F978F53}" type="pres">
      <dgm:prSet presAssocID="{F1D57F33-F75C-4909-B441-DD18B85F9891}" presName="LevelTwoTextNode" presStyleLbl="node2" presStyleIdx="2" presStyleCnt="3" custLinFactNeighborX="31707" custLinFactNeighborY="1377">
        <dgm:presLayoutVars>
          <dgm:chPref val="3"/>
        </dgm:presLayoutVars>
      </dgm:prSet>
      <dgm:spPr>
        <a:prstGeom prst="roundRect">
          <a:avLst/>
        </a:prstGeom>
      </dgm:spPr>
    </dgm:pt>
    <dgm:pt modelId="{776574FF-3B74-4858-B016-EB48A5C03C02}" type="pres">
      <dgm:prSet presAssocID="{F1D57F33-F75C-4909-B441-DD18B85F9891}" presName="level3hierChild" presStyleCnt="0"/>
      <dgm:spPr/>
    </dgm:pt>
  </dgm:ptLst>
  <dgm:cxnLst>
    <dgm:cxn modelId="{EB019303-D48E-4EFC-AFF8-FA708835CB89}" type="presOf" srcId="{FEE0C1ED-34E7-4517-AA65-C6E148B6CAFA}" destId="{7518DCF2-71A6-4FE6-B8B3-3BD0D7D982DF}" srcOrd="0" destOrd="0" presId="urn:microsoft.com/office/officeart/2008/layout/HorizontalMultiLevelHierarchy"/>
    <dgm:cxn modelId="{8441590B-2059-46A2-B949-A948E89DD5F4}" srcId="{7A8A71C8-A1DB-43F1-B4EF-6C89532C47D9}" destId="{6633DB19-CC5A-4FA7-8C3A-8090D2302732}" srcOrd="0" destOrd="0" parTransId="{BB2F09B5-E498-414F-AA6E-18C614EA5670}" sibTransId="{12D17424-D387-43C7-9A25-A53E0813238A}"/>
    <dgm:cxn modelId="{7599E30F-1882-4470-8576-2951B49DFE6A}" srcId="{6633DB19-CC5A-4FA7-8C3A-8090D2302732}" destId="{FEE0C1ED-34E7-4517-AA65-C6E148B6CAFA}" srcOrd="0" destOrd="0" parTransId="{9987C47C-B813-4D3E-8D66-155CA80CA8EC}" sibTransId="{37615694-3E7E-41AE-BCAC-CA1D643FA518}"/>
    <dgm:cxn modelId="{25936A10-F09E-4F92-AF9F-DBB347B4D3BB}" type="presOf" srcId="{6633DB19-CC5A-4FA7-8C3A-8090D2302732}" destId="{D86A8DC3-A518-4590-BB37-2AC7F889727A}" srcOrd="0" destOrd="0" presId="urn:microsoft.com/office/officeart/2008/layout/HorizontalMultiLevelHierarchy"/>
    <dgm:cxn modelId="{D0E51F19-BA0C-41E3-AC3E-4EDE6B88E288}" type="presOf" srcId="{AF01225C-8892-4C84-B52F-76D72DD14A22}" destId="{2F0C0CDA-9F11-417F-BD4C-71CC14D94DD5}" srcOrd="0" destOrd="0" presId="urn:microsoft.com/office/officeart/2008/layout/HorizontalMultiLevelHierarchy"/>
    <dgm:cxn modelId="{A5118D3B-C6AB-4866-AEEF-329FD63289AB}" type="presOf" srcId="{7A8A71C8-A1DB-43F1-B4EF-6C89532C47D9}" destId="{13EB29B0-782E-4646-B667-51BA259B5B15}" srcOrd="0" destOrd="0" presId="urn:microsoft.com/office/officeart/2008/layout/HorizontalMultiLevelHierarchy"/>
    <dgm:cxn modelId="{CEC15B42-3708-45E0-A50B-473831970ADB}" srcId="{6633DB19-CC5A-4FA7-8C3A-8090D2302732}" destId="{3A211FD8-818E-40AE-9D68-C840C3FF7DB7}" srcOrd="1" destOrd="0" parTransId="{7D93C6FD-04DC-455A-9ECC-153E080D8529}" sibTransId="{A4D8127A-D2FF-4825-AD65-493771944323}"/>
    <dgm:cxn modelId="{05749375-815D-46F7-83D5-413F08AB947F}" type="presOf" srcId="{9987C47C-B813-4D3E-8D66-155CA80CA8EC}" destId="{ECFFC434-FF79-4DD7-8CC5-90AECF89AB88}" srcOrd="1" destOrd="0" presId="urn:microsoft.com/office/officeart/2008/layout/HorizontalMultiLevelHierarchy"/>
    <dgm:cxn modelId="{23AF8B77-977B-4C62-8BAB-E7B6CA915DEB}" srcId="{6633DB19-CC5A-4FA7-8C3A-8090D2302732}" destId="{F1D57F33-F75C-4909-B441-DD18B85F9891}" srcOrd="2" destOrd="0" parTransId="{AF01225C-8892-4C84-B52F-76D72DD14A22}" sibTransId="{0027693F-FFDB-458C-B9F2-ABE4CA6B36B5}"/>
    <dgm:cxn modelId="{F4081F79-5279-426C-8E58-9320B7573696}" type="presOf" srcId="{7D93C6FD-04DC-455A-9ECC-153E080D8529}" destId="{492C7F02-37AB-47D6-A821-35D68CC51D7F}" srcOrd="0" destOrd="0" presId="urn:microsoft.com/office/officeart/2008/layout/HorizontalMultiLevelHierarchy"/>
    <dgm:cxn modelId="{94851C5A-2DB7-4CA5-AB6E-F002E6D57B8D}" type="presOf" srcId="{7D93C6FD-04DC-455A-9ECC-153E080D8529}" destId="{8CB25F9F-3F9F-41F2-802A-97847381AB1B}" srcOrd="1" destOrd="0" presId="urn:microsoft.com/office/officeart/2008/layout/HorizontalMultiLevelHierarchy"/>
    <dgm:cxn modelId="{8166AE7E-9F1B-4403-BF4D-CE54AE22FAA6}" type="presOf" srcId="{9987C47C-B813-4D3E-8D66-155CA80CA8EC}" destId="{D6461120-149B-41C9-8BA9-2DEADA44B078}" srcOrd="0" destOrd="0" presId="urn:microsoft.com/office/officeart/2008/layout/HorizontalMultiLevelHierarchy"/>
    <dgm:cxn modelId="{AF00BAB9-B8AF-4071-9C45-276A8359A95A}" type="presOf" srcId="{F1D57F33-F75C-4909-B441-DD18B85F9891}" destId="{F2EB2D37-14E3-4FF5-8A0E-5B444F978F53}" srcOrd="0" destOrd="0" presId="urn:microsoft.com/office/officeart/2008/layout/HorizontalMultiLevelHierarchy"/>
    <dgm:cxn modelId="{7340E5C0-8AEF-4D2F-B24F-7740182A1135}" type="presOf" srcId="{3A211FD8-818E-40AE-9D68-C840C3FF7DB7}" destId="{E40F9E97-0DD7-4792-A32D-8C2676101F20}" srcOrd="0" destOrd="0" presId="urn:microsoft.com/office/officeart/2008/layout/HorizontalMultiLevelHierarchy"/>
    <dgm:cxn modelId="{D59F70C3-1412-4FDF-8269-ACC2195DD7AE}" type="presOf" srcId="{AF01225C-8892-4C84-B52F-76D72DD14A22}" destId="{2F9ED895-7C03-4FE1-8D79-43FA658EA9F7}" srcOrd="1" destOrd="0" presId="urn:microsoft.com/office/officeart/2008/layout/HorizontalMultiLevelHierarchy"/>
    <dgm:cxn modelId="{930F8097-8144-4D78-8838-02EA9272D056}" type="presParOf" srcId="{13EB29B0-782E-4646-B667-51BA259B5B15}" destId="{5051B697-71D2-4FA6-A888-B73AB75CA22E}" srcOrd="0" destOrd="0" presId="urn:microsoft.com/office/officeart/2008/layout/HorizontalMultiLevelHierarchy"/>
    <dgm:cxn modelId="{B9336C01-A0BB-4779-AC1B-51C1DD6170BC}" type="presParOf" srcId="{5051B697-71D2-4FA6-A888-B73AB75CA22E}" destId="{D86A8DC3-A518-4590-BB37-2AC7F889727A}" srcOrd="0" destOrd="0" presId="urn:microsoft.com/office/officeart/2008/layout/HorizontalMultiLevelHierarchy"/>
    <dgm:cxn modelId="{E0D135A9-8DFD-4210-A8FA-167262515E68}" type="presParOf" srcId="{5051B697-71D2-4FA6-A888-B73AB75CA22E}" destId="{B9454608-3A3A-4830-BF09-3A65BAA50771}" srcOrd="1" destOrd="0" presId="urn:microsoft.com/office/officeart/2008/layout/HorizontalMultiLevelHierarchy"/>
    <dgm:cxn modelId="{4CDBDAE0-D52E-45B2-8B0A-C18024F587AE}" type="presParOf" srcId="{B9454608-3A3A-4830-BF09-3A65BAA50771}" destId="{D6461120-149B-41C9-8BA9-2DEADA44B078}" srcOrd="0" destOrd="0" presId="urn:microsoft.com/office/officeart/2008/layout/HorizontalMultiLevelHierarchy"/>
    <dgm:cxn modelId="{277D3FB7-02D8-4CBB-BD5E-C12ACE534A31}" type="presParOf" srcId="{D6461120-149B-41C9-8BA9-2DEADA44B078}" destId="{ECFFC434-FF79-4DD7-8CC5-90AECF89AB88}" srcOrd="0" destOrd="0" presId="urn:microsoft.com/office/officeart/2008/layout/HorizontalMultiLevelHierarchy"/>
    <dgm:cxn modelId="{30DE0A6E-91F8-40EF-82B7-3AC21B5E5190}" type="presParOf" srcId="{B9454608-3A3A-4830-BF09-3A65BAA50771}" destId="{99883555-33D6-4300-AFD6-ED426E45FA54}" srcOrd="1" destOrd="0" presId="urn:microsoft.com/office/officeart/2008/layout/HorizontalMultiLevelHierarchy"/>
    <dgm:cxn modelId="{5B53F6A5-05E5-4CD3-A403-27D107BDE722}" type="presParOf" srcId="{99883555-33D6-4300-AFD6-ED426E45FA54}" destId="{7518DCF2-71A6-4FE6-B8B3-3BD0D7D982DF}" srcOrd="0" destOrd="0" presId="urn:microsoft.com/office/officeart/2008/layout/HorizontalMultiLevelHierarchy"/>
    <dgm:cxn modelId="{39EDE1E4-C64A-49D0-B2D4-DBCFB6138BFB}" type="presParOf" srcId="{99883555-33D6-4300-AFD6-ED426E45FA54}" destId="{FA962DCF-FA15-413E-BD48-D63053D20F32}" srcOrd="1" destOrd="0" presId="urn:microsoft.com/office/officeart/2008/layout/HorizontalMultiLevelHierarchy"/>
    <dgm:cxn modelId="{BB1DC7D3-2896-481C-AE85-1B46DC2BC6CE}" type="presParOf" srcId="{B9454608-3A3A-4830-BF09-3A65BAA50771}" destId="{492C7F02-37AB-47D6-A821-35D68CC51D7F}" srcOrd="2" destOrd="0" presId="urn:microsoft.com/office/officeart/2008/layout/HorizontalMultiLevelHierarchy"/>
    <dgm:cxn modelId="{CE8B0751-14FF-4C10-A8A5-24A9E05FB860}" type="presParOf" srcId="{492C7F02-37AB-47D6-A821-35D68CC51D7F}" destId="{8CB25F9F-3F9F-41F2-802A-97847381AB1B}" srcOrd="0" destOrd="0" presId="urn:microsoft.com/office/officeart/2008/layout/HorizontalMultiLevelHierarchy"/>
    <dgm:cxn modelId="{EF5AFD22-D936-407E-A9ED-4C402BD55A9A}" type="presParOf" srcId="{B9454608-3A3A-4830-BF09-3A65BAA50771}" destId="{299F4E7A-D2B2-4FF2-B0AC-98A0BDAA40C3}" srcOrd="3" destOrd="0" presId="urn:microsoft.com/office/officeart/2008/layout/HorizontalMultiLevelHierarchy"/>
    <dgm:cxn modelId="{2D9AB0CD-5444-425E-8136-A45F1272301E}" type="presParOf" srcId="{299F4E7A-D2B2-4FF2-B0AC-98A0BDAA40C3}" destId="{E40F9E97-0DD7-4792-A32D-8C2676101F20}" srcOrd="0" destOrd="0" presId="urn:microsoft.com/office/officeart/2008/layout/HorizontalMultiLevelHierarchy"/>
    <dgm:cxn modelId="{B59F4053-E7B1-4407-B1B6-C0C6975BD639}" type="presParOf" srcId="{299F4E7A-D2B2-4FF2-B0AC-98A0BDAA40C3}" destId="{973661EE-E626-425A-B9DE-5366784DE708}" srcOrd="1" destOrd="0" presId="urn:microsoft.com/office/officeart/2008/layout/HorizontalMultiLevelHierarchy"/>
    <dgm:cxn modelId="{C71CBB1B-9065-4009-8678-488670D104DB}" type="presParOf" srcId="{B9454608-3A3A-4830-BF09-3A65BAA50771}" destId="{2F0C0CDA-9F11-417F-BD4C-71CC14D94DD5}" srcOrd="4" destOrd="0" presId="urn:microsoft.com/office/officeart/2008/layout/HorizontalMultiLevelHierarchy"/>
    <dgm:cxn modelId="{D68D4ECF-9B75-4D35-B3C1-93F7A6DF1F17}" type="presParOf" srcId="{2F0C0CDA-9F11-417F-BD4C-71CC14D94DD5}" destId="{2F9ED895-7C03-4FE1-8D79-43FA658EA9F7}" srcOrd="0" destOrd="0" presId="urn:microsoft.com/office/officeart/2008/layout/HorizontalMultiLevelHierarchy"/>
    <dgm:cxn modelId="{5F1C29BA-CB32-480E-A6CD-990FB2FAC89C}" type="presParOf" srcId="{B9454608-3A3A-4830-BF09-3A65BAA50771}" destId="{5BCE35A7-A4C8-49A7-92D4-C77D2AA2781F}" srcOrd="5" destOrd="0" presId="urn:microsoft.com/office/officeart/2008/layout/HorizontalMultiLevelHierarchy"/>
    <dgm:cxn modelId="{F7343C24-BB52-4F7E-9DCD-6E805345AD74}" type="presParOf" srcId="{5BCE35A7-A4C8-49A7-92D4-C77D2AA2781F}" destId="{F2EB2D37-14E3-4FF5-8A0E-5B444F978F53}" srcOrd="0" destOrd="0" presId="urn:microsoft.com/office/officeart/2008/layout/HorizontalMultiLevelHierarchy"/>
    <dgm:cxn modelId="{94CADD7F-842B-4065-AF0B-DFD4FEA37DAD}" type="presParOf" srcId="{5BCE35A7-A4C8-49A7-92D4-C77D2AA2781F}" destId="{776574FF-3B74-4858-B016-EB48A5C03C0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0D3CF2-E441-42CE-8DA0-655BCAD0F519}" type="doc">
      <dgm:prSet loTypeId="urn:microsoft.com/office/officeart/2005/8/layout/chevron1" loCatId="process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1A1D137C-CF18-4402-B067-03DE00F3CE5D}">
      <dgm:prSet phldrT="[文本]" custT="1"/>
      <dgm:spPr>
        <a:solidFill>
          <a:srgbClr val="7E0C6E"/>
        </a:solidFill>
      </dgm:spPr>
      <dgm:t>
        <a:bodyPr/>
        <a:lstStyle/>
        <a:p>
          <a:r>
            <a:rPr lang="zh-CN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rPr>
            <a:t>环境感知</a:t>
          </a:r>
          <a:endParaRPr lang="zh-CN" altLang="en-US" sz="1800" b="0" dirty="0">
            <a:solidFill>
              <a:schemeClr val="bg1"/>
            </a:solidFill>
          </a:endParaRPr>
        </a:p>
      </dgm:t>
    </dgm:pt>
    <dgm:pt modelId="{68B800ED-FF60-4936-8D7F-3695DBB58A10}" cxnId="{EA5AF837-17A6-4431-B160-BD35B4ACB2AF}" type="parTrans">
      <dgm:prSet/>
      <dgm:spPr/>
      <dgm:t>
        <a:bodyPr/>
        <a:lstStyle/>
        <a:p>
          <a:endParaRPr lang="zh-CN" altLang="en-US" sz="2800"/>
        </a:p>
      </dgm:t>
    </dgm:pt>
    <dgm:pt modelId="{E68DD769-DEA2-415F-88B2-8381301EF203}" cxnId="{EA5AF837-17A6-4431-B160-BD35B4ACB2AF}" type="sibTrans">
      <dgm:prSet/>
      <dgm:spPr/>
      <dgm:t>
        <a:bodyPr/>
        <a:lstStyle/>
        <a:p>
          <a:endParaRPr lang="zh-CN" altLang="en-US" sz="2800"/>
        </a:p>
      </dgm:t>
    </dgm:pt>
    <dgm:pt modelId="{4725967F-B795-479D-900E-C4DAB9C4FD88}">
      <dgm:prSet phldrT="[文本]" custT="1"/>
      <dgm:spPr>
        <a:solidFill>
          <a:srgbClr val="7E0C6E"/>
        </a:solidFill>
      </dgm:spPr>
      <dgm:t>
        <a:bodyPr/>
        <a:lstStyle/>
        <a:p>
          <a:r>
            <a:rPr lang="zh-CN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rPr>
            <a:t>硬件适配</a:t>
          </a:r>
          <a:endParaRPr lang="zh-CN" altLang="en-US" sz="1800" b="0" dirty="0">
            <a:solidFill>
              <a:schemeClr val="bg1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2D074ACB-940F-4AA3-8A2C-C5BED86126AD}" cxnId="{92891743-568B-4DA0-9F9E-75B9FB583AD4}" type="parTrans">
      <dgm:prSet/>
      <dgm:spPr/>
      <dgm:t>
        <a:bodyPr/>
        <a:lstStyle/>
        <a:p>
          <a:endParaRPr lang="zh-CN" altLang="en-US" sz="2800"/>
        </a:p>
      </dgm:t>
    </dgm:pt>
    <dgm:pt modelId="{53992E68-CFE8-4BC1-ADB3-738A8A87B8A5}" cxnId="{92891743-568B-4DA0-9F9E-75B9FB583AD4}" type="sibTrans">
      <dgm:prSet/>
      <dgm:spPr/>
      <dgm:t>
        <a:bodyPr/>
        <a:lstStyle/>
        <a:p>
          <a:endParaRPr lang="zh-CN" altLang="en-US" sz="2800"/>
        </a:p>
      </dgm:t>
    </dgm:pt>
    <dgm:pt modelId="{34DD3BEF-8C38-42AE-8476-4AD626C5083A}">
      <dgm:prSet phldrT="[文本]" custT="1"/>
      <dgm:spPr>
        <a:solidFill>
          <a:srgbClr val="7E0C6E"/>
        </a:solidFill>
      </dgm:spPr>
      <dgm:t>
        <a:bodyPr/>
        <a:lstStyle/>
        <a:p>
          <a:r>
            <a:rPr lang="zh-CN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rPr>
            <a:t>图像采集压缩</a:t>
          </a:r>
          <a:endParaRPr lang="zh-CN" altLang="en-US" sz="1800" b="0" dirty="0">
            <a:solidFill>
              <a:schemeClr val="bg1"/>
            </a:solidFill>
            <a:latin typeface="微软雅黑" panose="020B0503020204020204" charset="-122"/>
            <a:ea typeface="微软雅黑" panose="020B0503020204020204" charset="-122"/>
          </a:endParaRPr>
        </a:p>
      </dgm:t>
    </dgm:pt>
    <dgm:pt modelId="{4B7F5EEB-4582-4FD0-8D13-EE6344D1FBB0}" cxnId="{55DF1CA3-4273-4651-8618-C5EBCBCD8A94}" type="parTrans">
      <dgm:prSet/>
      <dgm:spPr/>
      <dgm:t>
        <a:bodyPr/>
        <a:lstStyle/>
        <a:p>
          <a:endParaRPr lang="zh-CN" altLang="en-US" sz="2800"/>
        </a:p>
      </dgm:t>
    </dgm:pt>
    <dgm:pt modelId="{275A0690-9408-44EB-848E-4E4FCE552DDA}" cxnId="{55DF1CA3-4273-4651-8618-C5EBCBCD8A94}" type="sibTrans">
      <dgm:prSet/>
      <dgm:spPr/>
      <dgm:t>
        <a:bodyPr/>
        <a:lstStyle/>
        <a:p>
          <a:endParaRPr lang="zh-CN" altLang="en-US" sz="2800"/>
        </a:p>
      </dgm:t>
    </dgm:pt>
    <dgm:pt modelId="{90F07824-4052-4EA9-AC9D-88290A6A26AA}" type="pres">
      <dgm:prSet presAssocID="{FC0D3CF2-E441-42CE-8DA0-655BCAD0F519}" presName="Name0" presStyleCnt="0">
        <dgm:presLayoutVars>
          <dgm:dir/>
          <dgm:animLvl val="lvl"/>
          <dgm:resizeHandles val="exact"/>
        </dgm:presLayoutVars>
      </dgm:prSet>
      <dgm:spPr/>
    </dgm:pt>
    <dgm:pt modelId="{8DD0C2B6-AEC5-43C5-803F-299138D0CBDD}" type="pres">
      <dgm:prSet presAssocID="{1A1D137C-CF18-4402-B067-03DE00F3CE5D}" presName="parTxOnly" presStyleLbl="node1" presStyleIdx="0" presStyleCnt="3" custScaleX="177681" custScaleY="142094">
        <dgm:presLayoutVars>
          <dgm:chMax val="0"/>
          <dgm:chPref val="0"/>
          <dgm:bulletEnabled val="1"/>
        </dgm:presLayoutVars>
      </dgm:prSet>
      <dgm:spPr/>
    </dgm:pt>
    <dgm:pt modelId="{33B36BD0-DC0C-46BE-AA60-756B1D3C420A}" type="pres">
      <dgm:prSet presAssocID="{E68DD769-DEA2-415F-88B2-8381301EF203}" presName="parTxOnlySpace" presStyleCnt="0"/>
      <dgm:spPr/>
    </dgm:pt>
    <dgm:pt modelId="{F362B02B-3783-426C-92B1-3B3B7F24DB58}" type="pres">
      <dgm:prSet presAssocID="{4725967F-B795-479D-900E-C4DAB9C4FD88}" presName="parTxOnly" presStyleLbl="node1" presStyleIdx="1" presStyleCnt="3" custScaleX="177681" custScaleY="142094">
        <dgm:presLayoutVars>
          <dgm:chMax val="0"/>
          <dgm:chPref val="0"/>
          <dgm:bulletEnabled val="1"/>
        </dgm:presLayoutVars>
      </dgm:prSet>
      <dgm:spPr/>
    </dgm:pt>
    <dgm:pt modelId="{4735E6EC-1103-4742-873C-7B204C3E4248}" type="pres">
      <dgm:prSet presAssocID="{53992E68-CFE8-4BC1-ADB3-738A8A87B8A5}" presName="parTxOnlySpace" presStyleCnt="0"/>
      <dgm:spPr/>
    </dgm:pt>
    <dgm:pt modelId="{27298F2B-E6E8-4F76-9345-FA1B45BC16C0}" type="pres">
      <dgm:prSet presAssocID="{34DD3BEF-8C38-42AE-8476-4AD626C5083A}" presName="parTxOnly" presStyleLbl="node1" presStyleIdx="2" presStyleCnt="3" custScaleX="186654" custScaleY="142094" custLinFactX="101093" custLinFactNeighborX="200000" custLinFactNeighborY="6590">
        <dgm:presLayoutVars>
          <dgm:chMax val="0"/>
          <dgm:chPref val="0"/>
          <dgm:bulletEnabled val="1"/>
        </dgm:presLayoutVars>
      </dgm:prSet>
      <dgm:spPr/>
    </dgm:pt>
  </dgm:ptLst>
  <dgm:cxnLst>
    <dgm:cxn modelId="{EA5AF837-17A6-4431-B160-BD35B4ACB2AF}" srcId="{FC0D3CF2-E441-42CE-8DA0-655BCAD0F519}" destId="{1A1D137C-CF18-4402-B067-03DE00F3CE5D}" srcOrd="0" destOrd="0" parTransId="{68B800ED-FF60-4936-8D7F-3695DBB58A10}" sibTransId="{E68DD769-DEA2-415F-88B2-8381301EF203}"/>
    <dgm:cxn modelId="{1F29D55C-C0A3-4858-B755-80CE94688E46}" type="presOf" srcId="{4725967F-B795-479D-900E-C4DAB9C4FD88}" destId="{F362B02B-3783-426C-92B1-3B3B7F24DB58}" srcOrd="0" destOrd="0" presId="urn:microsoft.com/office/officeart/2005/8/layout/chevron1"/>
    <dgm:cxn modelId="{92891743-568B-4DA0-9F9E-75B9FB583AD4}" srcId="{FC0D3CF2-E441-42CE-8DA0-655BCAD0F519}" destId="{4725967F-B795-479D-900E-C4DAB9C4FD88}" srcOrd="1" destOrd="0" parTransId="{2D074ACB-940F-4AA3-8A2C-C5BED86126AD}" sibTransId="{53992E68-CFE8-4BC1-ADB3-738A8A87B8A5}"/>
    <dgm:cxn modelId="{424B4251-1B4C-4378-B934-8A5B47D0187C}" type="presOf" srcId="{FC0D3CF2-E441-42CE-8DA0-655BCAD0F519}" destId="{90F07824-4052-4EA9-AC9D-88290A6A26AA}" srcOrd="0" destOrd="0" presId="urn:microsoft.com/office/officeart/2005/8/layout/chevron1"/>
    <dgm:cxn modelId="{F2A91A9D-9432-4145-8F10-01B4811D2623}" type="presOf" srcId="{34DD3BEF-8C38-42AE-8476-4AD626C5083A}" destId="{27298F2B-E6E8-4F76-9345-FA1B45BC16C0}" srcOrd="0" destOrd="0" presId="urn:microsoft.com/office/officeart/2005/8/layout/chevron1"/>
    <dgm:cxn modelId="{55DF1CA3-4273-4651-8618-C5EBCBCD8A94}" srcId="{FC0D3CF2-E441-42CE-8DA0-655BCAD0F519}" destId="{34DD3BEF-8C38-42AE-8476-4AD626C5083A}" srcOrd="2" destOrd="0" parTransId="{4B7F5EEB-4582-4FD0-8D13-EE6344D1FBB0}" sibTransId="{275A0690-9408-44EB-848E-4E4FCE552DDA}"/>
    <dgm:cxn modelId="{73D5A3C2-E5BC-4310-9A22-48757201829D}" type="presOf" srcId="{1A1D137C-CF18-4402-B067-03DE00F3CE5D}" destId="{8DD0C2B6-AEC5-43C5-803F-299138D0CBDD}" srcOrd="0" destOrd="0" presId="urn:microsoft.com/office/officeart/2005/8/layout/chevron1"/>
    <dgm:cxn modelId="{DCBE1A2F-B18F-48A2-92A8-8D81320CFC35}" type="presParOf" srcId="{90F07824-4052-4EA9-AC9D-88290A6A26AA}" destId="{8DD0C2B6-AEC5-43C5-803F-299138D0CBDD}" srcOrd="0" destOrd="0" presId="urn:microsoft.com/office/officeart/2005/8/layout/chevron1"/>
    <dgm:cxn modelId="{2C0DE690-68CB-4083-8EB1-533E33FDBD6B}" type="presParOf" srcId="{90F07824-4052-4EA9-AC9D-88290A6A26AA}" destId="{33B36BD0-DC0C-46BE-AA60-756B1D3C420A}" srcOrd="1" destOrd="0" presId="urn:microsoft.com/office/officeart/2005/8/layout/chevron1"/>
    <dgm:cxn modelId="{1B523FC8-7B2B-4327-808E-011FC0EF6444}" type="presParOf" srcId="{90F07824-4052-4EA9-AC9D-88290A6A26AA}" destId="{F362B02B-3783-426C-92B1-3B3B7F24DB58}" srcOrd="2" destOrd="0" presId="urn:microsoft.com/office/officeart/2005/8/layout/chevron1"/>
    <dgm:cxn modelId="{95C560E4-72BC-43E4-B499-19F5F52B7F76}" type="presParOf" srcId="{90F07824-4052-4EA9-AC9D-88290A6A26AA}" destId="{4735E6EC-1103-4742-873C-7B204C3E4248}" srcOrd="3" destOrd="0" presId="urn:microsoft.com/office/officeart/2005/8/layout/chevron1"/>
    <dgm:cxn modelId="{45F76EBD-13E0-46C5-842F-5287625F9B7C}" type="presParOf" srcId="{90F07824-4052-4EA9-AC9D-88290A6A26AA}" destId="{27298F2B-E6E8-4F76-9345-FA1B45BC16C0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087457" cy="3361618"/>
        <a:chOff x="0" y="0"/>
        <a:chExt cx="7087457" cy="3361618"/>
      </a:xfrm>
    </dsp:grpSpPr>
    <dsp:sp modelId="{D6461120-149B-41C9-8BA9-2DEADA44B078}">
      <dsp:nvSpPr>
        <dsp:cNvPr id="4" name="任意多边形 3"/>
        <dsp:cNvSpPr/>
      </dsp:nvSpPr>
      <dsp:spPr bwMode="white">
        <a:xfrm>
          <a:off x="1935974" y="903560"/>
          <a:ext cx="1809280" cy="777249"/>
        </a:xfrm>
        <a:custGeom>
          <a:avLst/>
          <a:gdLst/>
          <a:ahLst/>
          <a:cxnLst/>
          <a:pathLst>
            <a:path w="2849" h="1224">
              <a:moveTo>
                <a:pt x="0" y="1224"/>
              </a:moveTo>
              <a:lnTo>
                <a:pt x="1425" y="1224"/>
              </a:lnTo>
              <a:lnTo>
                <a:pt x="1425" y="0"/>
              </a:lnTo>
              <a:lnTo>
                <a:pt x="2849" y="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0"/>
          </a:lvl1pPr>
          <a:lvl2pPr marL="285750" indent="-285750" algn="ctr">
            <a:defRPr sz="3900"/>
          </a:lvl2pPr>
          <a:lvl3pPr marL="571500" indent="-285750" algn="ctr">
            <a:defRPr sz="3900"/>
          </a:lvl3pPr>
          <a:lvl4pPr marL="857250" indent="-285750" algn="ctr">
            <a:defRPr sz="3900"/>
          </a:lvl4pPr>
          <a:lvl5pPr marL="1143000" indent="-285750" algn="ctr">
            <a:defRPr sz="3900"/>
          </a:lvl5pPr>
          <a:lvl6pPr marL="1428750" indent="-285750" algn="ctr">
            <a:defRPr sz="3900"/>
          </a:lvl6pPr>
          <a:lvl7pPr marL="1714500" indent="-285750" algn="ctr">
            <a:defRPr sz="3900"/>
          </a:lvl7pPr>
          <a:lvl8pPr marL="2000250" indent="-285750" algn="ctr">
            <a:defRPr sz="3900"/>
          </a:lvl8pPr>
          <a:lvl9pPr marL="2286000" indent="-285750" algn="ctr">
            <a:defRPr sz="3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935974" y="903560"/>
        <a:ext cx="1809280" cy="777249"/>
      </dsp:txXfrm>
    </dsp:sp>
    <dsp:sp modelId="{492C7F02-37AB-47D6-A821-35D68CC51D7F}">
      <dsp:nvSpPr>
        <dsp:cNvPr id="6" name="任意多边形 5"/>
        <dsp:cNvSpPr/>
      </dsp:nvSpPr>
      <dsp:spPr bwMode="white">
        <a:xfrm>
          <a:off x="1935974" y="1680809"/>
          <a:ext cx="1809259" cy="0"/>
        </a:xfrm>
        <a:custGeom>
          <a:avLst/>
          <a:gdLst/>
          <a:ahLst/>
          <a:cxnLst/>
          <a:pathLst>
            <a:path w="2849">
              <a:moveTo>
                <a:pt x="0" y="0"/>
              </a:moveTo>
              <a:lnTo>
                <a:pt x="2849" y="0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935974" y="1680809"/>
        <a:ext cx="1809259" cy="0"/>
      </dsp:txXfrm>
    </dsp:sp>
    <dsp:sp modelId="{2F0C0CDA-9F11-417F-BD4C-71CC14D94DD5}">
      <dsp:nvSpPr>
        <dsp:cNvPr id="8" name="任意多边形 7"/>
        <dsp:cNvSpPr/>
      </dsp:nvSpPr>
      <dsp:spPr bwMode="white">
        <a:xfrm>
          <a:off x="1935974" y="1680809"/>
          <a:ext cx="1809049" cy="807179"/>
        </a:xfrm>
        <a:custGeom>
          <a:avLst/>
          <a:gdLst/>
          <a:ahLst/>
          <a:cxnLst/>
          <a:pathLst>
            <a:path w="2849" h="1271">
              <a:moveTo>
                <a:pt x="0" y="0"/>
              </a:moveTo>
              <a:lnTo>
                <a:pt x="1424" y="0"/>
              </a:lnTo>
              <a:lnTo>
                <a:pt x="1424" y="1271"/>
              </a:lnTo>
              <a:lnTo>
                <a:pt x="2849" y="1271"/>
              </a:lnTo>
            </a:path>
          </a:pathLst>
        </a:cu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0"/>
          </a:lvl1pPr>
          <a:lvl2pPr marL="285750" indent="-285750" algn="ctr">
            <a:defRPr sz="3900"/>
          </a:lvl2pPr>
          <a:lvl3pPr marL="571500" indent="-285750" algn="ctr">
            <a:defRPr sz="3900"/>
          </a:lvl3pPr>
          <a:lvl4pPr marL="857250" indent="-285750" algn="ctr">
            <a:defRPr sz="3900"/>
          </a:lvl4pPr>
          <a:lvl5pPr marL="1143000" indent="-285750" algn="ctr">
            <a:defRPr sz="3900"/>
          </a:lvl5pPr>
          <a:lvl6pPr marL="1428750" indent="-285750" algn="ctr">
            <a:defRPr sz="3900"/>
          </a:lvl6pPr>
          <a:lvl7pPr marL="1714500" indent="-285750" algn="ctr">
            <a:defRPr sz="3900"/>
          </a:lvl7pPr>
          <a:lvl8pPr marL="2000250" indent="-285750" algn="ctr">
            <a:defRPr sz="3900"/>
          </a:lvl8pPr>
          <a:lvl9pPr marL="2286000" indent="-285750" algn="ctr">
            <a:defRPr sz="3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>
            <a:solidFill>
              <a:schemeClr val="tx1"/>
            </a:solidFill>
          </a:endParaRPr>
        </a:p>
      </dsp:txBody>
      <dsp:txXfrm>
        <a:off x="1935974" y="1680809"/>
        <a:ext cx="1809049" cy="807179"/>
      </dsp:txXfrm>
    </dsp:sp>
    <dsp:sp modelId="{D86A8DC3-A518-4590-BB37-2AC7F889727A}">
      <dsp:nvSpPr>
        <dsp:cNvPr id="3" name="流程图: 终止 2"/>
        <dsp:cNvSpPr/>
      </dsp:nvSpPr>
      <dsp:spPr bwMode="white">
        <a:xfrm rot="21600000">
          <a:off x="448938" y="1305779"/>
          <a:ext cx="2224013" cy="750060"/>
        </a:xfrm>
        <a:prstGeom prst="flowChartTerminator">
          <a:avLst/>
        </a:prstGeom>
        <a:solidFill>
          <a:srgbClr val="7E0C6E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6510" tIns="16510" rIns="16510" bIns="16510" anchor="ctr"/>
        <a:lstStyle>
          <a:lvl1pPr algn="ctr">
            <a:defRPr sz="2600"/>
          </a:lvl1pPr>
          <a:lvl2pPr marL="228600" indent="-228600" algn="ctr">
            <a:defRPr sz="2000"/>
          </a:lvl2pPr>
          <a:lvl3pPr marL="457200" indent="-228600" algn="ctr">
            <a:defRPr sz="2000"/>
          </a:lvl3pPr>
          <a:lvl4pPr marL="685800" indent="-228600" algn="ctr">
            <a:defRPr sz="2000"/>
          </a:lvl4pPr>
          <a:lvl5pPr marL="914400" indent="-228600" algn="ctr">
            <a:defRPr sz="2000"/>
          </a:lvl5pPr>
          <a:lvl6pPr marL="1143000" indent="-228600" algn="ctr">
            <a:defRPr sz="2000"/>
          </a:lvl6pPr>
          <a:lvl7pPr marL="1371600" indent="-228600" algn="ctr">
            <a:defRPr sz="2000"/>
          </a:lvl7pPr>
          <a:lvl8pPr marL="1600200" indent="-228600" algn="ctr">
            <a:defRPr sz="2000"/>
          </a:lvl8pPr>
          <a:lvl9pPr marL="1828800" indent="-228600" algn="ctr">
            <a:defRPr sz="2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>
              <a:ln>
                <a:noFill/>
              </a:ln>
              <a:latin typeface="微软雅黑" panose="020B0503020204020204" charset="-122"/>
              <a:ea typeface="微软雅黑" panose="020B0503020204020204" charset="-122"/>
            </a:rPr>
            <a:t>三大核心优势</a:t>
          </a:r>
        </a:p>
      </dsp:txBody>
      <dsp:txXfrm rot="21600000">
        <a:off x="448938" y="1305779"/>
        <a:ext cx="2224013" cy="750060"/>
      </dsp:txXfrm>
    </dsp:sp>
    <dsp:sp modelId="{7518DCF2-71A6-4FE6-B8B3-3BD0D7D982DF}">
      <dsp:nvSpPr>
        <dsp:cNvPr id="5" name="圆角矩形 4"/>
        <dsp:cNvSpPr/>
      </dsp:nvSpPr>
      <dsp:spPr bwMode="white">
        <a:xfrm>
          <a:off x="3745254" y="584206"/>
          <a:ext cx="2094960" cy="638707"/>
        </a:xfrm>
        <a:prstGeom prst="roundRect">
          <a:avLst/>
        </a:prstGeom>
        <a:solidFill>
          <a:srgbClr val="7E0C6E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065" tIns="12065" rIns="12065" bIns="12065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>
              <a:latin typeface="微软雅黑" panose="020B0503020204020204" charset="-122"/>
              <a:ea typeface="微软雅黑" panose="020B0503020204020204" charset="-122"/>
            </a:rPr>
            <a:t>无需拆卸改造</a:t>
          </a:r>
        </a:p>
      </dsp:txBody>
      <dsp:txXfrm>
        <a:off x="3745254" y="584206"/>
        <a:ext cx="2094960" cy="638707"/>
      </dsp:txXfrm>
    </dsp:sp>
    <dsp:sp modelId="{E40F9E97-0DD7-4792-A32D-8C2676101F20}">
      <dsp:nvSpPr>
        <dsp:cNvPr id="7" name="圆角矩形 6"/>
        <dsp:cNvSpPr/>
      </dsp:nvSpPr>
      <dsp:spPr bwMode="white">
        <a:xfrm>
          <a:off x="3745233" y="1361455"/>
          <a:ext cx="2094960" cy="638707"/>
        </a:xfrm>
        <a:prstGeom prst="roundRect">
          <a:avLst/>
        </a:prstGeom>
        <a:solidFill>
          <a:srgbClr val="7E0C6E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065" tIns="12065" rIns="12065" bIns="12065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>
              <a:latin typeface="微软雅黑" panose="020B0503020204020204" charset="-122"/>
              <a:ea typeface="微软雅黑" panose="020B0503020204020204" charset="-122"/>
            </a:rPr>
            <a:t>物联网上传至云端</a:t>
          </a:r>
        </a:p>
      </dsp:txBody>
      <dsp:txXfrm>
        <a:off x="3745233" y="1361455"/>
        <a:ext cx="2094960" cy="638707"/>
      </dsp:txXfrm>
    </dsp:sp>
    <dsp:sp modelId="{F2EB2D37-14E3-4FF5-8A0E-5B444F978F53}">
      <dsp:nvSpPr>
        <dsp:cNvPr id="9" name="圆角矩形 8"/>
        <dsp:cNvSpPr/>
      </dsp:nvSpPr>
      <dsp:spPr bwMode="white">
        <a:xfrm>
          <a:off x="3745023" y="2168635"/>
          <a:ext cx="2094960" cy="638707"/>
        </a:xfrm>
        <a:prstGeom prst="roundRect">
          <a:avLst/>
        </a:prstGeom>
        <a:solidFill>
          <a:srgbClr val="7E0C6E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2065" tIns="12065" rIns="12065" bIns="12065" anchor="ctr"/>
        <a:lstStyle>
          <a:lvl1pPr algn="ctr">
            <a:defRPr sz="19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latin typeface="微软雅黑" panose="020B0503020204020204" charset="-122"/>
              <a:ea typeface="微软雅黑" panose="020B0503020204020204" charset="-122"/>
            </a:rPr>
            <a:t>AI</a:t>
          </a:r>
          <a:r>
            <a:rPr lang="zh-CN" altLang="en-US" b="1" dirty="0">
              <a:latin typeface="微软雅黑" panose="020B0503020204020204" charset="-122"/>
              <a:ea typeface="微软雅黑" panose="020B0503020204020204" charset="-122"/>
            </a:rPr>
            <a:t>生成节水建议</a:t>
          </a:r>
        </a:p>
      </dsp:txBody>
      <dsp:txXfrm>
        <a:off x="3745023" y="2168635"/>
        <a:ext cx="2094960" cy="6387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269998" cy="431221"/>
        <a:chOff x="0" y="0"/>
        <a:chExt cx="6269998" cy="431221"/>
      </a:xfrm>
    </dsp:grpSpPr>
    <dsp:sp modelId="{8DD0C2B6-AEC5-43C5-803F-299138D0CBDD}">
      <dsp:nvSpPr>
        <dsp:cNvPr id="3" name="燕尾形 2"/>
        <dsp:cNvSpPr/>
      </dsp:nvSpPr>
      <dsp:spPr bwMode="white">
        <a:xfrm>
          <a:off x="0" y="0"/>
          <a:ext cx="2239285" cy="431221"/>
        </a:xfrm>
        <a:prstGeom prst="chevron">
          <a:avLst/>
        </a:prstGeom>
        <a:solidFill>
          <a:srgbClr val="7E0C6E"/>
        </a:solidFill>
      </dsp:spPr>
      <dsp:style>
        <a:lnRef idx="0">
          <a:schemeClr val="lt2"/>
        </a:lnRef>
        <a:fillRef idx="3">
          <a:schemeClr val="dk2"/>
        </a:fillRef>
        <a:effectRef idx="2">
          <a:scrgbClr r="0" g="0" b="0"/>
        </a:effectRef>
        <a:fontRef idx="minor">
          <a:schemeClr val="lt1"/>
        </a:fontRef>
      </dsp:style>
      <dsp:txBody>
        <a:bodyPr lIns="72009" tIns="24003" rIns="24003" bIns="24003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rPr>
            <a:t>环境感知</a:t>
          </a:r>
          <a:endParaRPr lang="zh-CN" altLang="en-US" sz="1800" b="0" dirty="0">
            <a:solidFill>
              <a:schemeClr val="bg1"/>
            </a:solidFill>
          </a:endParaRPr>
        </a:p>
      </dsp:txBody>
      <dsp:txXfrm>
        <a:off x="0" y="0"/>
        <a:ext cx="2239285" cy="431221"/>
      </dsp:txXfrm>
    </dsp:sp>
    <dsp:sp modelId="{F362B02B-3783-426C-92B1-3B3B7F24DB58}">
      <dsp:nvSpPr>
        <dsp:cNvPr id="4" name="燕尾形 3"/>
        <dsp:cNvSpPr/>
      </dsp:nvSpPr>
      <dsp:spPr bwMode="white">
        <a:xfrm>
          <a:off x="2015357" y="0"/>
          <a:ext cx="2239285" cy="431221"/>
        </a:xfrm>
        <a:prstGeom prst="chevron">
          <a:avLst/>
        </a:prstGeom>
        <a:solidFill>
          <a:srgbClr val="7E0C6E"/>
        </a:solidFill>
      </dsp:spPr>
      <dsp:style>
        <a:lnRef idx="0">
          <a:schemeClr val="lt2"/>
        </a:lnRef>
        <a:fillRef idx="3">
          <a:schemeClr val="dk2"/>
        </a:fillRef>
        <a:effectRef idx="2">
          <a:scrgbClr r="0" g="0" b="0"/>
        </a:effectRef>
        <a:fontRef idx="minor">
          <a:schemeClr val="lt1"/>
        </a:fontRef>
      </dsp:style>
      <dsp:txBody>
        <a:bodyPr lIns="72009" tIns="24003" rIns="24003" bIns="24003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rPr>
            <a:t>硬件适配</a:t>
          </a:r>
          <a:endParaRPr lang="zh-CN" altLang="en-US" sz="1800" b="0" dirty="0">
            <a:solidFill>
              <a:schemeClr val="bg1"/>
            </a:solidFill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2015357" y="0"/>
        <a:ext cx="2239285" cy="431221"/>
      </dsp:txXfrm>
    </dsp:sp>
    <dsp:sp modelId="{27298F2B-E6E8-4F76-9345-FA1B45BC16C0}">
      <dsp:nvSpPr>
        <dsp:cNvPr id="5" name="燕尾形 4"/>
        <dsp:cNvSpPr/>
      </dsp:nvSpPr>
      <dsp:spPr bwMode="white">
        <a:xfrm>
          <a:off x="4030713" y="0"/>
          <a:ext cx="2239285" cy="431221"/>
        </a:xfrm>
        <a:prstGeom prst="chevron">
          <a:avLst/>
        </a:prstGeom>
        <a:solidFill>
          <a:srgbClr val="7E0C6E"/>
        </a:solidFill>
      </dsp:spPr>
      <dsp:style>
        <a:lnRef idx="0">
          <a:schemeClr val="lt2"/>
        </a:lnRef>
        <a:fillRef idx="3">
          <a:schemeClr val="dk2"/>
        </a:fillRef>
        <a:effectRef idx="2">
          <a:scrgbClr r="0" g="0" b="0"/>
        </a:effectRef>
        <a:fontRef idx="minor">
          <a:schemeClr val="lt1"/>
        </a:fontRef>
      </dsp:style>
      <dsp:txBody>
        <a:bodyPr lIns="72009" tIns="24003" rIns="24003" bIns="24003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rPr>
            <a:t>图像采集压缩</a:t>
          </a:r>
          <a:endParaRPr lang="zh-CN" altLang="en-US" sz="1800" b="0" dirty="0">
            <a:solidFill>
              <a:schemeClr val="bg1"/>
            </a:solidFill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4030713" y="0"/>
        <a:ext cx="2239285" cy="4312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type="rect" r:blip="" rot="270">
                  <dgm:adjLst/>
                </dgm:shape>
              </dgm:if>
              <dgm:else name="Name11">
                <dgm:shape xmlns:r="http://schemas.openxmlformats.org/officeDocument/2006/relationships" type="rect" r:blip="" rot="90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R"/>
                        <dgm:param type="endPts" val="midL"/>
                      </dgm:alg>
                    </dgm:if>
                    <dgm:else name="Name1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type="chevron" r:blip="" rot="180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type="chevron" r:blip="" rot="180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zh-CN" altLang="en-US"/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zh-CN" altLang="en-US"/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zh-CN" altLang="en-US"/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7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6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8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9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  <p:pic>
        <p:nvPicPr>
          <p:cNvPr id="94" name="图片 6"/>
          <p:cNvPicPr>
            <a:picLocks noChangeAspect="1"/>
          </p:cNvPicPr>
          <p:nvPr userDrawn="1"/>
        </p:nvPicPr>
        <p:blipFill rotWithShape="1">
          <a:blip r:embed="rId3"/>
          <a:srcRect t="33901" b="36723"/>
          <a:stretch>
            <a:fillRect/>
          </a:stretch>
        </p:blipFill>
        <p:spPr>
          <a:xfrm>
            <a:off x="9416538" y="-13847"/>
            <a:ext cx="2831088" cy="831641"/>
          </a:xfrm>
          <a:prstGeom prst="rect">
            <a:avLst/>
          </a:prstGeom>
        </p:spPr>
      </p:pic>
      <p:pic>
        <p:nvPicPr>
          <p:cNvPr id="95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9689" y="6466301"/>
            <a:ext cx="2309517" cy="3315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9"/>
          <p:cNvSpPr/>
          <p:nvPr userDrawn="1"/>
        </p:nvSpPr>
        <p:spPr>
          <a:xfrm>
            <a:off x="3" y="0"/>
            <a:ext cx="12191997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  <p:pic>
        <p:nvPicPr>
          <p:cNvPr id="129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7097" y="6350654"/>
            <a:ext cx="2963597" cy="425504"/>
          </a:xfrm>
          <a:prstGeom prst="rect">
            <a:avLst/>
          </a:prstGeom>
        </p:spPr>
      </p:pic>
      <p:sp>
        <p:nvSpPr>
          <p:cNvPr id="130" name="文本框 8"/>
          <p:cNvSpPr txBox="1"/>
          <p:nvPr userDrawn="1"/>
        </p:nvSpPr>
        <p:spPr>
          <a:xfrm>
            <a:off x="10704512" y="640682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B0261">
                    <a:alpha val="7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srgbClr val="6B0261">
                    <a:alpha val="7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srgbClr val="6B0261">
                  <a:alpha val="70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31" name="图片占位符 10"/>
          <p:cNvPicPr>
            <a:picLocks noChangeAspect="1"/>
          </p:cNvPicPr>
          <p:nvPr userDrawn="1"/>
        </p:nvPicPr>
        <p:blipFill>
          <a:blip r:embed="rId2"/>
          <a:srcRect t="29521" b="29521"/>
          <a:stretch>
            <a:fillRect/>
          </a:stretch>
        </p:blipFill>
        <p:spPr>
          <a:xfrm>
            <a:off x="-3" y="0"/>
            <a:ext cx="12192000" cy="30732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4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35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3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1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2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43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4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45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7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9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66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67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7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7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8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9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  <p:pic>
        <p:nvPicPr>
          <p:cNvPr id="106" name="图片 6"/>
          <p:cNvPicPr>
            <a:picLocks noChangeAspect="1"/>
          </p:cNvPicPr>
          <p:nvPr userDrawn="1"/>
        </p:nvPicPr>
        <p:blipFill rotWithShape="1">
          <a:blip r:embed="rId3"/>
          <a:srcRect t="33901" b="36723"/>
          <a:stretch>
            <a:fillRect/>
          </a:stretch>
        </p:blipFill>
        <p:spPr>
          <a:xfrm>
            <a:off x="9416538" y="-13847"/>
            <a:ext cx="2831088" cy="831641"/>
          </a:xfrm>
          <a:prstGeom prst="rect">
            <a:avLst/>
          </a:prstGeom>
        </p:spPr>
      </p:pic>
      <p:pic>
        <p:nvPicPr>
          <p:cNvPr id="107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9689" y="6466301"/>
            <a:ext cx="2309517" cy="3315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9"/>
          <p:cNvSpPr/>
          <p:nvPr userDrawn="1"/>
        </p:nvSpPr>
        <p:spPr>
          <a:xfrm>
            <a:off x="3" y="0"/>
            <a:ext cx="12191997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  <p:pic>
        <p:nvPicPr>
          <p:cNvPr id="113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7097" y="6350654"/>
            <a:ext cx="2963597" cy="425504"/>
          </a:xfrm>
          <a:prstGeom prst="rect">
            <a:avLst/>
          </a:prstGeom>
        </p:spPr>
      </p:pic>
      <p:sp>
        <p:nvSpPr>
          <p:cNvPr id="114" name="文本框 8"/>
          <p:cNvSpPr txBox="1"/>
          <p:nvPr userDrawn="1"/>
        </p:nvSpPr>
        <p:spPr>
          <a:xfrm>
            <a:off x="10704512" y="640682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B0261">
                    <a:alpha val="7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srgbClr val="6B0261">
                    <a:alpha val="7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srgbClr val="6B0261">
                  <a:alpha val="70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15" name="图片占位符 10"/>
          <p:cNvPicPr>
            <a:picLocks noChangeAspect="1"/>
          </p:cNvPicPr>
          <p:nvPr userDrawn="1"/>
        </p:nvPicPr>
        <p:blipFill>
          <a:blip r:embed="rId2"/>
          <a:srcRect t="29521" b="29521"/>
          <a:stretch>
            <a:fillRect/>
          </a:stretch>
        </p:blipFill>
        <p:spPr>
          <a:xfrm>
            <a:off x="-3" y="0"/>
            <a:ext cx="12192000" cy="30732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矩形 9"/>
          <p:cNvSpPr/>
          <p:nvPr userDrawn="1"/>
        </p:nvSpPr>
        <p:spPr>
          <a:xfrm>
            <a:off x="3" y="0"/>
            <a:ext cx="12191997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  <p:pic>
        <p:nvPicPr>
          <p:cNvPr id="121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7097" y="6350654"/>
            <a:ext cx="2963597" cy="425504"/>
          </a:xfrm>
          <a:prstGeom prst="rect">
            <a:avLst/>
          </a:prstGeom>
        </p:spPr>
      </p:pic>
      <p:sp>
        <p:nvSpPr>
          <p:cNvPr id="122" name="文本框 8"/>
          <p:cNvSpPr txBox="1"/>
          <p:nvPr userDrawn="1"/>
        </p:nvSpPr>
        <p:spPr>
          <a:xfrm>
            <a:off x="10704512" y="640682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B0261">
                    <a:alpha val="7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srgbClr val="6B0261">
                    <a:alpha val="70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srgbClr val="6B0261">
                  <a:alpha val="70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3" name="图片占位符 10"/>
          <p:cNvPicPr>
            <a:picLocks noChangeAspect="1"/>
          </p:cNvPicPr>
          <p:nvPr userDrawn="1"/>
        </p:nvPicPr>
        <p:blipFill>
          <a:blip r:embed="rId2"/>
          <a:srcRect t="29521" b="29521"/>
          <a:stretch>
            <a:fillRect/>
          </a:stretch>
        </p:blipFill>
        <p:spPr>
          <a:xfrm>
            <a:off x="-3" y="0"/>
            <a:ext cx="12192000" cy="307323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6"/>
            <a:ext cx="1422400" cy="243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6"/>
            <a:ext cx="1930400" cy="243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6"/>
            <a:ext cx="1422400" cy="243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1B521-2E2E-41B2-9433-69364D5DDA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82D0-AAD4-45D4-BBB1-9C369370A4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image" Target="../media/image11.jpeg"/><Relationship Id="rId5" Type="http://schemas.openxmlformats.org/officeDocument/2006/relationships/tags" Target="../tags/tag6.xml"/><Relationship Id="rId4" Type="http://schemas.openxmlformats.org/officeDocument/2006/relationships/image" Target="../media/image10.png"/><Relationship Id="rId3" Type="http://schemas.openxmlformats.org/officeDocument/2006/relationships/tags" Target="../tags/tag5.xml"/><Relationship Id="rId2" Type="http://schemas.openxmlformats.org/officeDocument/2006/relationships/image" Target="../media/image9.png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10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.png"/><Relationship Id="rId7" Type="http://schemas.microsoft.com/office/2007/relationships/diagramDrawing" Target="../diagrams/drawing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3" Type="http://schemas.openxmlformats.org/officeDocument/2006/relationships/diagramData" Target="../diagrams/data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image" Target="../media/image17.svg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1.svg"/><Relationship Id="rId10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jpeg"/><Relationship Id="rId8" Type="http://schemas.microsoft.com/office/2007/relationships/diagramDrawing" Target="../diagrams/drawing2.xml"/><Relationship Id="rId7" Type="http://schemas.openxmlformats.org/officeDocument/2006/relationships/diagramColors" Target="../diagrams/colors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3" Type="http://schemas.openxmlformats.org/officeDocument/2006/relationships/image" Target="../media/image26.png"/><Relationship Id="rId2" Type="http://schemas.openxmlformats.org/officeDocument/2006/relationships/image" Target="../media/image9.png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image" Target="../media/image32.jpeg"/><Relationship Id="rId2" Type="http://schemas.openxmlformats.org/officeDocument/2006/relationships/image" Target="../media/image9.png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33.jpeg"/><Relationship Id="rId2" Type="http://schemas.openxmlformats.org/officeDocument/2006/relationships/image" Target="../media/image9.png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6"/>
          <p:cNvSpPr txBox="1"/>
          <p:nvPr/>
        </p:nvSpPr>
        <p:spPr>
          <a:xfrm>
            <a:off x="4367519" y="2996628"/>
            <a:ext cx="7473950" cy="276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l" hangingPunct="1">
              <a:lnSpc>
                <a:spcPct val="100000"/>
              </a:lnSpc>
              <a:spcBef>
                <a:spcPct val="0"/>
              </a:spcBef>
            </a:pPr>
            <a:r>
              <a:rPr lang="en-US" sz="3200" spc="797">
                <a:solidFill>
                  <a:srgbClr val="FFFFFF">
                    <a:alpha val="100000"/>
                  </a:srgbClr>
                </a:solidFill>
                <a:latin typeface="DFKai-SB"/>
                <a:ea typeface="DFKai-SB"/>
              </a:rPr>
              <a:t>——</a:t>
            </a:r>
            <a:r>
              <a:rPr lang="zh-CN" sz="3200" spc="797">
                <a:solidFill>
                  <a:srgbClr val="FFFFFF">
                    <a:alpha val="100000"/>
                  </a:srgbClr>
                </a:solidFill>
                <a:latin typeface="DFKai-SB"/>
                <a:ea typeface="DFKai-SB"/>
              </a:rPr>
              <a:t>基于</a:t>
            </a:r>
            <a:r>
              <a:rPr lang="en-US" sz="3200" spc="797">
                <a:solidFill>
                  <a:srgbClr val="FFFFFF">
                    <a:alpha val="100000"/>
                  </a:srgbClr>
                </a:solidFill>
                <a:latin typeface="DFKai-SB"/>
                <a:ea typeface="DFKai-SB"/>
              </a:rPr>
              <a:t>YOLOv11+</a:t>
            </a:r>
            <a:r>
              <a:rPr lang="zh-CN" sz="3200" spc="797">
                <a:solidFill>
                  <a:srgbClr val="FFFFFF">
                    <a:alpha val="100000"/>
                  </a:srgbClr>
                </a:solidFill>
                <a:latin typeface="DFKai-SB"/>
                <a:ea typeface="DFKai-SB"/>
              </a:rPr>
              <a:t>物联网的水表智能化监测</a:t>
            </a:r>
            <a:endParaRPr lang="zh-CN" sz="3200" spc="797">
              <a:solidFill>
                <a:srgbClr val="FFFFFF">
                  <a:alpha val="100000"/>
                </a:srgbClr>
              </a:solidFill>
              <a:latin typeface="DFKai-SB"/>
              <a:ea typeface="DFKai-SB"/>
            </a:endParaRPr>
          </a:p>
          <a:p>
            <a:pPr algn="l">
              <a:lnSpc>
                <a:spcPts val="14140"/>
              </a:lnSpc>
              <a:spcBef>
                <a:spcPct val="0"/>
              </a:spcBef>
            </a:pPr>
            <a:endParaRPr lang="zh-CN" sz="3200" spc="797">
              <a:solidFill>
                <a:srgbClr val="FFFFFF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9" name="TextBox 19"/>
          <p:cNvSpPr txBox="1"/>
          <p:nvPr/>
        </p:nvSpPr>
        <p:spPr>
          <a:xfrm>
            <a:off x="2740485" y="5232728"/>
            <a:ext cx="1567609" cy="464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zh-CN" altLang="en-US" sz="2000" b="1" spc="400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1 Medium" panose="020B0600000000000000" charset="-122"/>
                <a:sym typeface="思源黑体 1 Medium" panose="020B0600000000000000" charset="-122"/>
              </a:rPr>
              <a:t>小组成员</a:t>
            </a:r>
            <a:endParaRPr lang="en-US" sz="2000" b="1" spc="400" dirty="0">
              <a:solidFill>
                <a:srgbClr val="7A046C"/>
              </a:solidFill>
              <a:latin typeface="微软雅黑" panose="020B0503020204020204" charset="-122"/>
              <a:ea typeface="微软雅黑" panose="020B0503020204020204" charset="-122"/>
              <a:cs typeface="思源黑体 1 Medium" panose="020B0600000000000000" charset="-122"/>
              <a:sym typeface="思源黑体 1 Medium" panose="020B0600000000000000" charset="-122"/>
            </a:endParaRPr>
          </a:p>
        </p:txBody>
      </p:sp>
      <p:sp>
        <p:nvSpPr>
          <p:cNvPr id="200" name="TextBox 20"/>
          <p:cNvSpPr txBox="1"/>
          <p:nvPr/>
        </p:nvSpPr>
        <p:spPr>
          <a:xfrm>
            <a:off x="3600450" y="5232728"/>
            <a:ext cx="6711950" cy="464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000" b="1" spc="400">
                <a:solidFill>
                  <a:srgbClr val="000000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陈昱岐 朱景怡 李婉偲 徐俊喆 </a:t>
            </a:r>
            <a:r>
              <a:rPr lang="zh-CN" altLang="en-US" sz="2000" b="1" spc="400">
                <a:solidFill>
                  <a:srgbClr val="000000"/>
                </a:solidFill>
                <a:latin typeface="思源黑体 1 Medium" panose="020B0600000000000000" charset="-122"/>
                <a:ea typeface="思源黑体 1 Medium" panose="020B0600000000000000" charset="-122"/>
                <a:cs typeface="思源黑体 1 Medium" panose="020B0600000000000000" charset="-122"/>
                <a:sym typeface="思源黑体 1 Medium" panose="020B0600000000000000" charset="-122"/>
              </a:rPr>
              <a:t>贺昭雄</a:t>
            </a:r>
            <a:endParaRPr lang="en-US" sz="2000" b="1" spc="400">
              <a:solidFill>
                <a:srgbClr val="000000"/>
              </a:solidFill>
              <a:latin typeface="思源黑体 1 Medium" panose="020B0600000000000000" charset="-122"/>
              <a:ea typeface="思源黑体 1 Medium" panose="020B0600000000000000" charset="-122"/>
              <a:cs typeface="思源黑体 1 Medium" panose="020B0600000000000000" charset="-122"/>
              <a:sym typeface="思源黑体 1 Medium" panose="020B06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68719" y="5697727"/>
            <a:ext cx="7922975" cy="45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400" dirty="0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</a:rPr>
              <a:t>指导教师</a:t>
            </a:r>
            <a:r>
              <a:rPr lang="zh-CN" altLang="en-US" sz="2000" b="1" spc="600" dirty="0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1 Medium" panose="020B0600000000000000" charset="-122"/>
              </a:rPr>
              <a:t>|</a:t>
            </a:r>
            <a:r>
              <a:rPr lang="en-US" altLang="zh-CN" sz="2000" b="1" spc="6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000" b="1" spc="600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思源黑体 1 Medium" panose="020B0600000000000000" charset="-122"/>
              </a:rPr>
              <a:t>岳钊</a:t>
            </a:r>
            <a:r>
              <a:rPr lang="en-US" altLang="zh-CN" sz="2000" b="1" spc="600" dirty="0">
                <a:latin typeface="微软雅黑" panose="020B0503020204020204" charset="-122"/>
                <a:ea typeface="微软雅黑" panose="020B0503020204020204" charset="-122"/>
              </a:rPr>
              <a:t>         </a:t>
            </a:r>
            <a:r>
              <a:rPr lang="zh-CN" altLang="en-US" sz="2000" b="1" spc="600" dirty="0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1 Medium" panose="020B0600000000000000" charset="-122"/>
              </a:rPr>
              <a:t>汇报时间|</a:t>
            </a:r>
            <a:r>
              <a:rPr lang="en-US" altLang="zh-CN" sz="2000" b="1" spc="6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000" b="1" spc="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思源黑体 1 Medium" panose="020B0600000000000000" charset="-122"/>
              </a:rPr>
              <a:t>2026.4.16</a:t>
            </a:r>
            <a:endParaRPr lang="en-US" sz="2000" b="1" spc="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思源黑体 1 Medium" panose="020B06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278"/>
            <a:ext cx="12192000" cy="684344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316990" y="4498975"/>
            <a:ext cx="9741535" cy="18745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矩形 46"/>
          <p:cNvSpPr/>
          <p:nvPr/>
        </p:nvSpPr>
        <p:spPr>
          <a:xfrm>
            <a:off x="-24765" y="-27126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4" name="图片 1"/>
          <p:cNvPicPr>
            <a:picLocks noChangeAspect="1"/>
          </p:cNvPicPr>
          <p:nvPr/>
        </p:nvPicPr>
        <p:blipFill>
          <a:blip r:embed="rId2"/>
          <a:srcRect t="4591" b="4591"/>
          <a:stretch>
            <a:fillRect/>
          </a:stretch>
        </p:blipFill>
        <p:spPr>
          <a:xfrm>
            <a:off x="0" y="-1"/>
            <a:ext cx="5208645" cy="6872989"/>
          </a:xfrm>
          <a:custGeom>
            <a:avLst/>
            <a:gdLst>
              <a:gd name="connsiteX0" fmla="*/ 0 w 5204840"/>
              <a:gd name="connsiteY0" fmla="*/ 0 h 6858000"/>
              <a:gd name="connsiteX1" fmla="*/ 5204840 w 5204840"/>
              <a:gd name="connsiteY1" fmla="*/ 0 h 6858000"/>
              <a:gd name="connsiteX2" fmla="*/ 5204840 w 5204840"/>
              <a:gd name="connsiteY2" fmla="*/ 6858000 h 6858000"/>
              <a:gd name="connsiteX3" fmla="*/ 0 w 5204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4840" h="6858000">
                <a:moveTo>
                  <a:pt x="0" y="0"/>
                </a:moveTo>
                <a:lnTo>
                  <a:pt x="5204840" y="0"/>
                </a:lnTo>
                <a:lnTo>
                  <a:pt x="52048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5" name="PA-矩形 8"/>
          <p:cNvSpPr/>
          <p:nvPr/>
        </p:nvSpPr>
        <p:spPr>
          <a:xfrm>
            <a:off x="0" y="-7495"/>
            <a:ext cx="5208645" cy="6872990"/>
          </a:xfrm>
          <a:prstGeom prst="rect">
            <a:avLst/>
          </a:prstGeom>
          <a:solidFill>
            <a:srgbClr val="6B0261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08" name="PA-文本框 13"/>
          <p:cNvSpPr txBox="1"/>
          <p:nvPr/>
        </p:nvSpPr>
        <p:spPr>
          <a:xfrm>
            <a:off x="6698615" y="1124585"/>
            <a:ext cx="624840" cy="1033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/>
            </a:pPr>
            <a:r>
              <a:rPr lang="en-US" altLang="zh-CN" sz="5400" b="1" i="1" kern="0" dirty="0">
                <a:solidFill>
                  <a:srgbClr val="6B0261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1</a:t>
            </a:r>
            <a:endParaRPr lang="zh-CN" altLang="en-US" sz="5400" b="1" i="1" kern="0" dirty="0">
              <a:solidFill>
                <a:srgbClr val="6B0261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11" name="PA-文本框 14"/>
          <p:cNvSpPr txBox="1"/>
          <p:nvPr/>
        </p:nvSpPr>
        <p:spPr>
          <a:xfrm>
            <a:off x="6699250" y="2172335"/>
            <a:ext cx="624840" cy="1170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5400" b="1" i="1" kern="0" dirty="0">
                <a:solidFill>
                  <a:srgbClr val="6B0261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2</a:t>
            </a:r>
            <a:endParaRPr lang="zh-CN" altLang="en-US" sz="4800" b="1" i="1" kern="0" dirty="0">
              <a:solidFill>
                <a:srgbClr val="6B0261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14" name="PA-文本框 16"/>
          <p:cNvSpPr txBox="1"/>
          <p:nvPr>
            <p:custDataLst>
              <p:tags r:id="rId3"/>
            </p:custDataLst>
          </p:nvPr>
        </p:nvSpPr>
        <p:spPr>
          <a:xfrm>
            <a:off x="6698615" y="4293235"/>
            <a:ext cx="654050" cy="1170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5400" b="1" i="1" kern="0" dirty="0">
                <a:solidFill>
                  <a:srgbClr val="6B0261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4</a:t>
            </a:r>
            <a:endParaRPr lang="zh-CN" altLang="en-US" sz="4800" b="1" i="1" kern="0" dirty="0">
              <a:solidFill>
                <a:srgbClr val="6B0261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15" name="PA-文本框 21"/>
          <p:cNvSpPr txBox="1"/>
          <p:nvPr>
            <p:custDataLst>
              <p:tags r:id="rId4"/>
            </p:custDataLst>
          </p:nvPr>
        </p:nvSpPr>
        <p:spPr>
          <a:xfrm>
            <a:off x="7436156" y="1300120"/>
            <a:ext cx="3611122" cy="741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 </a:t>
            </a:r>
            <a:r>
              <a:rPr lang="zh-CN" altLang="en-US" sz="3600" b="1" dirty="0"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题目介绍</a:t>
            </a:r>
            <a:endParaRPr lang="zh-CN" altLang="en-US" sz="3600" b="1" dirty="0"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16" name="PA-文本框 22"/>
          <p:cNvSpPr txBox="1"/>
          <p:nvPr/>
        </p:nvSpPr>
        <p:spPr>
          <a:xfrm>
            <a:off x="7436156" y="2397635"/>
            <a:ext cx="3611122" cy="741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 </a:t>
            </a:r>
            <a:r>
              <a:rPr lang="zh-CN" altLang="en-US" sz="3600" b="1" dirty="0"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应用场景</a:t>
            </a:r>
            <a:endParaRPr lang="zh-CN" altLang="en-US" sz="3600" b="1" dirty="0"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17" name="PA-文本框 24"/>
          <p:cNvSpPr txBox="1"/>
          <p:nvPr/>
        </p:nvSpPr>
        <p:spPr>
          <a:xfrm>
            <a:off x="7464096" y="3429226"/>
            <a:ext cx="3611122" cy="741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 </a:t>
            </a:r>
            <a:r>
              <a:rPr lang="zh-CN" altLang="en-US" sz="3600" b="1" dirty="0"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技术路线</a:t>
            </a:r>
            <a:r>
              <a:rPr lang="en-US" altLang="zh-CN" sz="3600" b="1" dirty="0"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 </a:t>
            </a:r>
            <a:endParaRPr lang="en-US" altLang="zh-CN" sz="3600" b="1" dirty="0"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218" name="PA-直接连接符 25"/>
          <p:cNvCxnSpPr/>
          <p:nvPr/>
        </p:nvCxnSpPr>
        <p:spPr>
          <a:xfrm flipV="1">
            <a:off x="9822093" y="4812086"/>
            <a:ext cx="628650" cy="358139"/>
          </a:xfrm>
          <a:prstGeom prst="line">
            <a:avLst/>
          </a:prstGeom>
          <a:noFill/>
          <a:ln w="57150" cap="rnd" cmpd="sng" algn="ctr">
            <a:gradFill>
              <a:gsLst>
                <a:gs pos="0">
                  <a:srgbClr val="FFFFFF">
                    <a:alpha val="77000"/>
                  </a:srgbClr>
                </a:gs>
                <a:gs pos="100000">
                  <a:srgbClr val="6B0261"/>
                </a:gs>
              </a:gsLst>
              <a:lin ang="5400000" scaled="1"/>
            </a:gradFill>
            <a:prstDash val="solid"/>
            <a:round/>
          </a:ln>
          <a:effectLst/>
        </p:spPr>
      </p:cxnSp>
      <p:cxnSp>
        <p:nvCxnSpPr>
          <p:cNvPr id="219" name="PA-直接连接符 26"/>
          <p:cNvCxnSpPr/>
          <p:nvPr/>
        </p:nvCxnSpPr>
        <p:spPr>
          <a:xfrm flipV="1">
            <a:off x="8433198" y="5744402"/>
            <a:ext cx="1149834" cy="616027"/>
          </a:xfrm>
          <a:prstGeom prst="line">
            <a:avLst/>
          </a:prstGeom>
          <a:noFill/>
          <a:ln w="63500" cap="rnd" cmpd="sng" algn="ctr">
            <a:gradFill>
              <a:gsLst>
                <a:gs pos="0">
                  <a:srgbClr val="FFFFFF">
                    <a:alpha val="0"/>
                  </a:srgbClr>
                </a:gs>
                <a:gs pos="70000">
                  <a:srgbClr val="6B0261"/>
                </a:gs>
              </a:gsLst>
              <a:lin ang="5400000" scaled="1"/>
            </a:gradFill>
            <a:prstDash val="solid"/>
            <a:round/>
          </a:ln>
          <a:effectLst/>
        </p:spPr>
      </p:cxnSp>
      <p:cxnSp>
        <p:nvCxnSpPr>
          <p:cNvPr id="220" name="PA-直接连接符 31"/>
          <p:cNvCxnSpPr/>
          <p:nvPr/>
        </p:nvCxnSpPr>
        <p:spPr>
          <a:xfrm flipV="1">
            <a:off x="8117613" y="5537186"/>
            <a:ext cx="315585" cy="179789"/>
          </a:xfrm>
          <a:prstGeom prst="line">
            <a:avLst/>
          </a:prstGeom>
          <a:noFill/>
          <a:ln w="69850" cap="rnd" cmpd="sng" algn="ctr">
            <a:gradFill>
              <a:gsLst>
                <a:gs pos="0">
                  <a:srgbClr val="FFFFFF">
                    <a:alpha val="77000"/>
                  </a:srgbClr>
                </a:gs>
                <a:gs pos="100000">
                  <a:srgbClr val="6B0261"/>
                </a:gs>
              </a:gsLst>
              <a:lin ang="5400000" scaled="1"/>
            </a:gradFill>
            <a:prstDash val="solid"/>
            <a:round/>
          </a:ln>
          <a:effectLst/>
        </p:spPr>
      </p:cxnSp>
      <p:cxnSp>
        <p:nvCxnSpPr>
          <p:cNvPr id="221" name="PA-直接连接符 33"/>
          <p:cNvCxnSpPr/>
          <p:nvPr/>
        </p:nvCxnSpPr>
        <p:spPr>
          <a:xfrm flipV="1">
            <a:off x="9984193" y="5301184"/>
            <a:ext cx="504190" cy="324485"/>
          </a:xfrm>
          <a:prstGeom prst="line">
            <a:avLst/>
          </a:prstGeom>
          <a:noFill/>
          <a:ln w="47625" cap="rnd" cmpd="sng" algn="ctr"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6B0261"/>
                </a:gs>
              </a:gsLst>
              <a:lin ang="5400000" scaled="1"/>
            </a:gradFill>
            <a:prstDash val="solid"/>
            <a:round/>
          </a:ln>
          <a:effectLst/>
        </p:spPr>
      </p:cxnSp>
      <p:grpSp>
        <p:nvGrpSpPr>
          <p:cNvPr id="222" name="组合 22"/>
          <p:cNvGrpSpPr/>
          <p:nvPr/>
        </p:nvGrpSpPr>
        <p:grpSpPr>
          <a:xfrm>
            <a:off x="357611" y="1592658"/>
            <a:ext cx="10755008" cy="3207306"/>
            <a:chOff x="1043940" y="2140627"/>
            <a:chExt cx="9826747" cy="2930484"/>
          </a:xfrm>
        </p:grpSpPr>
        <p:sp>
          <p:nvSpPr>
            <p:cNvPr id="223" name="PA-右中括号 1"/>
            <p:cNvSpPr/>
            <p:nvPr/>
          </p:nvSpPr>
          <p:spPr>
            <a:xfrm rot="16200000">
              <a:off x="2712720" y="1310047"/>
              <a:ext cx="662940" cy="2324100"/>
            </a:xfrm>
            <a:prstGeom prst="rightBracket">
              <a:avLst>
                <a:gd name="adj" fmla="val 0"/>
              </a:avLst>
            </a:prstGeom>
            <a:noFill/>
            <a:ln w="381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24" name="PA-右中括号 3"/>
            <p:cNvSpPr/>
            <p:nvPr/>
          </p:nvSpPr>
          <p:spPr>
            <a:xfrm rot="5400000" flipV="1">
              <a:off x="2712720" y="3577591"/>
              <a:ext cx="662940" cy="2324100"/>
            </a:xfrm>
            <a:prstGeom prst="rightBracket">
              <a:avLst>
                <a:gd name="adj" fmla="val 0"/>
              </a:avLst>
            </a:prstGeom>
            <a:noFill/>
            <a:ln w="381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25" name="PA-矩形 4"/>
            <p:cNvSpPr/>
            <p:nvPr/>
          </p:nvSpPr>
          <p:spPr>
            <a:xfrm>
              <a:off x="1043940" y="2951479"/>
              <a:ext cx="4000500" cy="1087120"/>
            </a:xfrm>
            <a:prstGeom prst="rect">
              <a:avLst/>
            </a:prstGeom>
            <a:solidFill>
              <a:srgbClr val="FFFFFF">
                <a:alpha val="55000"/>
              </a:srgbClr>
            </a:solidFill>
            <a:ln w="12700" cap="flat" cmpd="sng" algn="ctr">
              <a:gradFill>
                <a:gsLst>
                  <a:gs pos="0">
                    <a:srgbClr val="00723E">
                      <a:lumMod val="5000"/>
                      <a:lumOff val="95000"/>
                    </a:srgbClr>
                  </a:gs>
                  <a:gs pos="69400">
                    <a:srgbClr val="FAFFFD">
                      <a:alpha val="33000"/>
                    </a:srgbClr>
                  </a:gs>
                  <a:gs pos="32000">
                    <a:srgbClr val="F3FFFA">
                      <a:alpha val="0"/>
                    </a:srgbClr>
                  </a:gs>
                  <a:gs pos="100000">
                    <a:srgbClr val="FFFFFF">
                      <a:alpha val="94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26" name="PA-文本框 5"/>
            <p:cNvSpPr txBox="1"/>
            <p:nvPr/>
          </p:nvSpPr>
          <p:spPr>
            <a:xfrm>
              <a:off x="8770107" y="2252250"/>
              <a:ext cx="2100580" cy="843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defRPr/>
              </a:pPr>
              <a:endParaRPr lang="zh-CN" altLang="en-US" sz="5400" b="1" kern="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27" name="PA-文本框 6"/>
            <p:cNvSpPr txBox="1"/>
            <p:nvPr/>
          </p:nvSpPr>
          <p:spPr>
            <a:xfrm>
              <a:off x="2094230" y="4223504"/>
              <a:ext cx="1899920" cy="421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defRPr/>
              </a:pPr>
              <a:r>
                <a:rPr lang="en-US" altLang="zh-CN" sz="2400" kern="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CONTEXT</a:t>
              </a:r>
              <a:endParaRPr lang="zh-CN" altLang="en-US" sz="2400" kern="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cxnSp>
          <p:nvCxnSpPr>
            <p:cNvPr id="228" name="PA-直接连接符 42"/>
            <p:cNvCxnSpPr/>
            <p:nvPr/>
          </p:nvCxnSpPr>
          <p:spPr>
            <a:xfrm>
              <a:off x="2170176" y="4174352"/>
              <a:ext cx="1737360" cy="0"/>
            </a:xfrm>
            <a:prstGeom prst="line">
              <a:avLst/>
            </a:prstGeom>
            <a:noFill/>
            <a:ln w="9525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</p:cxnSp>
        <p:grpSp>
          <p:nvGrpSpPr>
            <p:cNvPr id="229" name="PA-组合 54"/>
            <p:cNvGrpSpPr/>
            <p:nvPr/>
          </p:nvGrpSpPr>
          <p:grpSpPr>
            <a:xfrm>
              <a:off x="4200650" y="3381742"/>
              <a:ext cx="221996" cy="292636"/>
              <a:chOff x="4206240" y="3385284"/>
              <a:chExt cx="221996" cy="292636"/>
            </a:xfrm>
          </p:grpSpPr>
          <p:cxnSp>
            <p:nvCxnSpPr>
              <p:cNvPr id="230" name="PA-直接连接符 47"/>
              <p:cNvCxnSpPr/>
              <p:nvPr/>
            </p:nvCxnSpPr>
            <p:spPr>
              <a:xfrm>
                <a:off x="4206240" y="3385284"/>
                <a:ext cx="0" cy="292636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1" name="PA-直接连接符 48"/>
              <p:cNvCxnSpPr/>
              <p:nvPr/>
            </p:nvCxnSpPr>
            <p:spPr>
              <a:xfrm>
                <a:off x="4322064" y="3429000"/>
                <a:ext cx="0" cy="198120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2" name="PA-直接连接符 49"/>
              <p:cNvCxnSpPr/>
              <p:nvPr/>
            </p:nvCxnSpPr>
            <p:spPr>
              <a:xfrm>
                <a:off x="4428236" y="3459480"/>
                <a:ext cx="0" cy="144561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233" name="PA-组合 55"/>
            <p:cNvGrpSpPr/>
            <p:nvPr/>
          </p:nvGrpSpPr>
          <p:grpSpPr>
            <a:xfrm flipH="1">
              <a:off x="1665733" y="3381742"/>
              <a:ext cx="221996" cy="292636"/>
              <a:chOff x="4206240" y="3385284"/>
              <a:chExt cx="221996" cy="292636"/>
            </a:xfrm>
          </p:grpSpPr>
          <p:cxnSp>
            <p:nvCxnSpPr>
              <p:cNvPr id="234" name="PA-直接连接符 56"/>
              <p:cNvCxnSpPr/>
              <p:nvPr/>
            </p:nvCxnSpPr>
            <p:spPr>
              <a:xfrm>
                <a:off x="4206240" y="3385284"/>
                <a:ext cx="0" cy="292636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5" name="PA-直接连接符 57"/>
              <p:cNvCxnSpPr/>
              <p:nvPr/>
            </p:nvCxnSpPr>
            <p:spPr>
              <a:xfrm>
                <a:off x="4322064" y="3429000"/>
                <a:ext cx="0" cy="198120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36" name="PA-直接连接符 58"/>
              <p:cNvCxnSpPr/>
              <p:nvPr/>
            </p:nvCxnSpPr>
            <p:spPr>
              <a:xfrm>
                <a:off x="4428236" y="3459480"/>
                <a:ext cx="0" cy="144561"/>
              </a:xfrm>
              <a:prstGeom prst="line">
                <a:avLst/>
              </a:prstGeom>
              <a:noFill/>
              <a:ln w="22225" cap="rnd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</p:cxnSp>
        </p:grpSp>
      </p:grpSp>
      <p:pic>
        <p:nvPicPr>
          <p:cNvPr id="237" name="图片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207" y="6319496"/>
            <a:ext cx="3354823" cy="481675"/>
          </a:xfrm>
          <a:prstGeom prst="rect">
            <a:avLst/>
          </a:prstGeom>
        </p:spPr>
      </p:pic>
      <p:pic>
        <p:nvPicPr>
          <p:cNvPr id="238" name="图片 41"/>
          <p:cNvPicPr>
            <a:picLocks noChangeAspect="1"/>
          </p:cNvPicPr>
          <p:nvPr/>
        </p:nvPicPr>
        <p:blipFill rotWithShape="1">
          <a:blip r:embed="rId6"/>
          <a:srcRect t="33901" b="36723"/>
          <a:stretch>
            <a:fillRect/>
          </a:stretch>
        </p:blipFill>
        <p:spPr>
          <a:xfrm>
            <a:off x="9280163" y="139437"/>
            <a:ext cx="3008164" cy="883658"/>
          </a:xfrm>
          <a:prstGeom prst="rect">
            <a:avLst/>
          </a:prstGeom>
        </p:spPr>
      </p:pic>
      <p:sp>
        <p:nvSpPr>
          <p:cNvPr id="241" name="PA-文本框 16"/>
          <p:cNvSpPr txBox="1"/>
          <p:nvPr>
            <p:custDataLst>
              <p:tags r:id="rId7"/>
            </p:custDataLst>
          </p:nvPr>
        </p:nvSpPr>
        <p:spPr>
          <a:xfrm>
            <a:off x="6701155" y="3215640"/>
            <a:ext cx="624840" cy="1170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5400" b="1" i="1" kern="0" dirty="0">
                <a:solidFill>
                  <a:srgbClr val="6B0261"/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3</a:t>
            </a:r>
            <a:endParaRPr lang="zh-CN" altLang="en-US" sz="4800" b="1" i="1" kern="0" dirty="0">
              <a:solidFill>
                <a:srgbClr val="6B0261"/>
              </a:solidFill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42" name="PA-文本框 24"/>
          <p:cNvSpPr txBox="1"/>
          <p:nvPr>
            <p:custDataLst>
              <p:tags r:id="rId8"/>
            </p:custDataLst>
          </p:nvPr>
        </p:nvSpPr>
        <p:spPr>
          <a:xfrm>
            <a:off x="7474602" y="4460060"/>
            <a:ext cx="3611122" cy="741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solidFill>
                  <a:srgbClr val="768394">
                    <a:lumMod val="75000"/>
                  </a:srgbClr>
                </a:solidFill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 </a:t>
            </a:r>
            <a:r>
              <a:rPr lang="zh-CN" altLang="en-US" sz="3600" b="1" dirty="0"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预期成果</a:t>
            </a:r>
            <a:endParaRPr lang="zh-CN" altLang="en-US" sz="3600" b="1" dirty="0"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43" name="文本框 47"/>
          <p:cNvSpPr txBox="1"/>
          <p:nvPr/>
        </p:nvSpPr>
        <p:spPr>
          <a:xfrm>
            <a:off x="1564956" y="2477249"/>
            <a:ext cx="20793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  录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7"/>
          <p:cNvSpPr/>
          <p:nvPr/>
        </p:nvSpPr>
        <p:spPr>
          <a:xfrm>
            <a:off x="204242" y="27176"/>
            <a:ext cx="1537132" cy="973467"/>
          </a:xfrm>
          <a:custGeom>
            <a:avLst/>
            <a:gdLst/>
            <a:ahLst/>
            <a:cxnLst/>
            <a:rect l="l" t="t" r="r" b="b"/>
            <a:pathLst>
              <a:path w="2305699" h="1460201">
                <a:moveTo>
                  <a:pt x="0" y="0"/>
                </a:moveTo>
                <a:lnTo>
                  <a:pt x="2305699" y="0"/>
                </a:lnTo>
                <a:lnTo>
                  <a:pt x="2305699" y="1460201"/>
                </a:lnTo>
                <a:lnTo>
                  <a:pt x="0" y="1460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/>
        </p:txBody>
      </p:sp>
      <p:grpSp>
        <p:nvGrpSpPr>
          <p:cNvPr id="6" name="组合 5"/>
          <p:cNvGrpSpPr/>
          <p:nvPr/>
        </p:nvGrpSpPr>
        <p:grpSpPr>
          <a:xfrm>
            <a:off x="7345372" y="6242946"/>
            <a:ext cx="4716900" cy="635680"/>
            <a:chOff x="7345372" y="6242946"/>
            <a:chExt cx="4716900" cy="635680"/>
          </a:xfrm>
        </p:grpSpPr>
        <p:cxnSp>
          <p:nvCxnSpPr>
            <p:cNvPr id="17" name="直接箭头连接符 26"/>
            <p:cNvCxnSpPr/>
            <p:nvPr/>
          </p:nvCxnSpPr>
          <p:spPr>
            <a:xfrm>
              <a:off x="7586172" y="6425169"/>
              <a:ext cx="4476100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28"/>
            <p:cNvCxnSpPr/>
            <p:nvPr/>
          </p:nvCxnSpPr>
          <p:spPr>
            <a:xfrm>
              <a:off x="7345372" y="6242946"/>
              <a:ext cx="4059228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 2"/>
            <p:cNvSpPr/>
            <p:nvPr/>
          </p:nvSpPr>
          <p:spPr>
            <a:xfrm>
              <a:off x="7671845" y="6425169"/>
              <a:ext cx="4304755" cy="45345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滴水智联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en-US" altLang="zh-CN" sz="2000" b="1" dirty="0" err="1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DripSmart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 Connect</a:t>
              </a:r>
              <a:endParaRPr lang="en-US" altLang="zh-CN" sz="2000" b="1" dirty="0">
                <a:ln w="0"/>
                <a:solidFill>
                  <a:srgbClr val="6B0261">
                    <a:alpha val="100000"/>
                  </a:srgbClr>
                </a:solidFill>
                <a:effectLst>
                  <a:reflection blurRad="6350" stA="55000" endA="50" endPos="31000" dist="29997" dir="5400000" sy="-100000" algn="bl" rotWithShape="0"/>
                </a:effectLst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328160" y="172032"/>
            <a:ext cx="3535680" cy="1588976"/>
            <a:chOff x="4328160" y="822272"/>
            <a:chExt cx="3535680" cy="1588976"/>
          </a:xfrm>
        </p:grpSpPr>
        <p:sp>
          <p:nvSpPr>
            <p:cNvPr id="2" name="文本框 1"/>
            <p:cNvSpPr txBox="1"/>
            <p:nvPr/>
          </p:nvSpPr>
          <p:spPr>
            <a:xfrm>
              <a:off x="5542280" y="822272"/>
              <a:ext cx="1107440" cy="886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rgbClr val="002060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zh-CN" altLang="en-US" sz="4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328160" y="1525621"/>
              <a:ext cx="3535680" cy="885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b="1" dirty="0">
                  <a:solidFill>
                    <a:srgbClr val="7E0C6E"/>
                  </a:solidFill>
                </a:rPr>
                <a:t>题目介绍</a:t>
              </a:r>
              <a:endParaRPr lang="zh-CN" altLang="en-US" sz="4400" b="1" dirty="0">
                <a:solidFill>
                  <a:srgbClr val="7E0C6E"/>
                </a:solidFill>
              </a:endParaRPr>
            </a:p>
          </p:txBody>
        </p:sp>
      </p:grpSp>
      <p:pic>
        <p:nvPicPr>
          <p:cNvPr id="7" name="Picture 2" descr="老式水表的正确读数方法是什么_装修全知道_学堂_齐家网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2156161" y="1946152"/>
            <a:ext cx="3052378" cy="2281785"/>
          </a:xfrm>
          <a:prstGeom prst="rect">
            <a:avLst/>
          </a:prstGeom>
          <a:noFill/>
        </p:spPr>
      </p:pic>
      <p:sp>
        <p:nvSpPr>
          <p:cNvPr id="8" name="AutoShape 4" descr="ic卡智能水表 - 慧怡 - 九正建材网"/>
          <p:cNvSpPr>
            <a:spLocks noChangeAspect="1" noChangeArrowheads="1"/>
          </p:cNvSpPr>
          <p:nvPr/>
        </p:nvSpPr>
        <p:spPr bwMode="auto">
          <a:xfrm>
            <a:off x="6207760" y="314452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9" name="Picture 8" descr="NB-IOT无线远传智能水表 - 长沙威瀚信息技术有限公司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"/>
          <a:srcRect/>
          <a:stretch>
            <a:fillRect/>
          </a:stretch>
        </p:blipFill>
        <p:spPr bwMode="auto">
          <a:xfrm>
            <a:off x="7549792" y="1945120"/>
            <a:ext cx="3130652" cy="2281785"/>
          </a:xfrm>
          <a:prstGeom prst="rect">
            <a:avLst/>
          </a:prstGeom>
          <a:noFill/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69120" y="4331920"/>
            <a:ext cx="3426460" cy="3987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lvl="0" indent="0" algn="ctr" defTabSz="91440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CN" sz="2000" b="1" i="0" u="none" strike="noStrike" dirty="0">
                <a:ln>
                  <a:noFill/>
                </a:ln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光线差、污损严重 → </a:t>
            </a:r>
            <a:r>
              <a:rPr lang="zh-CN" sz="2000" b="1" i="0" u="none" strike="noStrike" dirty="0">
                <a:ln>
                  <a:noFill/>
                </a:ln>
                <a:solidFill>
                  <a:srgbClr val="FF0200">
                    <a:alpha val="100000"/>
                  </a:srgb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识别难</a:t>
            </a:r>
            <a:endParaRPr lang="zh-CN" sz="2000" b="1" i="0" u="none" strike="noStrike" dirty="0">
              <a:ln>
                <a:noFill/>
              </a:ln>
              <a:solidFill>
                <a:schemeClr val="tx1">
                  <a:alpha val="100000"/>
                </a:schemeClr>
              </a:solidFill>
              <a:effectLst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圆角矩形 257"/>
          <p:cNvSpPr/>
          <p:nvPr>
            <p:custDataLst>
              <p:tags r:id="rId7"/>
            </p:custDataLst>
          </p:nvPr>
        </p:nvSpPr>
        <p:spPr>
          <a:xfrm>
            <a:off x="1241794" y="2175606"/>
            <a:ext cx="665399" cy="2072877"/>
          </a:xfrm>
          <a:prstGeom prst="roundRect">
            <a:avLst/>
          </a:prstGeom>
          <a:noFill/>
          <a:ln w="28575">
            <a:solidFill>
              <a:srgbClr val="7030A0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1337027" y="2416306"/>
            <a:ext cx="582930" cy="1714500"/>
          </a:xfrm>
          <a:prstGeom prst="rect">
            <a:avLst/>
          </a:prstGeom>
          <a:ln w="12700">
            <a:prstDash val="solid"/>
          </a:ln>
        </p:spPr>
        <p:txBody>
          <a:bodyPr vert="eaVert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000" b="1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cs typeface="+mn-ea"/>
              </a:rPr>
              <a:t>传统老式水表</a:t>
            </a:r>
            <a:endParaRPr lang="zh-CN" altLang="en-US" sz="180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14" name="圆角矩形 259"/>
          <p:cNvSpPr/>
          <p:nvPr>
            <p:custDataLst>
              <p:tags r:id="rId9"/>
            </p:custDataLst>
          </p:nvPr>
        </p:nvSpPr>
        <p:spPr>
          <a:xfrm>
            <a:off x="6698477" y="2174971"/>
            <a:ext cx="665399" cy="2072877"/>
          </a:xfrm>
          <a:prstGeom prst="roundRect">
            <a:avLst/>
          </a:prstGeom>
          <a:noFill/>
          <a:ln w="28575">
            <a:solidFill>
              <a:srgbClr val="7030A0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6782915" y="2414413"/>
            <a:ext cx="582930" cy="1714500"/>
          </a:xfrm>
          <a:prstGeom prst="rect">
            <a:avLst/>
          </a:prstGeom>
          <a:ln w="12700">
            <a:prstDash val="solid"/>
          </a:ln>
        </p:spPr>
        <p:txBody>
          <a:bodyPr vert="eaVert">
            <a:spAutoFit/>
          </a:bodyPr>
          <a:lstStyle/>
          <a:p>
            <a:pPr marL="0" lvl="0" algn="l" defTabSz="914400">
              <a:lnSpc>
                <a:spcPct val="13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000" b="1" i="0" u="none" strike="noStrike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</a:rPr>
              <a:t>新型智能水表</a:t>
            </a:r>
            <a:endParaRPr lang="zh-CN" sz="2000" b="1" i="0" u="none" strike="noStrike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669515" y="4248546"/>
            <a:ext cx="2891206" cy="45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000" b="1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需要停水改造</a:t>
            </a:r>
            <a:r>
              <a:rPr lang="en-US" altLang="zh-CN" sz="2000" b="1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zh-CN" sz="2000" b="1" dirty="0">
                <a:ln>
                  <a:noFill/>
                </a:ln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  <a:sym typeface="+mn-ea"/>
              </a:rPr>
              <a:t>→ </a:t>
            </a:r>
            <a:r>
              <a:rPr lang="zh-CN" altLang="zh-CN" sz="2000" b="1" dirty="0">
                <a:solidFill>
                  <a:srgbClr val="FF0200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成本高</a:t>
            </a:r>
            <a:endParaRPr lang="zh-CN" altLang="en-US" sz="2000" dirty="0"/>
          </a:p>
        </p:txBody>
      </p:sp>
      <p:sp>
        <p:nvSpPr>
          <p:cNvPr id="22" name="右大括号 21"/>
          <p:cNvSpPr/>
          <p:nvPr/>
        </p:nvSpPr>
        <p:spPr>
          <a:xfrm rot="5400000">
            <a:off x="5943599" y="2233386"/>
            <a:ext cx="304801" cy="5396817"/>
          </a:xfrm>
          <a:prstGeom prst="rightBrace">
            <a:avLst/>
          </a:prstGeom>
          <a:ln w="28575">
            <a:solidFill>
              <a:srgbClr val="7E0C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4607560" y="5161333"/>
            <a:ext cx="3159760" cy="829012"/>
            <a:chOff x="4422139" y="5140068"/>
            <a:chExt cx="3159760" cy="829012"/>
          </a:xfrm>
        </p:grpSpPr>
        <p:sp>
          <p:nvSpPr>
            <p:cNvPr id="25" name="矩形: 对角圆角 24"/>
            <p:cNvSpPr/>
            <p:nvPr/>
          </p:nvSpPr>
          <p:spPr>
            <a:xfrm>
              <a:off x="4422139" y="5140068"/>
              <a:ext cx="3149600" cy="829012"/>
            </a:xfrm>
            <a:prstGeom prst="round2DiagRect">
              <a:avLst/>
            </a:prstGeom>
            <a:solidFill>
              <a:srgbClr val="DEE6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19"/>
            <p:cNvSpPr txBox="1"/>
            <p:nvPr/>
          </p:nvSpPr>
          <p:spPr>
            <a:xfrm>
              <a:off x="4610099" y="5165550"/>
              <a:ext cx="2971800" cy="669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3200" b="1" dirty="0">
                  <a:solidFill>
                    <a:srgbClr val="7E0C6E"/>
                  </a:solidFill>
                </a:rPr>
                <a:t>低成本智能化？</a:t>
              </a:r>
              <a:endParaRPr lang="zh-CN" sz="3200" b="1" dirty="0">
                <a:solidFill>
                  <a:srgbClr val="7E0C6E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4242" y="27176"/>
            <a:ext cx="1537132" cy="973467"/>
          </a:xfrm>
          <a:custGeom>
            <a:avLst/>
            <a:gdLst/>
            <a:ahLst/>
            <a:cxnLst/>
            <a:rect l="l" t="t" r="r" b="b"/>
            <a:pathLst>
              <a:path w="2305699" h="1460201">
                <a:moveTo>
                  <a:pt x="0" y="0"/>
                </a:moveTo>
                <a:lnTo>
                  <a:pt x="2305699" y="0"/>
                </a:lnTo>
                <a:lnTo>
                  <a:pt x="2305699" y="1460201"/>
                </a:lnTo>
                <a:lnTo>
                  <a:pt x="0" y="1460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/>
        </p:txBody>
      </p:sp>
      <p:grpSp>
        <p:nvGrpSpPr>
          <p:cNvPr id="6" name="组合 5"/>
          <p:cNvGrpSpPr>
            <a:grpSpLocks noGrp="1" noRot="1" noMove="1" noResize="1" noUngrp="1"/>
          </p:cNvGrpSpPr>
          <p:nvPr/>
        </p:nvGrpSpPr>
        <p:grpSpPr>
          <a:xfrm>
            <a:off x="7345372" y="6242946"/>
            <a:ext cx="4716900" cy="635680"/>
            <a:chOff x="7345372" y="6242946"/>
            <a:chExt cx="4716900" cy="635680"/>
          </a:xfrm>
        </p:grpSpPr>
        <p:cxnSp>
          <p:nvCxnSpPr>
            <p:cNvPr id="17" name="直接箭头连接符 26"/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586172" y="6425169"/>
              <a:ext cx="4476100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28"/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345372" y="6242946"/>
              <a:ext cx="4059228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 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71845" y="6425169"/>
              <a:ext cx="4304755" cy="45345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滴水智联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en-US" altLang="zh-CN" sz="2000" b="1" dirty="0" err="1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DripSmart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 Connect</a:t>
              </a:r>
              <a:endParaRPr lang="en-US" altLang="zh-CN" sz="2000" b="1" dirty="0">
                <a:ln w="0"/>
                <a:solidFill>
                  <a:srgbClr val="6B0261">
                    <a:alpha val="100000"/>
                  </a:srgbClr>
                </a:solidFill>
                <a:effectLst>
                  <a:reflection blurRad="6350" stA="55000" endA="50" endPos="31000" dist="29997" dir="5400000" sy="-100000" algn="bl" rotWithShape="0"/>
                </a:effectLst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aphicFrame>
        <p:nvGraphicFramePr>
          <p:cNvPr id="10" name="图示 9"/>
          <p:cNvGraphicFramePr/>
          <p:nvPr/>
        </p:nvGraphicFramePr>
        <p:xfrm>
          <a:off x="1333302" y="1159919"/>
          <a:ext cx="7087457" cy="3361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963670" y="4409083"/>
            <a:ext cx="4427220" cy="59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rgbClr val="7A046C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硬件+软件+AI服务</a:t>
            </a:r>
            <a:endParaRPr lang="en-US" sz="2800" b="1" dirty="0">
              <a:solidFill>
                <a:srgbClr val="7A046C">
                  <a:alpha val="100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箭头: 燕尾形 148"/>
          <p:cNvSpPr/>
          <p:nvPr/>
        </p:nvSpPr>
        <p:spPr>
          <a:xfrm rot="5400000">
            <a:off x="5870575" y="4044325"/>
            <a:ext cx="450850" cy="408940"/>
          </a:xfrm>
          <a:prstGeom prst="notchedRightArrow">
            <a:avLst/>
          </a:prstGeom>
          <a:solidFill>
            <a:srgbClr val="7E0C6E"/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</a:p>
        </p:txBody>
      </p:sp>
      <p:sp>
        <p:nvSpPr>
          <p:cNvPr id="15" name="右大括号 14"/>
          <p:cNvSpPr/>
          <p:nvPr/>
        </p:nvSpPr>
        <p:spPr>
          <a:xfrm>
            <a:off x="7746679" y="1616249"/>
            <a:ext cx="473720" cy="2441521"/>
          </a:xfrm>
          <a:prstGeom prst="rightBrace">
            <a:avLst/>
          </a:prstGeom>
          <a:ln w="28575">
            <a:solidFill>
              <a:srgbClr val="7E0C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剪去对角 15"/>
          <p:cNvSpPr/>
          <p:nvPr/>
        </p:nvSpPr>
        <p:spPr>
          <a:xfrm>
            <a:off x="8483217" y="2293533"/>
            <a:ext cx="2266063" cy="1084667"/>
          </a:xfrm>
          <a:prstGeom prst="snip2Diag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推动水资源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高效利用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Box 9"/>
          <p:cNvSpPr txBox="1"/>
          <p:nvPr/>
        </p:nvSpPr>
        <p:spPr>
          <a:xfrm>
            <a:off x="2593975" y="1086288"/>
            <a:ext cx="700405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 b="1" dirty="0">
                <a:solidFill>
                  <a:srgbClr val="7A046C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Arimo Bold"/>
              </a:rPr>
              <a:t>“</a:t>
            </a:r>
            <a:r>
              <a:rPr lang="en-US" sz="2800" b="1" dirty="0" err="1">
                <a:solidFill>
                  <a:srgbClr val="7A046C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Arimo Bold"/>
              </a:rPr>
              <a:t>滴水智联</a:t>
            </a:r>
            <a:r>
              <a:rPr lang="en-US" sz="2800" b="1" dirty="0">
                <a:solidFill>
                  <a:srgbClr val="7A046C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Arimo Bold"/>
              </a:rPr>
              <a:t>”——</a:t>
            </a:r>
            <a:r>
              <a:rPr lang="en-US" sz="2800" b="1" dirty="0" err="1">
                <a:solidFill>
                  <a:srgbClr val="7A046C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Arimo Bold"/>
              </a:rPr>
              <a:t>物联网水表智能监</a:t>
            </a:r>
            <a:r>
              <a:rPr lang="zh-CN" sz="2800" b="1" dirty="0">
                <a:solidFill>
                  <a:srgbClr val="7A046C">
                    <a:alpha val="100000"/>
                  </a:srgbClr>
                </a:solidFill>
                <a:latin typeface="微软雅黑" panose="020B0503020204020204" charset="-122"/>
                <a:cs typeface="微软雅黑" panose="020B0503020204020204" charset="-122"/>
                <a:sym typeface="Arimo Bold"/>
              </a:rPr>
              <a:t>测装置</a:t>
            </a:r>
            <a:endParaRPr lang="zh-CN" sz="2800" b="1" dirty="0">
              <a:solidFill>
                <a:srgbClr val="7A046C">
                  <a:alpha val="100000"/>
                </a:srgbClr>
              </a:solidFill>
              <a:latin typeface="微软雅黑" panose="020B0503020204020204" charset="-122"/>
              <a:cs typeface="微软雅黑" panose="020B0503020204020204" charset="-122"/>
              <a:sym typeface="Arimo Bold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8"/>
          <a:srcRect t="44190" b="35238"/>
          <a:stretch>
            <a:fillRect/>
          </a:stretch>
        </p:blipFill>
        <p:spPr>
          <a:xfrm>
            <a:off x="309148" y="4912571"/>
            <a:ext cx="11395172" cy="1318581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10271706" y="-43993"/>
            <a:ext cx="1906837" cy="67012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7E0C6E">
                    <a:alpha val="100000"/>
                  </a:srgbClr>
                </a:solidFill>
                <a:latin typeface="微软雅黑" panose="020B0503020204020204" charset="-122"/>
              </a:rPr>
              <a:t>题目介绍</a:t>
            </a:r>
            <a:endParaRPr lang="zh-CN" sz="3200" b="1" dirty="0">
              <a:solidFill>
                <a:srgbClr val="7E0C6E">
                  <a:alpha val="100000"/>
                </a:srgbClr>
              </a:solidFill>
              <a:latin typeface="微软雅黑" panose="020B0503020204020204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7994039" y="625616"/>
            <a:ext cx="4197963" cy="234280"/>
            <a:chOff x="7798958" y="766360"/>
            <a:chExt cx="4410490" cy="456106"/>
          </a:xfrm>
        </p:grpSpPr>
        <p:sp>
          <p:nvSpPr>
            <p:cNvPr id="42" name="矩形 41"/>
            <p:cNvSpPr/>
            <p:nvPr/>
          </p:nvSpPr>
          <p:spPr>
            <a:xfrm>
              <a:off x="8050437" y="766360"/>
              <a:ext cx="4154904" cy="342011"/>
            </a:xfrm>
            <a:prstGeom prst="rect">
              <a:avLst/>
            </a:prstGeom>
            <a:solidFill>
              <a:srgbClr val="7E0C6E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3" name="直角三角形 42"/>
            <p:cNvSpPr/>
            <p:nvPr/>
          </p:nvSpPr>
          <p:spPr>
            <a:xfrm flipH="1" flipV="1">
              <a:off x="7801226" y="773282"/>
              <a:ext cx="261937" cy="349186"/>
            </a:xfrm>
            <a:prstGeom prst="rtTriangle">
              <a:avLst/>
            </a:prstGeom>
            <a:solidFill>
              <a:srgbClr val="7E0C6E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4" name="矩形 43"/>
            <p:cNvSpPr/>
            <p:nvPr/>
          </p:nvSpPr>
          <p:spPr>
            <a:xfrm>
              <a:off x="8054545" y="866360"/>
              <a:ext cx="4154904" cy="342011"/>
            </a:xfrm>
            <a:prstGeom prst="rect">
              <a:avLst/>
            </a:prstGeom>
            <a:solidFill>
              <a:srgbClr val="7E0C6E">
                <a:alpha val="5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45" name="直角三角形 44"/>
            <p:cNvSpPr/>
            <p:nvPr/>
          </p:nvSpPr>
          <p:spPr>
            <a:xfrm flipH="1" flipV="1">
              <a:off x="7798958" y="873282"/>
              <a:ext cx="261937" cy="349186"/>
            </a:xfrm>
            <a:prstGeom prst="rtTriangle">
              <a:avLst/>
            </a:prstGeom>
            <a:solidFill>
              <a:srgbClr val="7E0C6E">
                <a:alpha val="5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7"/>
          <p:cNvSpPr/>
          <p:nvPr/>
        </p:nvSpPr>
        <p:spPr>
          <a:xfrm>
            <a:off x="204242" y="27176"/>
            <a:ext cx="1537132" cy="973467"/>
          </a:xfrm>
          <a:custGeom>
            <a:avLst/>
            <a:gdLst/>
            <a:ahLst/>
            <a:cxnLst/>
            <a:rect l="l" t="t" r="r" b="b"/>
            <a:pathLst>
              <a:path w="2305699" h="1460201">
                <a:moveTo>
                  <a:pt x="0" y="0"/>
                </a:moveTo>
                <a:lnTo>
                  <a:pt x="2305699" y="0"/>
                </a:lnTo>
                <a:lnTo>
                  <a:pt x="2305699" y="1460201"/>
                </a:lnTo>
                <a:lnTo>
                  <a:pt x="0" y="1460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/>
        </p:txBody>
      </p:sp>
      <p:grpSp>
        <p:nvGrpSpPr>
          <p:cNvPr id="6" name="组合 5"/>
          <p:cNvGrpSpPr>
            <a:grpSpLocks noGrp="1" noRot="1" noMove="1" noResize="1" noUngrp="1"/>
          </p:cNvGrpSpPr>
          <p:nvPr/>
        </p:nvGrpSpPr>
        <p:grpSpPr>
          <a:xfrm>
            <a:off x="7345372" y="6242946"/>
            <a:ext cx="4716900" cy="635680"/>
            <a:chOff x="7345372" y="6242946"/>
            <a:chExt cx="4716900" cy="635680"/>
          </a:xfrm>
        </p:grpSpPr>
        <p:cxnSp>
          <p:nvCxnSpPr>
            <p:cNvPr id="17" name="直接箭头连接符 26"/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586172" y="6425169"/>
              <a:ext cx="4476100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28"/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345372" y="6242946"/>
              <a:ext cx="4059228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 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71845" y="6425169"/>
              <a:ext cx="4304755" cy="45345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滴水智联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en-US" altLang="zh-CN" sz="2000" b="1" dirty="0" err="1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DripSmart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 Connect</a:t>
              </a:r>
              <a:endParaRPr lang="en-US" altLang="zh-CN" sz="2000" b="1" dirty="0">
                <a:ln w="0"/>
                <a:solidFill>
                  <a:srgbClr val="6B0261">
                    <a:alpha val="100000"/>
                  </a:srgbClr>
                </a:solidFill>
                <a:effectLst>
                  <a:reflection blurRad="6350" stA="55000" endA="50" endPos="31000" dist="29997" dir="5400000" sy="-100000" algn="bl" rotWithShape="0"/>
                </a:effectLst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" name="组合 4"/>
          <p:cNvGrpSpPr>
            <a:grpSpLocks noGrp="1" noRot="1" noMove="1" noResize="1" noUngrp="1"/>
          </p:cNvGrpSpPr>
          <p:nvPr/>
        </p:nvGrpSpPr>
        <p:grpSpPr>
          <a:xfrm>
            <a:off x="4328160" y="172032"/>
            <a:ext cx="3535680" cy="1588976"/>
            <a:chOff x="4328160" y="822272"/>
            <a:chExt cx="3535680" cy="1588976"/>
          </a:xfrm>
        </p:grpSpPr>
        <p:sp>
          <p:nvSpPr>
            <p:cNvPr id="2" name="文本框 1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42280" y="822272"/>
              <a:ext cx="1107440" cy="886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rgbClr val="002060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zh-CN" altLang="en-US" sz="4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文本框 3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28160" y="1525621"/>
              <a:ext cx="3535680" cy="885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b="1" dirty="0">
                  <a:solidFill>
                    <a:srgbClr val="7E0C6E"/>
                  </a:solidFill>
                </a:rPr>
                <a:t>应用场景</a:t>
              </a:r>
              <a:endParaRPr lang="zh-CN" altLang="en-US" sz="4400" b="1" dirty="0">
                <a:solidFill>
                  <a:srgbClr val="7E0C6E"/>
                </a:solidFill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6333567" y="1505865"/>
            <a:ext cx="4680000" cy="4680000"/>
            <a:chOff x="791453" y="1526277"/>
            <a:chExt cx="5304547" cy="5304547"/>
          </a:xfrm>
        </p:grpSpPr>
        <p:grpSp>
          <p:nvGrpSpPr>
            <p:cNvPr id="86" name="Group 31"/>
            <p:cNvGrpSpPr/>
            <p:nvPr/>
          </p:nvGrpSpPr>
          <p:grpSpPr>
            <a:xfrm>
              <a:off x="791453" y="1526277"/>
              <a:ext cx="5304547" cy="5304547"/>
              <a:chOff x="0" y="0"/>
              <a:chExt cx="10609094" cy="10609094"/>
            </a:xfrm>
          </p:grpSpPr>
          <p:sp>
            <p:nvSpPr>
              <p:cNvPr id="87" name="Freeform 32"/>
              <p:cNvSpPr/>
              <p:nvPr/>
            </p:nvSpPr>
            <p:spPr>
              <a:xfrm>
                <a:off x="0" y="0"/>
                <a:ext cx="10609072" cy="10609072"/>
              </a:xfrm>
              <a:custGeom>
                <a:avLst/>
                <a:gdLst/>
                <a:ahLst/>
                <a:cxnLst/>
                <a:rect l="l" t="t" r="r" b="b"/>
                <a:pathLst>
                  <a:path w="10609072" h="10609072">
                    <a:moveTo>
                      <a:pt x="0" y="5304536"/>
                    </a:moveTo>
                    <a:cubicBezTo>
                      <a:pt x="0" y="2374900"/>
                      <a:pt x="2374900" y="0"/>
                      <a:pt x="5304536" y="0"/>
                    </a:cubicBezTo>
                    <a:lnTo>
                      <a:pt x="5304536" y="12700"/>
                    </a:lnTo>
                    <a:lnTo>
                      <a:pt x="5304536" y="0"/>
                    </a:lnTo>
                    <a:cubicBezTo>
                      <a:pt x="8234172" y="0"/>
                      <a:pt x="10609072" y="2374900"/>
                      <a:pt x="10609072" y="5304536"/>
                    </a:cubicBezTo>
                    <a:lnTo>
                      <a:pt x="10596372" y="5304536"/>
                    </a:lnTo>
                    <a:lnTo>
                      <a:pt x="10609072" y="5304536"/>
                    </a:lnTo>
                    <a:cubicBezTo>
                      <a:pt x="10609072" y="8234172"/>
                      <a:pt x="8234172" y="10609072"/>
                      <a:pt x="5304536" y="10609072"/>
                    </a:cubicBezTo>
                    <a:lnTo>
                      <a:pt x="5304536" y="10596372"/>
                    </a:lnTo>
                    <a:lnTo>
                      <a:pt x="5304536" y="10609072"/>
                    </a:lnTo>
                    <a:cubicBezTo>
                      <a:pt x="2374900" y="10609072"/>
                      <a:pt x="0" y="8234172"/>
                      <a:pt x="0" y="5304536"/>
                    </a:cubicBezTo>
                    <a:lnTo>
                      <a:pt x="12700" y="5304536"/>
                    </a:lnTo>
                    <a:lnTo>
                      <a:pt x="25400" y="5304536"/>
                    </a:lnTo>
                    <a:lnTo>
                      <a:pt x="12700" y="5304536"/>
                    </a:lnTo>
                    <a:lnTo>
                      <a:pt x="0" y="5304536"/>
                    </a:lnTo>
                    <a:moveTo>
                      <a:pt x="25400" y="5304536"/>
                    </a:moveTo>
                    <a:cubicBezTo>
                      <a:pt x="25400" y="5311521"/>
                      <a:pt x="19685" y="5317236"/>
                      <a:pt x="12700" y="5317236"/>
                    </a:cubicBezTo>
                    <a:cubicBezTo>
                      <a:pt x="5715" y="5317236"/>
                      <a:pt x="0" y="5311521"/>
                      <a:pt x="0" y="5304536"/>
                    </a:cubicBezTo>
                    <a:cubicBezTo>
                      <a:pt x="0" y="5297551"/>
                      <a:pt x="5715" y="5291836"/>
                      <a:pt x="12700" y="5291836"/>
                    </a:cubicBezTo>
                    <a:cubicBezTo>
                      <a:pt x="19685" y="5291836"/>
                      <a:pt x="25400" y="5297551"/>
                      <a:pt x="25400" y="5304536"/>
                    </a:cubicBezTo>
                    <a:cubicBezTo>
                      <a:pt x="25400" y="8220202"/>
                      <a:pt x="2388997" y="10583672"/>
                      <a:pt x="5304536" y="10583672"/>
                    </a:cubicBezTo>
                    <a:cubicBezTo>
                      <a:pt x="8220075" y="10583672"/>
                      <a:pt x="10583672" y="8220202"/>
                      <a:pt x="10583672" y="5304536"/>
                    </a:cubicBezTo>
                    <a:cubicBezTo>
                      <a:pt x="10583672" y="2388870"/>
                      <a:pt x="8220202" y="25400"/>
                      <a:pt x="5304536" y="25400"/>
                    </a:cubicBezTo>
                    <a:lnTo>
                      <a:pt x="5304536" y="12700"/>
                    </a:lnTo>
                    <a:lnTo>
                      <a:pt x="5304536" y="25400"/>
                    </a:lnTo>
                    <a:cubicBezTo>
                      <a:pt x="2388997" y="25400"/>
                      <a:pt x="25400" y="2388997"/>
                      <a:pt x="25400" y="5304536"/>
                    </a:cubicBezTo>
                    <a:close/>
                  </a:path>
                </a:pathLst>
              </a:custGeom>
              <a:solidFill>
                <a:srgbClr val="E4E6EA"/>
              </a:solidFill>
            </p:spPr>
          </p:sp>
        </p:grp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441264">
              <a:off x="1197598" y="1958927"/>
              <a:ext cx="4563614" cy="4244161"/>
            </a:xfrm>
            <a:prstGeom prst="rect">
              <a:avLst/>
            </a:prstGeom>
          </p:spPr>
        </p:pic>
        <p:grpSp>
          <p:nvGrpSpPr>
            <p:cNvPr id="89" name="Group 33"/>
            <p:cNvGrpSpPr/>
            <p:nvPr/>
          </p:nvGrpSpPr>
          <p:grpSpPr>
            <a:xfrm>
              <a:off x="1191773" y="1914176"/>
              <a:ext cx="4503906" cy="4503906"/>
              <a:chOff x="0" y="0"/>
              <a:chExt cx="9007812" cy="9007812"/>
            </a:xfrm>
          </p:grpSpPr>
          <p:sp>
            <p:nvSpPr>
              <p:cNvPr id="90" name="Freeform 34"/>
              <p:cNvSpPr/>
              <p:nvPr/>
            </p:nvSpPr>
            <p:spPr>
              <a:xfrm>
                <a:off x="0" y="0"/>
                <a:ext cx="9007856" cy="9007856"/>
              </a:xfrm>
              <a:custGeom>
                <a:avLst/>
                <a:gdLst/>
                <a:ahLst/>
                <a:cxnLst/>
                <a:rect l="l" t="t" r="r" b="b"/>
                <a:pathLst>
                  <a:path w="9007856" h="9007856">
                    <a:moveTo>
                      <a:pt x="0" y="4503928"/>
                    </a:moveTo>
                    <a:cubicBezTo>
                      <a:pt x="0" y="2016506"/>
                      <a:pt x="2016506" y="0"/>
                      <a:pt x="4503928" y="0"/>
                    </a:cubicBezTo>
                    <a:cubicBezTo>
                      <a:pt x="6991351" y="0"/>
                      <a:pt x="9007856" y="2016506"/>
                      <a:pt x="9007856" y="4503928"/>
                    </a:cubicBezTo>
                    <a:cubicBezTo>
                      <a:pt x="9007856" y="6991351"/>
                      <a:pt x="6991350" y="9007856"/>
                      <a:pt x="4503928" y="9007856"/>
                    </a:cubicBezTo>
                    <a:cubicBezTo>
                      <a:pt x="2016506" y="9007856"/>
                      <a:pt x="0" y="6991350"/>
                      <a:pt x="0" y="4503928"/>
                    </a:cubicBezTo>
                    <a:close/>
                  </a:path>
                </a:pathLst>
              </a:custGeom>
              <a:solidFill>
                <a:srgbClr val="7A046C">
                  <a:alpha val="3922"/>
                </a:srgbClr>
              </a:solidFill>
            </p:spPr>
          </p:sp>
        </p:grpSp>
      </p:grpSp>
      <p:grpSp>
        <p:nvGrpSpPr>
          <p:cNvPr id="92" name="Group 37"/>
          <p:cNvGrpSpPr/>
          <p:nvPr/>
        </p:nvGrpSpPr>
        <p:grpSpPr>
          <a:xfrm>
            <a:off x="2113473" y="1967167"/>
            <a:ext cx="731148" cy="731148"/>
            <a:chOff x="0" y="0"/>
            <a:chExt cx="1462296" cy="1462296"/>
          </a:xfrm>
        </p:grpSpPr>
        <p:grpSp>
          <p:nvGrpSpPr>
            <p:cNvPr id="93" name="Group 38"/>
            <p:cNvGrpSpPr/>
            <p:nvPr/>
          </p:nvGrpSpPr>
          <p:grpSpPr>
            <a:xfrm>
              <a:off x="0" y="0"/>
              <a:ext cx="1462296" cy="1462296"/>
              <a:chOff x="0" y="0"/>
              <a:chExt cx="1462296" cy="1462296"/>
            </a:xfrm>
          </p:grpSpPr>
          <p:sp>
            <p:nvSpPr>
              <p:cNvPr id="95" name="Freeform 39"/>
              <p:cNvSpPr/>
              <p:nvPr/>
            </p:nvSpPr>
            <p:spPr>
              <a:xfrm>
                <a:off x="0" y="0"/>
                <a:ext cx="1462278" cy="1462278"/>
              </a:xfrm>
              <a:custGeom>
                <a:avLst/>
                <a:gdLst/>
                <a:ahLst/>
                <a:cxnLst/>
                <a:rect l="l" t="t" r="r" b="b"/>
                <a:pathLst>
                  <a:path w="1462278" h="1462278">
                    <a:moveTo>
                      <a:pt x="0" y="731139"/>
                    </a:moveTo>
                    <a:cubicBezTo>
                      <a:pt x="0" y="327406"/>
                      <a:pt x="327406" y="0"/>
                      <a:pt x="731139" y="0"/>
                    </a:cubicBezTo>
                    <a:cubicBezTo>
                      <a:pt x="1134872" y="0"/>
                      <a:pt x="1462278" y="327406"/>
                      <a:pt x="1462278" y="731139"/>
                    </a:cubicBezTo>
                    <a:cubicBezTo>
                      <a:pt x="1462278" y="1134872"/>
                      <a:pt x="1134872" y="1462278"/>
                      <a:pt x="731139" y="1462278"/>
                    </a:cubicBezTo>
                    <a:cubicBezTo>
                      <a:pt x="327406" y="1462278"/>
                      <a:pt x="0" y="1134999"/>
                      <a:pt x="0" y="731139"/>
                    </a:cubicBezTo>
                    <a:close/>
                  </a:path>
                </a:pathLst>
              </a:custGeom>
              <a:solidFill>
                <a:srgbClr val="CAA7FF"/>
              </a:solidFill>
            </p:spPr>
          </p:sp>
        </p:grpSp>
        <p:sp>
          <p:nvSpPr>
            <p:cNvPr id="94" name="Freeform 40"/>
            <p:cNvSpPr/>
            <p:nvPr/>
          </p:nvSpPr>
          <p:spPr>
            <a:xfrm>
              <a:off x="357927" y="357927"/>
              <a:ext cx="746442" cy="746442"/>
            </a:xfrm>
            <a:custGeom>
              <a:avLst/>
              <a:gdLst/>
              <a:ahLst/>
              <a:cxnLst/>
              <a:rect l="l" t="t" r="r" b="b"/>
              <a:pathLst>
                <a:path w="746442" h="746442">
                  <a:moveTo>
                    <a:pt x="0" y="0"/>
                  </a:moveTo>
                  <a:lnTo>
                    <a:pt x="746442" y="0"/>
                  </a:lnTo>
                  <a:lnTo>
                    <a:pt x="746442" y="746442"/>
                  </a:lnTo>
                  <a:lnTo>
                    <a:pt x="0" y="746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7" name="TextBox 56"/>
          <p:cNvSpPr txBox="1"/>
          <p:nvPr/>
        </p:nvSpPr>
        <p:spPr>
          <a:xfrm>
            <a:off x="2931876" y="2141449"/>
            <a:ext cx="281197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 dirty="0" err="1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2 Bold"/>
                <a:sym typeface="思源黑体 2 Bold"/>
              </a:rPr>
              <a:t>老旧居民小区</a:t>
            </a:r>
            <a:r>
              <a:rPr lang="en-US" sz="2000" b="1" dirty="0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2 Bold"/>
                <a:sym typeface="思源黑体 2 Bold"/>
              </a:rPr>
              <a:t> | </a:t>
            </a:r>
            <a:r>
              <a:rPr lang="zh-CN" altLang="en-US" sz="2000" b="1" dirty="0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2 Bold"/>
                <a:sym typeface="思源黑体 2 Bold"/>
              </a:rPr>
              <a:t>实时监控</a:t>
            </a:r>
            <a:endParaRPr lang="en-US" sz="2000" b="1" dirty="0">
              <a:solidFill>
                <a:srgbClr val="7A046C"/>
              </a:solidFill>
              <a:latin typeface="微软雅黑" panose="020B0503020204020204" charset="-122"/>
              <a:ea typeface="微软雅黑" panose="020B0503020204020204" charset="-122"/>
              <a:cs typeface="思源黑体 2 Bold"/>
              <a:sym typeface="思源黑体 2 Bold"/>
            </a:endParaRPr>
          </a:p>
        </p:txBody>
      </p:sp>
      <p:grpSp>
        <p:nvGrpSpPr>
          <p:cNvPr id="99" name="Group 49"/>
          <p:cNvGrpSpPr/>
          <p:nvPr/>
        </p:nvGrpSpPr>
        <p:grpSpPr>
          <a:xfrm>
            <a:off x="1370243" y="3058967"/>
            <a:ext cx="731148" cy="731148"/>
            <a:chOff x="0" y="0"/>
            <a:chExt cx="1462296" cy="1462296"/>
          </a:xfrm>
        </p:grpSpPr>
        <p:grpSp>
          <p:nvGrpSpPr>
            <p:cNvPr id="100" name="Group 50"/>
            <p:cNvGrpSpPr/>
            <p:nvPr/>
          </p:nvGrpSpPr>
          <p:grpSpPr>
            <a:xfrm>
              <a:off x="0" y="0"/>
              <a:ext cx="1462296" cy="1462296"/>
              <a:chOff x="0" y="0"/>
              <a:chExt cx="1462296" cy="1462296"/>
            </a:xfrm>
          </p:grpSpPr>
          <p:sp>
            <p:nvSpPr>
              <p:cNvPr id="102" name="Freeform 51"/>
              <p:cNvSpPr/>
              <p:nvPr/>
            </p:nvSpPr>
            <p:spPr>
              <a:xfrm>
                <a:off x="0" y="0"/>
                <a:ext cx="1462278" cy="1462278"/>
              </a:xfrm>
              <a:custGeom>
                <a:avLst/>
                <a:gdLst/>
                <a:ahLst/>
                <a:cxnLst/>
                <a:rect l="l" t="t" r="r" b="b"/>
                <a:pathLst>
                  <a:path w="1462278" h="1462278">
                    <a:moveTo>
                      <a:pt x="0" y="731139"/>
                    </a:moveTo>
                    <a:cubicBezTo>
                      <a:pt x="0" y="327406"/>
                      <a:pt x="327406" y="0"/>
                      <a:pt x="731139" y="0"/>
                    </a:cubicBezTo>
                    <a:cubicBezTo>
                      <a:pt x="1134872" y="0"/>
                      <a:pt x="1462278" y="327406"/>
                      <a:pt x="1462278" y="731139"/>
                    </a:cubicBezTo>
                    <a:cubicBezTo>
                      <a:pt x="1462278" y="1134872"/>
                      <a:pt x="1134872" y="1462278"/>
                      <a:pt x="731139" y="1462278"/>
                    </a:cubicBezTo>
                    <a:cubicBezTo>
                      <a:pt x="327406" y="1462278"/>
                      <a:pt x="0" y="1134999"/>
                      <a:pt x="0" y="731139"/>
                    </a:cubicBezTo>
                    <a:close/>
                  </a:path>
                </a:pathLst>
              </a:custGeom>
              <a:solidFill>
                <a:srgbClr val="8B43F6"/>
              </a:solidFill>
            </p:spPr>
          </p:sp>
        </p:grpSp>
        <p:sp>
          <p:nvSpPr>
            <p:cNvPr id="101" name="Freeform 52"/>
            <p:cNvSpPr/>
            <p:nvPr/>
          </p:nvSpPr>
          <p:spPr>
            <a:xfrm>
              <a:off x="361878" y="421594"/>
              <a:ext cx="746442" cy="746442"/>
            </a:xfrm>
            <a:custGeom>
              <a:avLst/>
              <a:gdLst/>
              <a:ahLst/>
              <a:cxnLst/>
              <a:rect l="l" t="t" r="r" b="b"/>
              <a:pathLst>
                <a:path w="746442" h="746442">
                  <a:moveTo>
                    <a:pt x="0" y="0"/>
                  </a:moveTo>
                  <a:lnTo>
                    <a:pt x="746442" y="0"/>
                  </a:lnTo>
                  <a:lnTo>
                    <a:pt x="746442" y="746442"/>
                  </a:lnTo>
                  <a:lnTo>
                    <a:pt x="0" y="746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4" name="TextBox 58"/>
          <p:cNvSpPr txBox="1"/>
          <p:nvPr/>
        </p:nvSpPr>
        <p:spPr>
          <a:xfrm>
            <a:off x="2198456" y="3265414"/>
            <a:ext cx="292366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 dirty="0" err="1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2 Bold"/>
                <a:sym typeface="思源黑体 2 Bold"/>
              </a:rPr>
              <a:t>高校学生宿舍</a:t>
            </a:r>
            <a:r>
              <a:rPr lang="en-US" sz="2000" b="1" dirty="0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2 Bold"/>
                <a:sym typeface="思源黑体 2 Bold"/>
              </a:rPr>
              <a:t> | </a:t>
            </a:r>
            <a:r>
              <a:rPr lang="zh-CN" altLang="en-US" sz="2000" b="1" dirty="0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2 Bold"/>
                <a:sym typeface="思源黑体 2 Bold"/>
              </a:rPr>
              <a:t>异常预警</a:t>
            </a:r>
            <a:endParaRPr lang="en-US" sz="2000" b="1" dirty="0">
              <a:solidFill>
                <a:srgbClr val="7A046C"/>
              </a:solidFill>
              <a:latin typeface="微软雅黑" panose="020B0503020204020204" charset="-122"/>
              <a:ea typeface="微软雅黑" panose="020B0503020204020204" charset="-122"/>
              <a:cs typeface="思源黑体 2 Bold"/>
              <a:sym typeface="思源黑体 2 Bold"/>
            </a:endParaRPr>
          </a:p>
        </p:txBody>
      </p:sp>
      <p:grpSp>
        <p:nvGrpSpPr>
          <p:cNvPr id="105" name="Group 41"/>
          <p:cNvGrpSpPr/>
          <p:nvPr/>
        </p:nvGrpSpPr>
        <p:grpSpPr>
          <a:xfrm>
            <a:off x="2109330" y="5405742"/>
            <a:ext cx="731148" cy="731148"/>
            <a:chOff x="0" y="0"/>
            <a:chExt cx="1462296" cy="1462296"/>
          </a:xfrm>
        </p:grpSpPr>
        <p:grpSp>
          <p:nvGrpSpPr>
            <p:cNvPr id="106" name="Group 42"/>
            <p:cNvGrpSpPr/>
            <p:nvPr/>
          </p:nvGrpSpPr>
          <p:grpSpPr>
            <a:xfrm>
              <a:off x="0" y="0"/>
              <a:ext cx="1462296" cy="1462296"/>
              <a:chOff x="0" y="0"/>
              <a:chExt cx="1462296" cy="1462296"/>
            </a:xfrm>
          </p:grpSpPr>
          <p:sp>
            <p:nvSpPr>
              <p:cNvPr id="108" name="Freeform 43"/>
              <p:cNvSpPr/>
              <p:nvPr/>
            </p:nvSpPr>
            <p:spPr>
              <a:xfrm>
                <a:off x="0" y="0"/>
                <a:ext cx="1462278" cy="1462278"/>
              </a:xfrm>
              <a:custGeom>
                <a:avLst/>
                <a:gdLst/>
                <a:ahLst/>
                <a:cxnLst/>
                <a:rect l="l" t="t" r="r" b="b"/>
                <a:pathLst>
                  <a:path w="1462278" h="1462278">
                    <a:moveTo>
                      <a:pt x="0" y="731139"/>
                    </a:moveTo>
                    <a:cubicBezTo>
                      <a:pt x="0" y="327406"/>
                      <a:pt x="327406" y="0"/>
                      <a:pt x="731139" y="0"/>
                    </a:cubicBezTo>
                    <a:cubicBezTo>
                      <a:pt x="1134872" y="0"/>
                      <a:pt x="1462278" y="327406"/>
                      <a:pt x="1462278" y="731139"/>
                    </a:cubicBezTo>
                    <a:cubicBezTo>
                      <a:pt x="1462278" y="1134872"/>
                      <a:pt x="1134872" y="1462278"/>
                      <a:pt x="731139" y="1462278"/>
                    </a:cubicBezTo>
                    <a:cubicBezTo>
                      <a:pt x="327406" y="1462278"/>
                      <a:pt x="0" y="1134999"/>
                      <a:pt x="0" y="731139"/>
                    </a:cubicBezTo>
                    <a:close/>
                  </a:path>
                </a:pathLst>
              </a:custGeom>
              <a:solidFill>
                <a:srgbClr val="7A046C"/>
              </a:solidFill>
            </p:spPr>
          </p:sp>
        </p:grpSp>
        <p:sp>
          <p:nvSpPr>
            <p:cNvPr id="107" name="Freeform 44"/>
            <p:cNvSpPr/>
            <p:nvPr/>
          </p:nvSpPr>
          <p:spPr>
            <a:xfrm>
              <a:off x="356468" y="317046"/>
              <a:ext cx="746442" cy="746442"/>
            </a:xfrm>
            <a:custGeom>
              <a:avLst/>
              <a:gdLst/>
              <a:ahLst/>
              <a:cxnLst/>
              <a:rect l="l" t="t" r="r" b="b"/>
              <a:pathLst>
                <a:path w="746442" h="746442">
                  <a:moveTo>
                    <a:pt x="0" y="0"/>
                  </a:moveTo>
                  <a:lnTo>
                    <a:pt x="746442" y="0"/>
                  </a:lnTo>
                  <a:lnTo>
                    <a:pt x="746442" y="746442"/>
                  </a:lnTo>
                  <a:lnTo>
                    <a:pt x="0" y="746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9" name="TextBox 60"/>
          <p:cNvSpPr txBox="1"/>
          <p:nvPr/>
        </p:nvSpPr>
        <p:spPr>
          <a:xfrm>
            <a:off x="2981182" y="5565447"/>
            <a:ext cx="339012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 dirty="0" err="1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2 Bold"/>
                <a:sym typeface="思源黑体 2 Bold"/>
              </a:rPr>
              <a:t>中小型企业及商铺</a:t>
            </a:r>
            <a:r>
              <a:rPr lang="en-US" sz="2000" b="1" dirty="0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2 Bold"/>
                <a:sym typeface="思源黑体 2 Bold"/>
              </a:rPr>
              <a:t> | </a:t>
            </a:r>
            <a:r>
              <a:rPr lang="zh-CN" altLang="en-US" sz="2000" b="1" dirty="0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2 Bold"/>
                <a:sym typeface="思源黑体 2 Bold"/>
              </a:rPr>
              <a:t>控制成本</a:t>
            </a:r>
            <a:endParaRPr lang="en-US" sz="2000" b="1" dirty="0">
              <a:solidFill>
                <a:srgbClr val="7A046C"/>
              </a:solidFill>
              <a:latin typeface="微软雅黑" panose="020B0503020204020204" charset="-122"/>
              <a:ea typeface="微软雅黑" panose="020B0503020204020204" charset="-122"/>
              <a:cs typeface="思源黑体 2 Bold"/>
              <a:sym typeface="思源黑体 2 Bold"/>
            </a:endParaRPr>
          </a:p>
        </p:txBody>
      </p:sp>
      <p:grpSp>
        <p:nvGrpSpPr>
          <p:cNvPr id="111" name="Group 45"/>
          <p:cNvGrpSpPr/>
          <p:nvPr/>
        </p:nvGrpSpPr>
        <p:grpSpPr>
          <a:xfrm>
            <a:off x="1366048" y="4266266"/>
            <a:ext cx="731148" cy="731148"/>
            <a:chOff x="0" y="0"/>
            <a:chExt cx="1462296" cy="1462296"/>
          </a:xfrm>
        </p:grpSpPr>
        <p:grpSp>
          <p:nvGrpSpPr>
            <p:cNvPr id="112" name="Group 46"/>
            <p:cNvGrpSpPr/>
            <p:nvPr/>
          </p:nvGrpSpPr>
          <p:grpSpPr>
            <a:xfrm>
              <a:off x="0" y="0"/>
              <a:ext cx="1462296" cy="1462296"/>
              <a:chOff x="0" y="0"/>
              <a:chExt cx="1462296" cy="1462296"/>
            </a:xfrm>
          </p:grpSpPr>
          <p:sp>
            <p:nvSpPr>
              <p:cNvPr id="114" name="Freeform 47"/>
              <p:cNvSpPr/>
              <p:nvPr/>
            </p:nvSpPr>
            <p:spPr>
              <a:xfrm>
                <a:off x="0" y="0"/>
                <a:ext cx="1462278" cy="1462278"/>
              </a:xfrm>
              <a:custGeom>
                <a:avLst/>
                <a:gdLst/>
                <a:ahLst/>
                <a:cxnLst/>
                <a:rect l="l" t="t" r="r" b="b"/>
                <a:pathLst>
                  <a:path w="1462278" h="1462278">
                    <a:moveTo>
                      <a:pt x="0" y="731139"/>
                    </a:moveTo>
                    <a:cubicBezTo>
                      <a:pt x="0" y="327406"/>
                      <a:pt x="327406" y="0"/>
                      <a:pt x="731139" y="0"/>
                    </a:cubicBezTo>
                    <a:cubicBezTo>
                      <a:pt x="1134872" y="0"/>
                      <a:pt x="1462278" y="327406"/>
                      <a:pt x="1462278" y="731139"/>
                    </a:cubicBezTo>
                    <a:cubicBezTo>
                      <a:pt x="1462278" y="1134872"/>
                      <a:pt x="1134872" y="1462278"/>
                      <a:pt x="731139" y="1462278"/>
                    </a:cubicBezTo>
                    <a:cubicBezTo>
                      <a:pt x="327406" y="1462278"/>
                      <a:pt x="0" y="1134999"/>
                      <a:pt x="0" y="731139"/>
                    </a:cubicBezTo>
                    <a:close/>
                  </a:path>
                </a:pathLst>
              </a:custGeom>
              <a:solidFill>
                <a:srgbClr val="5805D1"/>
              </a:solidFill>
            </p:spPr>
          </p:sp>
        </p:grpSp>
        <p:sp>
          <p:nvSpPr>
            <p:cNvPr id="113" name="Freeform 48"/>
            <p:cNvSpPr/>
            <p:nvPr/>
          </p:nvSpPr>
          <p:spPr>
            <a:xfrm>
              <a:off x="357927" y="351028"/>
              <a:ext cx="746442" cy="746442"/>
            </a:xfrm>
            <a:custGeom>
              <a:avLst/>
              <a:gdLst/>
              <a:ahLst/>
              <a:cxnLst/>
              <a:rect l="l" t="t" r="r" b="b"/>
              <a:pathLst>
                <a:path w="746442" h="746442">
                  <a:moveTo>
                    <a:pt x="0" y="0"/>
                  </a:moveTo>
                  <a:lnTo>
                    <a:pt x="746442" y="0"/>
                  </a:lnTo>
                  <a:lnTo>
                    <a:pt x="746442" y="746442"/>
                  </a:lnTo>
                  <a:lnTo>
                    <a:pt x="0" y="746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5" name="TextBox 63"/>
          <p:cNvSpPr txBox="1"/>
          <p:nvPr/>
        </p:nvSpPr>
        <p:spPr>
          <a:xfrm>
            <a:off x="2185367" y="4402189"/>
            <a:ext cx="236757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 dirty="0" err="1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2 Bold"/>
                <a:sym typeface="思源黑体 2 Bold"/>
              </a:rPr>
              <a:t>农村地区</a:t>
            </a:r>
            <a:r>
              <a:rPr lang="en-US" sz="2000" b="1" dirty="0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2 Bold"/>
                <a:sym typeface="思源黑体 2 Bold"/>
              </a:rPr>
              <a:t> | </a:t>
            </a:r>
            <a:r>
              <a:rPr lang="zh-CN" altLang="en-US" sz="2000" b="1" dirty="0">
                <a:solidFill>
                  <a:srgbClr val="7A046C"/>
                </a:solidFill>
                <a:latin typeface="微软雅黑" panose="020B0503020204020204" charset="-122"/>
                <a:ea typeface="微软雅黑" panose="020B0503020204020204" charset="-122"/>
                <a:cs typeface="思源黑体 2 Bold"/>
                <a:sym typeface="思源黑体 2 Bold"/>
              </a:rPr>
              <a:t>提升效率</a:t>
            </a:r>
            <a:endParaRPr lang="en-US" sz="2000" b="1" dirty="0">
              <a:solidFill>
                <a:srgbClr val="7A046C"/>
              </a:solidFill>
              <a:latin typeface="微软雅黑" panose="020B0503020204020204" charset="-122"/>
              <a:ea typeface="微软雅黑" panose="020B0503020204020204" charset="-122"/>
              <a:cs typeface="思源黑体 2 Bold"/>
              <a:sym typeface="思源黑体 2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7"/>
          <p:cNvSpPr/>
          <p:nvPr/>
        </p:nvSpPr>
        <p:spPr>
          <a:xfrm>
            <a:off x="204242" y="27176"/>
            <a:ext cx="1537132" cy="973467"/>
          </a:xfrm>
          <a:custGeom>
            <a:avLst/>
            <a:gdLst/>
            <a:ahLst/>
            <a:cxnLst/>
            <a:rect l="l" t="t" r="r" b="b"/>
            <a:pathLst>
              <a:path w="2305699" h="1460201">
                <a:moveTo>
                  <a:pt x="0" y="0"/>
                </a:moveTo>
                <a:lnTo>
                  <a:pt x="2305699" y="0"/>
                </a:lnTo>
                <a:lnTo>
                  <a:pt x="2305699" y="1460201"/>
                </a:lnTo>
                <a:lnTo>
                  <a:pt x="0" y="1460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/>
        </p:txBody>
      </p:sp>
      <p:grpSp>
        <p:nvGrpSpPr>
          <p:cNvPr id="6" name="组合 5"/>
          <p:cNvGrpSpPr/>
          <p:nvPr/>
        </p:nvGrpSpPr>
        <p:grpSpPr>
          <a:xfrm>
            <a:off x="7345372" y="6242946"/>
            <a:ext cx="4716900" cy="635680"/>
            <a:chOff x="7345372" y="6242946"/>
            <a:chExt cx="4716900" cy="635680"/>
          </a:xfrm>
        </p:grpSpPr>
        <p:cxnSp>
          <p:nvCxnSpPr>
            <p:cNvPr id="17" name="直接箭头连接符 26"/>
            <p:cNvCxnSpPr/>
            <p:nvPr/>
          </p:nvCxnSpPr>
          <p:spPr>
            <a:xfrm>
              <a:off x="7586172" y="6425169"/>
              <a:ext cx="4476100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28"/>
            <p:cNvCxnSpPr/>
            <p:nvPr/>
          </p:nvCxnSpPr>
          <p:spPr>
            <a:xfrm>
              <a:off x="7345372" y="6242946"/>
              <a:ext cx="4059228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 2"/>
            <p:cNvSpPr/>
            <p:nvPr/>
          </p:nvSpPr>
          <p:spPr>
            <a:xfrm>
              <a:off x="7671845" y="6425169"/>
              <a:ext cx="4304755" cy="45345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滴水智联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en-US" altLang="zh-CN" sz="2000" b="1" dirty="0" err="1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DripSmart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 Connect</a:t>
              </a:r>
              <a:endParaRPr lang="en-US" altLang="zh-CN" sz="2000" b="1" dirty="0">
                <a:ln w="0"/>
                <a:solidFill>
                  <a:srgbClr val="6B0261">
                    <a:alpha val="100000"/>
                  </a:srgbClr>
                </a:solidFill>
                <a:effectLst>
                  <a:reflection blurRad="6350" stA="55000" endA="50" endPos="31000" dist="29997" dir="5400000" sy="-100000" algn="bl" rotWithShape="0"/>
                </a:effectLst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542280" y="822272"/>
            <a:ext cx="1107440" cy="886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4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28160" y="1525621"/>
            <a:ext cx="3535680" cy="885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7E0C6E"/>
                </a:solidFill>
              </a:rPr>
              <a:t>技术路线</a:t>
            </a:r>
            <a:endParaRPr lang="zh-CN" altLang="en-US" sz="4400" b="1" dirty="0">
              <a:solidFill>
                <a:srgbClr val="7E0C6E"/>
              </a:solidFill>
            </a:endParaRPr>
          </a:p>
        </p:txBody>
      </p:sp>
      <p:sp>
        <p:nvSpPr>
          <p:cNvPr id="15" name="流程图: 可选过程 14"/>
          <p:cNvSpPr/>
          <p:nvPr/>
        </p:nvSpPr>
        <p:spPr>
          <a:xfrm>
            <a:off x="589553" y="3359948"/>
            <a:ext cx="2123933" cy="565142"/>
          </a:xfrm>
          <a:prstGeom prst="flowChartAlternateProcess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功能性硬件搭建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流程图: 可选过程 46"/>
          <p:cNvSpPr/>
          <p:nvPr/>
        </p:nvSpPr>
        <p:spPr>
          <a:xfrm>
            <a:off x="3546113" y="3359948"/>
            <a:ext cx="2123933" cy="565142"/>
          </a:xfrm>
          <a:prstGeom prst="flowChartAlternateProcess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图像识别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流程图: 可选过程 50"/>
          <p:cNvSpPr/>
          <p:nvPr/>
        </p:nvSpPr>
        <p:spPr>
          <a:xfrm>
            <a:off x="6572162" y="3359948"/>
            <a:ext cx="2123932" cy="565142"/>
          </a:xfrm>
          <a:prstGeom prst="flowChartAlternateProcess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软件实现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流程图: 可选过程 54"/>
          <p:cNvSpPr/>
          <p:nvPr/>
        </p:nvSpPr>
        <p:spPr>
          <a:xfrm>
            <a:off x="9527856" y="3359948"/>
            <a:ext cx="2123933" cy="565142"/>
          </a:xfrm>
          <a:prstGeom prst="flowChartAlternateProcess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云端平台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箭头: 右 57"/>
          <p:cNvSpPr/>
          <p:nvPr/>
        </p:nvSpPr>
        <p:spPr>
          <a:xfrm>
            <a:off x="2917552" y="3482989"/>
            <a:ext cx="436290" cy="336337"/>
          </a:xfrm>
          <a:prstGeom prst="right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箭头: 右 58"/>
          <p:cNvSpPr/>
          <p:nvPr/>
        </p:nvSpPr>
        <p:spPr>
          <a:xfrm>
            <a:off x="5929018" y="3482989"/>
            <a:ext cx="436290" cy="336337"/>
          </a:xfrm>
          <a:prstGeom prst="right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箭头: 右 59"/>
          <p:cNvSpPr/>
          <p:nvPr/>
        </p:nvSpPr>
        <p:spPr>
          <a:xfrm>
            <a:off x="8893240" y="3464292"/>
            <a:ext cx="436290" cy="336337"/>
          </a:xfrm>
          <a:prstGeom prst="rightArrow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7"/>
          <p:cNvSpPr/>
          <p:nvPr/>
        </p:nvSpPr>
        <p:spPr>
          <a:xfrm>
            <a:off x="204242" y="27176"/>
            <a:ext cx="1537132" cy="973467"/>
          </a:xfrm>
          <a:custGeom>
            <a:avLst/>
            <a:gdLst/>
            <a:ahLst/>
            <a:cxnLst/>
            <a:rect l="l" t="t" r="r" b="b"/>
            <a:pathLst>
              <a:path w="2305699" h="1460201">
                <a:moveTo>
                  <a:pt x="0" y="0"/>
                </a:moveTo>
                <a:lnTo>
                  <a:pt x="2305699" y="0"/>
                </a:lnTo>
                <a:lnTo>
                  <a:pt x="2305699" y="1460201"/>
                </a:lnTo>
                <a:lnTo>
                  <a:pt x="0" y="1460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/>
        </p:txBody>
      </p:sp>
      <p:sp>
        <p:nvSpPr>
          <p:cNvPr id="21" name="文本框 20"/>
          <p:cNvSpPr txBox="1"/>
          <p:nvPr/>
        </p:nvSpPr>
        <p:spPr>
          <a:xfrm>
            <a:off x="9076123" y="-59140"/>
            <a:ext cx="3321050" cy="730885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sz="3200" b="1" dirty="0">
                <a:solidFill>
                  <a:srgbClr val="7E0C6E">
                    <a:alpha val="100000"/>
                  </a:srgbClr>
                </a:solidFill>
                <a:latin typeface="微软雅黑" panose="020B0503020204020204" charset="-122"/>
              </a:rPr>
              <a:t>功能性硬件搭建</a:t>
            </a:r>
            <a:endParaRPr lang="zh-CN" sz="3200" b="1" dirty="0">
              <a:solidFill>
                <a:srgbClr val="7E0C6E">
                  <a:alpha val="100000"/>
                </a:srgbClr>
              </a:solidFill>
              <a:latin typeface="微软雅黑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994039" y="625616"/>
            <a:ext cx="4197963" cy="234280"/>
            <a:chOff x="7798958" y="766360"/>
            <a:chExt cx="4410490" cy="456106"/>
          </a:xfrm>
        </p:grpSpPr>
        <p:sp>
          <p:nvSpPr>
            <p:cNvPr id="23" name="矩形 22"/>
            <p:cNvSpPr/>
            <p:nvPr/>
          </p:nvSpPr>
          <p:spPr>
            <a:xfrm>
              <a:off x="8050437" y="766360"/>
              <a:ext cx="4154904" cy="342011"/>
            </a:xfrm>
            <a:prstGeom prst="rect">
              <a:avLst/>
            </a:prstGeom>
            <a:solidFill>
              <a:srgbClr val="7E0C6E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直角三角形 23"/>
            <p:cNvSpPr/>
            <p:nvPr/>
          </p:nvSpPr>
          <p:spPr>
            <a:xfrm flipH="1" flipV="1">
              <a:off x="7801226" y="773282"/>
              <a:ext cx="261937" cy="349186"/>
            </a:xfrm>
            <a:prstGeom prst="rtTriangle">
              <a:avLst/>
            </a:prstGeom>
            <a:solidFill>
              <a:srgbClr val="7E0C6E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矩形 24"/>
            <p:cNvSpPr/>
            <p:nvPr/>
          </p:nvSpPr>
          <p:spPr>
            <a:xfrm>
              <a:off x="8054545" y="866360"/>
              <a:ext cx="4154904" cy="342011"/>
            </a:xfrm>
            <a:prstGeom prst="rect">
              <a:avLst/>
            </a:prstGeom>
            <a:solidFill>
              <a:srgbClr val="7E0C6E">
                <a:alpha val="5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直角三角形 25"/>
            <p:cNvSpPr/>
            <p:nvPr/>
          </p:nvSpPr>
          <p:spPr>
            <a:xfrm flipH="1" flipV="1">
              <a:off x="7798958" y="873282"/>
              <a:ext cx="261937" cy="349186"/>
            </a:xfrm>
            <a:prstGeom prst="rtTriangle">
              <a:avLst/>
            </a:prstGeom>
            <a:solidFill>
              <a:srgbClr val="7E0C6E">
                <a:alpha val="5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345372" y="6242946"/>
            <a:ext cx="4716900" cy="635680"/>
            <a:chOff x="7345372" y="6242946"/>
            <a:chExt cx="4716900" cy="635680"/>
          </a:xfrm>
        </p:grpSpPr>
        <p:cxnSp>
          <p:nvCxnSpPr>
            <p:cNvPr id="17" name="直接箭头连接符 26"/>
            <p:cNvCxnSpPr/>
            <p:nvPr/>
          </p:nvCxnSpPr>
          <p:spPr>
            <a:xfrm>
              <a:off x="7586172" y="6425169"/>
              <a:ext cx="4476100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28"/>
            <p:cNvCxnSpPr/>
            <p:nvPr/>
          </p:nvCxnSpPr>
          <p:spPr>
            <a:xfrm>
              <a:off x="7345372" y="6242946"/>
              <a:ext cx="4059228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 2"/>
            <p:cNvSpPr/>
            <p:nvPr/>
          </p:nvSpPr>
          <p:spPr>
            <a:xfrm>
              <a:off x="7671845" y="6425169"/>
              <a:ext cx="4304755" cy="45345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滴水智联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en-US" altLang="zh-CN" sz="2000" b="1" dirty="0" err="1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DripSmart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 Connect</a:t>
              </a:r>
              <a:endParaRPr lang="en-US" altLang="zh-CN" sz="2000" b="1" dirty="0">
                <a:ln w="0"/>
                <a:solidFill>
                  <a:srgbClr val="6B0261">
                    <a:alpha val="100000"/>
                  </a:srgbClr>
                </a:solidFill>
                <a:effectLst>
                  <a:reflection blurRad="6350" stA="55000" endA="50" endPos="31000" dist="29997" dir="5400000" sy="-100000" algn="bl" rotWithShape="0"/>
                </a:effectLst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3" name="圆角矩形 12"/>
          <p:cNvSpPr/>
          <p:nvPr/>
        </p:nvSpPr>
        <p:spPr>
          <a:xfrm>
            <a:off x="327625" y="3387033"/>
            <a:ext cx="5866352" cy="878336"/>
          </a:xfrm>
          <a:prstGeom prst="roundRect">
            <a:avLst/>
          </a:prstGeom>
          <a:solidFill>
            <a:schemeClr val="bg1">
              <a:alpha val="100000"/>
            </a:schemeClr>
          </a:solidFill>
          <a:ln w="0">
            <a:noFill/>
          </a:ln>
          <a:effectLst>
            <a:innerShdw blurRad="311404">
              <a:srgbClr val="000000">
                <a:alpha val="40000"/>
              </a:srgbClr>
            </a:innerShdw>
          </a:effectLst>
        </p:spPr>
        <p:txBody>
          <a:bodyPr anchor="ctr"/>
          <a:lstStyle/>
          <a:p>
            <a:pPr algn="ctr"/>
          </a:p>
        </p:txBody>
      </p:sp>
      <p:sp>
        <p:nvSpPr>
          <p:cNvPr id="14" name="圆角矩形 13"/>
          <p:cNvSpPr/>
          <p:nvPr/>
        </p:nvSpPr>
        <p:spPr>
          <a:xfrm>
            <a:off x="323145" y="1539269"/>
            <a:ext cx="5459326" cy="1204306"/>
          </a:xfrm>
          <a:prstGeom prst="roundRect">
            <a:avLst/>
          </a:prstGeom>
          <a:solidFill>
            <a:schemeClr val="bg1">
              <a:alpha val="100000"/>
            </a:schemeClr>
          </a:solidFill>
          <a:ln w="0">
            <a:noFill/>
          </a:ln>
          <a:effectLst>
            <a:innerShdw blurRad="311404">
              <a:srgbClr val="000000">
                <a:alpha val="40000"/>
              </a:srgbClr>
            </a:innerShdw>
          </a:effectLst>
        </p:spPr>
        <p:txBody>
          <a:bodyPr anchor="ctr"/>
          <a:lstStyle/>
          <a:p>
            <a:pPr algn="ctr"/>
          </a:p>
        </p:txBody>
      </p:sp>
      <p:sp>
        <p:nvSpPr>
          <p:cNvPr id="27" name="流程图: 终止 26"/>
          <p:cNvSpPr/>
          <p:nvPr/>
        </p:nvSpPr>
        <p:spPr>
          <a:xfrm>
            <a:off x="321092" y="1033632"/>
            <a:ext cx="2080824" cy="406317"/>
          </a:xfrm>
          <a:prstGeom prst="flowChartTerminator">
            <a:avLst/>
          </a:prstGeom>
          <a:solidFill>
            <a:srgbClr val="7E0C6E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/>
            <a:r>
              <a:rPr b="1" dirty="0" err="1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外壳与安装支架</a:t>
            </a:r>
            <a:endParaRPr b="1" dirty="0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34282" y="1597606"/>
            <a:ext cx="5348189" cy="1057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sz="1600" dirty="0">
                <a:latin typeface="微软雅黑" panose="020B0503020204020204" charset="-122"/>
                <a:cs typeface="微软雅黑" panose="020B0503020204020204" charset="-122"/>
              </a:rPr>
              <a:t>利用</a:t>
            </a:r>
            <a:r>
              <a:rPr lang="en-US" altLang="zh-CN" sz="160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600" dirty="0" err="1">
                <a:latin typeface="微软雅黑" panose="020B0503020204020204" charset="-122"/>
                <a:cs typeface="微软雅黑" panose="020B0503020204020204" charset="-122"/>
              </a:rPr>
              <a:t>S</a:t>
            </a:r>
            <a:r>
              <a:rPr lang="en-US" sz="1600" dirty="0" err="1">
                <a:latin typeface="微软雅黑" panose="020B0503020204020204" charset="-122"/>
                <a:cs typeface="微软雅黑" panose="020B0503020204020204" charset="-122"/>
              </a:rPr>
              <a:t>olidwork</a:t>
            </a:r>
            <a:r>
              <a:rPr lang="en-US" altLang="zh-CN" sz="1600" dirty="0" err="1">
                <a:latin typeface="微软雅黑" panose="020B0503020204020204" charset="-122"/>
                <a:cs typeface="微软雅黑" panose="020B0503020204020204" charset="-122"/>
              </a:rPr>
              <a:t>s</a:t>
            </a:r>
            <a:r>
              <a:rPr lang="en-US" altLang="zh-CN" sz="1600" dirty="0"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600" dirty="0">
                <a:latin typeface="微软雅黑" panose="020B0503020204020204" charset="-122"/>
                <a:cs typeface="微软雅黑" panose="020B0503020204020204" charset="-122"/>
              </a:rPr>
              <a:t>软件初步</a:t>
            </a:r>
            <a:r>
              <a:rPr lang="zh-CN" sz="1600" b="1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建模外壳</a:t>
            </a:r>
            <a:r>
              <a:rPr lang="zh-CN" sz="1600" dirty="0">
                <a:latin typeface="微软雅黑" panose="020B0503020204020204" charset="-122"/>
                <a:cs typeface="微软雅黑" panose="020B0503020204020204" charset="-122"/>
              </a:rPr>
              <a:t>，使其能够装载全套智能设备</a:t>
            </a:r>
            <a:endParaRPr lang="zh-CN" sz="16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sz="1600" dirty="0">
                <a:latin typeface="微软雅黑" panose="020B0503020204020204" charset="-122"/>
                <a:cs typeface="微软雅黑" panose="020B0503020204020204" charset="-122"/>
              </a:rPr>
              <a:t>外壳内嵌</a:t>
            </a:r>
            <a:r>
              <a:rPr lang="zh-CN" sz="1600" b="1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干燥装置</a:t>
            </a:r>
            <a:r>
              <a:rPr lang="zh-CN" sz="1600" dirty="0">
                <a:latin typeface="微软雅黑" panose="020B0503020204020204" charset="-122"/>
                <a:cs typeface="微软雅黑" panose="020B0503020204020204" charset="-122"/>
              </a:rPr>
              <a:t>，以防潮湿损坏机器</a:t>
            </a:r>
            <a:endParaRPr lang="zh-CN" sz="16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61877" y="3430674"/>
            <a:ext cx="5740995" cy="701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</a:rPr>
              <a:t>触发设计</a:t>
            </a:r>
            <a:r>
              <a:rPr lang="zh-CN" altLang="en-US" sz="1600" dirty="0">
                <a:latin typeface="微软雅黑" panose="020B0503020204020204" charset="-122"/>
              </a:rPr>
              <a:t>：当有污渍遮挡时才启动清洁程序</a:t>
            </a:r>
            <a:endParaRPr lang="zh-CN" altLang="en-US" sz="1600" dirty="0">
              <a:latin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charset="-122"/>
              </a:rPr>
              <a:t>采用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</a:rPr>
              <a:t>超声波高频振动清洁</a:t>
            </a:r>
            <a:r>
              <a:rPr lang="zh-CN" altLang="en-US" sz="1600" dirty="0">
                <a:latin typeface="微软雅黑" panose="020B0503020204020204" charset="-122"/>
              </a:rPr>
              <a:t>，搭配微型压电陶瓷超声波振子</a:t>
            </a:r>
            <a:endParaRPr lang="zh-CN" altLang="en-US" sz="1600" dirty="0">
              <a:latin typeface="微软雅黑" panose="020B0503020204020204" charset="-122"/>
            </a:endParaRPr>
          </a:p>
        </p:txBody>
      </p:sp>
      <p:sp>
        <p:nvSpPr>
          <p:cNvPr id="7" name="流程图: 终止 6"/>
          <p:cNvSpPr/>
          <p:nvPr/>
        </p:nvSpPr>
        <p:spPr>
          <a:xfrm>
            <a:off x="321092" y="2870394"/>
            <a:ext cx="2496048" cy="383898"/>
          </a:xfrm>
          <a:prstGeom prst="flowChartTerminator">
            <a:avLst/>
          </a:prstGeom>
          <a:solidFill>
            <a:srgbClr val="7E0C6E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/>
            <a:r>
              <a:rPr b="1" dirty="0" err="1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摄像头自动清洁模组</a:t>
            </a:r>
            <a:endParaRPr b="1" dirty="0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圆角矩形 12"/>
          <p:cNvSpPr/>
          <p:nvPr/>
        </p:nvSpPr>
        <p:spPr>
          <a:xfrm>
            <a:off x="6530616" y="3377263"/>
            <a:ext cx="5460178" cy="888106"/>
          </a:xfrm>
          <a:prstGeom prst="roundRect">
            <a:avLst/>
          </a:prstGeom>
          <a:solidFill>
            <a:schemeClr val="bg1">
              <a:alpha val="100000"/>
            </a:schemeClr>
          </a:solidFill>
          <a:ln w="0">
            <a:noFill/>
          </a:ln>
          <a:effectLst>
            <a:innerShdw blurRad="311404">
              <a:srgbClr val="000000">
                <a:alpha val="40000"/>
              </a:srgbClr>
            </a:innerShdw>
          </a:effectLst>
        </p:spPr>
        <p:txBody>
          <a:bodyPr anchor="ctr"/>
          <a:lstStyle/>
          <a:p>
            <a:pPr algn="ctr"/>
          </a:p>
        </p:txBody>
      </p:sp>
      <p:sp>
        <p:nvSpPr>
          <p:cNvPr id="33" name="圆角矩形 13"/>
          <p:cNvSpPr/>
          <p:nvPr/>
        </p:nvSpPr>
        <p:spPr>
          <a:xfrm>
            <a:off x="6530616" y="1539750"/>
            <a:ext cx="4799764" cy="1160189"/>
          </a:xfrm>
          <a:prstGeom prst="roundRect">
            <a:avLst/>
          </a:prstGeom>
          <a:solidFill>
            <a:schemeClr val="bg1">
              <a:alpha val="100000"/>
            </a:schemeClr>
          </a:solidFill>
          <a:ln w="0">
            <a:noFill/>
          </a:ln>
          <a:effectLst>
            <a:innerShdw blurRad="311404">
              <a:srgbClr val="000000">
                <a:alpha val="40000"/>
              </a:srgbClr>
            </a:innerShdw>
          </a:effectLst>
        </p:spPr>
        <p:txBody>
          <a:bodyPr anchor="ctr"/>
          <a:lstStyle/>
          <a:p>
            <a:pPr algn="ctr"/>
          </a:p>
        </p:txBody>
      </p:sp>
      <p:sp>
        <p:nvSpPr>
          <p:cNvPr id="34" name="文本框 33"/>
          <p:cNvSpPr txBox="1"/>
          <p:nvPr/>
        </p:nvSpPr>
        <p:spPr>
          <a:xfrm>
            <a:off x="6323956" y="1599051"/>
            <a:ext cx="4799764" cy="1021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2785" indent="-34290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rPr>
              <a:t>补光仅在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</a:rPr>
              <a:t>摄像头曝光时</a:t>
            </a:r>
            <a:r>
              <a:rPr lang="zh-CN" altLang="en-US" sz="1600" b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rPr>
              <a:t>发生频闪</a:t>
            </a:r>
            <a:endParaRPr lang="zh-CN" altLang="en-US" sz="1600" b="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</a:endParaRPr>
          </a:p>
          <a:p>
            <a:pPr marL="692785" indent="-34290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rPr>
              <a:t>红外光与白光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</a:rPr>
              <a:t>互补触发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charset="-122"/>
            </a:endParaRPr>
          </a:p>
          <a:p>
            <a:pPr marL="692785" indent="-34290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rPr>
              <a:t>增加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</a:rPr>
              <a:t>遮光隔栏</a:t>
            </a:r>
            <a:r>
              <a:rPr lang="zh-CN" altLang="en-US" sz="16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rPr>
              <a:t>以避免补光光线形成画面光晕</a:t>
            </a:r>
            <a:endParaRPr lang="zh-CN" altLang="en-US" sz="160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586785" y="3449177"/>
            <a:ext cx="5192014" cy="701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charset="-122"/>
                <a:cs typeface="微软雅黑" panose="020B0503020204020204" charset="-122"/>
              </a:rPr>
              <a:t>在水表读取数据前 </a:t>
            </a:r>
            <a:r>
              <a:rPr lang="en-US" altLang="zh-CN" sz="1600" dirty="0">
                <a:latin typeface="微软雅黑" panose="020B0503020204020204" charset="-122"/>
                <a:cs typeface="微软雅黑" panose="020B0503020204020204" charset="-122"/>
              </a:rPr>
              <a:t>30 </a:t>
            </a:r>
            <a:r>
              <a:rPr lang="zh-CN" altLang="en-US" sz="1600" dirty="0">
                <a:latin typeface="微软雅黑" panose="020B0503020204020204" charset="-122"/>
                <a:cs typeface="微软雅黑" panose="020B0503020204020204" charset="-122"/>
              </a:rPr>
              <a:t>秒启动温控，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cs typeface="微软雅黑" panose="020B0503020204020204" charset="-122"/>
              </a:rPr>
              <a:t>常态下断电</a:t>
            </a:r>
            <a:r>
              <a:rPr lang="zh-CN" altLang="en-US" sz="1600" dirty="0">
                <a:latin typeface="微软雅黑" panose="020B0503020204020204" charset="-122"/>
                <a:cs typeface="微软雅黑" panose="020B0503020204020204" charset="-122"/>
              </a:rPr>
              <a:t>休眠。</a:t>
            </a:r>
            <a:endParaRPr lang="zh-CN" altLang="en-US" sz="16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charset="-122"/>
                <a:cs typeface="微软雅黑" panose="020B0503020204020204" charset="-122"/>
              </a:rPr>
              <a:t>对核心板局部分区域进行温控保障。</a:t>
            </a:r>
            <a:endParaRPr lang="zh-CN" altLang="en-US" sz="16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流程图: 终止 35"/>
          <p:cNvSpPr/>
          <p:nvPr/>
        </p:nvSpPr>
        <p:spPr>
          <a:xfrm>
            <a:off x="6534176" y="1033632"/>
            <a:ext cx="1726932" cy="408506"/>
          </a:xfrm>
          <a:prstGeom prst="flowChartTerminator">
            <a:avLst/>
          </a:prstGeom>
          <a:solidFill>
            <a:srgbClr val="7E0C6E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/>
            <a:r>
              <a:rPr b="1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智</a:t>
            </a:r>
            <a:r>
              <a:rPr lang="zh-CN" b="1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能</a:t>
            </a:r>
            <a:r>
              <a:rPr b="1" dirty="0" err="1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补光</a:t>
            </a:r>
            <a:r>
              <a:rPr lang="zh-CN" b="1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模块</a:t>
            </a:r>
            <a:endParaRPr lang="zh-CN" b="1" dirty="0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流程图: 终止 36"/>
          <p:cNvSpPr/>
          <p:nvPr/>
        </p:nvSpPr>
        <p:spPr>
          <a:xfrm>
            <a:off x="6530616" y="2871145"/>
            <a:ext cx="2027456" cy="408506"/>
          </a:xfrm>
          <a:prstGeom prst="flowChartTerminator">
            <a:avLst/>
          </a:prstGeom>
          <a:solidFill>
            <a:srgbClr val="7E0C6E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pPr algn="ctr"/>
            <a:r>
              <a:rPr b="1" dirty="0" err="1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自适应温控系统</a:t>
            </a:r>
            <a:endParaRPr sz="2000" b="1" dirty="0">
              <a:solidFill>
                <a:schemeClr val="bg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09" y="4455416"/>
            <a:ext cx="1624730" cy="1297813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0" y="5760127"/>
            <a:ext cx="3581935" cy="380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latin typeface="微软雅黑" panose="020B0503020204020204" charset="-122"/>
              </a:rPr>
              <a:t>Solidworks</a:t>
            </a:r>
            <a:r>
              <a:rPr lang="zh-CN" altLang="en-US" sz="1600" b="1" dirty="0">
                <a:latin typeface="微软雅黑" panose="020B0503020204020204" charset="-122"/>
              </a:rPr>
              <a:t>覆盖专业模块广作为首选</a:t>
            </a:r>
            <a:endParaRPr lang="zh-CN" altLang="en-US" sz="1600" b="1" dirty="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652" y="4501680"/>
            <a:ext cx="1502471" cy="1163802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rcRect l="1524" t="44952" r="53714" b="18476"/>
          <a:stretch>
            <a:fillRect/>
          </a:stretch>
        </p:blipFill>
        <p:spPr>
          <a:xfrm>
            <a:off x="9423297" y="4501680"/>
            <a:ext cx="1549503" cy="1265976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6975104" y="5756428"/>
            <a:ext cx="4799764" cy="380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红外光进行主要补光，白光作为冗余设计进行补光</a:t>
            </a:r>
            <a:endParaRPr lang="zh-CN" altLang="en-US" sz="1600" b="1" dirty="0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6250" y="4501680"/>
            <a:ext cx="1852227" cy="1163802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3640318" y="5760127"/>
            <a:ext cx="3244089" cy="380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小型温控版仅对部分区域进行温控</a:t>
            </a:r>
            <a:endParaRPr lang="zh-CN" altLang="en-US" sz="16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7"/>
          <p:cNvSpPr/>
          <p:nvPr/>
        </p:nvSpPr>
        <p:spPr>
          <a:xfrm>
            <a:off x="204242" y="27176"/>
            <a:ext cx="1537132" cy="973467"/>
          </a:xfrm>
          <a:custGeom>
            <a:avLst/>
            <a:gdLst/>
            <a:ahLst/>
            <a:cxnLst/>
            <a:rect l="l" t="t" r="r" b="b"/>
            <a:pathLst>
              <a:path w="2305699" h="1460201">
                <a:moveTo>
                  <a:pt x="0" y="0"/>
                </a:moveTo>
                <a:lnTo>
                  <a:pt x="2305699" y="0"/>
                </a:lnTo>
                <a:lnTo>
                  <a:pt x="2305699" y="1460201"/>
                </a:lnTo>
                <a:lnTo>
                  <a:pt x="0" y="1460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/>
        </p:txBody>
      </p:sp>
      <p:grpSp>
        <p:nvGrpSpPr>
          <p:cNvPr id="22" name="组合 21"/>
          <p:cNvGrpSpPr/>
          <p:nvPr/>
        </p:nvGrpSpPr>
        <p:grpSpPr>
          <a:xfrm>
            <a:off x="7994039" y="625616"/>
            <a:ext cx="4197963" cy="234280"/>
            <a:chOff x="7798958" y="766360"/>
            <a:chExt cx="4410490" cy="456106"/>
          </a:xfrm>
        </p:grpSpPr>
        <p:sp>
          <p:nvSpPr>
            <p:cNvPr id="23" name="矩形 22"/>
            <p:cNvSpPr/>
            <p:nvPr/>
          </p:nvSpPr>
          <p:spPr>
            <a:xfrm>
              <a:off x="8050437" y="766360"/>
              <a:ext cx="4154904" cy="342011"/>
            </a:xfrm>
            <a:prstGeom prst="rect">
              <a:avLst/>
            </a:prstGeom>
            <a:solidFill>
              <a:srgbClr val="7E0C6E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直角三角形 23"/>
            <p:cNvSpPr/>
            <p:nvPr/>
          </p:nvSpPr>
          <p:spPr>
            <a:xfrm flipH="1" flipV="1">
              <a:off x="7801226" y="773282"/>
              <a:ext cx="261937" cy="349186"/>
            </a:xfrm>
            <a:prstGeom prst="rtTriangle">
              <a:avLst/>
            </a:prstGeom>
            <a:solidFill>
              <a:srgbClr val="7E0C6E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矩形 24"/>
            <p:cNvSpPr/>
            <p:nvPr/>
          </p:nvSpPr>
          <p:spPr>
            <a:xfrm>
              <a:off x="8054545" y="866360"/>
              <a:ext cx="4154904" cy="342011"/>
            </a:xfrm>
            <a:prstGeom prst="rect">
              <a:avLst/>
            </a:prstGeom>
            <a:solidFill>
              <a:srgbClr val="7E0C6E">
                <a:alpha val="5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直角三角形 25"/>
            <p:cNvSpPr/>
            <p:nvPr/>
          </p:nvSpPr>
          <p:spPr>
            <a:xfrm flipH="1" flipV="1">
              <a:off x="7798958" y="873282"/>
              <a:ext cx="261937" cy="349186"/>
            </a:xfrm>
            <a:prstGeom prst="rtTriangle">
              <a:avLst/>
            </a:prstGeom>
            <a:solidFill>
              <a:srgbClr val="7E0C6E">
                <a:alpha val="5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345372" y="6242946"/>
            <a:ext cx="4716900" cy="635680"/>
            <a:chOff x="7345372" y="6242946"/>
            <a:chExt cx="4716900" cy="635680"/>
          </a:xfrm>
        </p:grpSpPr>
        <p:cxnSp>
          <p:nvCxnSpPr>
            <p:cNvPr id="17" name="直接箭头连接符 26"/>
            <p:cNvCxnSpPr/>
            <p:nvPr/>
          </p:nvCxnSpPr>
          <p:spPr>
            <a:xfrm>
              <a:off x="7586172" y="6425169"/>
              <a:ext cx="4476100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28"/>
            <p:cNvCxnSpPr/>
            <p:nvPr/>
          </p:nvCxnSpPr>
          <p:spPr>
            <a:xfrm>
              <a:off x="7345372" y="6242946"/>
              <a:ext cx="4059228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 2"/>
            <p:cNvSpPr/>
            <p:nvPr/>
          </p:nvSpPr>
          <p:spPr>
            <a:xfrm>
              <a:off x="7671845" y="6425169"/>
              <a:ext cx="4304755" cy="45345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滴水智联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en-US" altLang="zh-CN" sz="2000" b="1" dirty="0" err="1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DripSmart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 Connect</a:t>
              </a:r>
              <a:endParaRPr lang="en-US" altLang="zh-CN" sz="2000" b="1" dirty="0">
                <a:ln w="0"/>
                <a:solidFill>
                  <a:srgbClr val="6B0261">
                    <a:alpha val="100000"/>
                  </a:srgbClr>
                </a:solidFill>
                <a:effectLst>
                  <a:reflection blurRad="6350" stA="55000" endA="50" endPos="31000" dist="29997" dir="5400000" sy="-100000" algn="bl" rotWithShape="0"/>
                </a:effectLst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9203055" y="-50800"/>
            <a:ext cx="2985135" cy="730885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7E0C6E">
                    <a:alpha val="100000"/>
                  </a:srgbClr>
                </a:solidFill>
                <a:latin typeface="微软雅黑" panose="020B0503020204020204" charset="-122"/>
                <a:cs typeface="+mn-ea"/>
              </a:rPr>
              <a:t>         </a:t>
            </a:r>
            <a:r>
              <a:rPr lang="zh-CN" sz="3200" b="1" dirty="0">
                <a:solidFill>
                  <a:srgbClr val="7E0C6E">
                    <a:alpha val="100000"/>
                  </a:srgbClr>
                </a:solidFill>
                <a:latin typeface="微软雅黑" panose="020B0503020204020204" charset="-122"/>
                <a:cs typeface="+mn-ea"/>
              </a:rPr>
              <a:t>图像识别</a:t>
            </a:r>
            <a:endParaRPr lang="zh-CN" sz="3200" b="1" dirty="0">
              <a:solidFill>
                <a:srgbClr val="7E0C6E">
                  <a:alpha val="100000"/>
                </a:srgbClr>
              </a:solidFill>
              <a:latin typeface="微软雅黑" panose="020B0503020204020204" charset="-122"/>
              <a:cs typeface="+mn-ea"/>
            </a:endParaRPr>
          </a:p>
        </p:txBody>
      </p:sp>
      <p:sp>
        <p:nvSpPr>
          <p:cNvPr id="7" name="圆角矩形 12"/>
          <p:cNvSpPr/>
          <p:nvPr/>
        </p:nvSpPr>
        <p:spPr>
          <a:xfrm>
            <a:off x="477929" y="4493872"/>
            <a:ext cx="4449178" cy="1833843"/>
          </a:xfrm>
          <a:prstGeom prst="roundRect">
            <a:avLst/>
          </a:prstGeom>
          <a:solidFill>
            <a:schemeClr val="bg1">
              <a:alpha val="100000"/>
            </a:schemeClr>
          </a:solidFill>
          <a:ln w="0">
            <a:noFill/>
          </a:ln>
          <a:effectLst>
            <a:innerShdw blurRad="311404">
              <a:srgbClr val="000000">
                <a:alpha val="40000"/>
              </a:srgbClr>
            </a:innerShdw>
          </a:effectLst>
        </p:spPr>
        <p:txBody>
          <a:bodyPr anchor="ctr"/>
          <a:lstStyle/>
          <a:p>
            <a:pPr algn="ctr"/>
          </a:p>
        </p:txBody>
      </p:sp>
      <p:sp>
        <p:nvSpPr>
          <p:cNvPr id="8" name="圆角矩形 13"/>
          <p:cNvSpPr/>
          <p:nvPr/>
        </p:nvSpPr>
        <p:spPr>
          <a:xfrm>
            <a:off x="426718" y="1811020"/>
            <a:ext cx="8397685" cy="1345861"/>
          </a:xfrm>
          <a:prstGeom prst="roundRect">
            <a:avLst/>
          </a:prstGeom>
          <a:solidFill>
            <a:schemeClr val="bg1">
              <a:alpha val="100000"/>
            </a:schemeClr>
          </a:solidFill>
          <a:ln w="0">
            <a:noFill/>
          </a:ln>
          <a:effectLst>
            <a:innerShdw blurRad="311404">
              <a:srgbClr val="000000">
                <a:alpha val="40000"/>
              </a:srgbClr>
            </a:innerShdw>
          </a:effectLst>
        </p:spPr>
        <p:txBody>
          <a:bodyPr anchor="ctr"/>
          <a:lstStyle/>
          <a:p>
            <a:pPr algn="ctr"/>
          </a:p>
        </p:txBody>
      </p:sp>
      <p:sp>
        <p:nvSpPr>
          <p:cNvPr id="11" name="流程图: 终止 10"/>
          <p:cNvSpPr/>
          <p:nvPr/>
        </p:nvSpPr>
        <p:spPr>
          <a:xfrm>
            <a:off x="431736" y="1109379"/>
            <a:ext cx="2438463" cy="521367"/>
          </a:xfrm>
          <a:prstGeom prst="flowChartTerminator">
            <a:avLst/>
          </a:prstGeom>
          <a:solidFill>
            <a:srgbClr val="7E0C6E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采用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ESP32-CAM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流程图: 终止 11"/>
          <p:cNvSpPr/>
          <p:nvPr/>
        </p:nvSpPr>
        <p:spPr>
          <a:xfrm>
            <a:off x="426720" y="3792230"/>
            <a:ext cx="2748280" cy="521367"/>
          </a:xfrm>
          <a:prstGeom prst="flowChartTerminator">
            <a:avLst/>
          </a:prstGeom>
          <a:solidFill>
            <a:srgbClr val="7E0C6E">
              <a:alpha val="100000"/>
            </a:srgbClr>
          </a:solidFill>
          <a:ln w="0">
            <a:noFill/>
          </a:ln>
        </p:spPr>
        <p:txBody>
          <a:bodyPr anchor="ctr"/>
          <a:lstStyle/>
          <a:p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树莓派边缘端的应用</a:t>
            </a:r>
            <a:endParaRPr lang="zh-CN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"/>
          <p:cNvSpPr txBox="1"/>
          <p:nvPr/>
        </p:nvSpPr>
        <p:spPr>
          <a:xfrm>
            <a:off x="503291" y="1841649"/>
            <a:ext cx="8232336" cy="125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集成了</a:t>
            </a:r>
            <a:r>
              <a:rPr lang="en-US" altLang="zh-CN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camera </a:t>
            </a:r>
            <a:r>
              <a:rPr lang="zh-CN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模块的开发板。</a:t>
            </a:r>
            <a:endParaRPr lang="zh-CN" sz="2000" dirty="0">
              <a:solidFill>
                <a:schemeClr val="tx1">
                  <a:alpha val="100000"/>
                </a:schemeClr>
              </a:solidFill>
              <a:effectLst/>
              <a:latin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可用</a:t>
            </a:r>
            <a:r>
              <a:rPr lang="en-US" altLang="zh-CN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2000" dirty="0" err="1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micropython</a:t>
            </a:r>
            <a:r>
              <a:rPr lang="en-US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操作，负责</a:t>
            </a:r>
            <a:r>
              <a:rPr lang="zh-CN" sz="2000" b="1" dirty="0">
                <a:solidFill>
                  <a:srgbClr val="C00000"/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图像采集</a:t>
            </a:r>
            <a:r>
              <a:rPr lang="zh-CN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sz="2000" b="1" dirty="0">
                <a:solidFill>
                  <a:srgbClr val="C00000"/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JPEG</a:t>
            </a:r>
            <a:r>
              <a:rPr lang="zh-CN" sz="2000" b="1" dirty="0">
                <a:solidFill>
                  <a:srgbClr val="C00000"/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压缩</a:t>
            </a:r>
            <a:r>
              <a:rPr lang="zh-CN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以及部分预处理。</a:t>
            </a:r>
            <a:endParaRPr lang="zh-CN" sz="2000" dirty="0">
              <a:solidFill>
                <a:schemeClr val="tx1">
                  <a:alpha val="100000"/>
                </a:schemeClr>
              </a:solidFill>
              <a:effectLst/>
              <a:latin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cs typeface="微软雅黑" panose="020B0503020204020204" charset="-122"/>
              </a:rPr>
              <a:t>进行数据采集，实时监控。</a:t>
            </a:r>
            <a:endParaRPr lang="zh-CN" sz="2000" dirty="0">
              <a:solidFill>
                <a:schemeClr val="tx1">
                  <a:alpha val="100000"/>
                </a:schemeClr>
              </a:solidFill>
              <a:effectLst/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"/>
          <p:cNvSpPr txBox="1"/>
          <p:nvPr/>
        </p:nvSpPr>
        <p:spPr>
          <a:xfrm>
            <a:off x="503291" y="4493873"/>
            <a:ext cx="4191724" cy="1653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微型计算机，类似小型电脑，可以</a:t>
            </a:r>
            <a:r>
              <a:rPr lang="zh-CN" sz="20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装载</a:t>
            </a:r>
            <a:r>
              <a:rPr lang="en-US" sz="2000" b="1" dirty="0">
                <a:solidFill>
                  <a:srgbClr val="C00000"/>
                </a:solidFill>
                <a:effectLst/>
                <a:latin typeface="Times New Roman" panose="02020603050405020304"/>
                <a:ea typeface="Times New Roman" panose="02020603050405020304"/>
              </a:rPr>
              <a:t>YOLOv11</a:t>
            </a:r>
            <a:r>
              <a:rPr lang="zh-CN" altLang="en-US" sz="2000" dirty="0">
                <a:solidFill>
                  <a:schemeClr val="tx1">
                    <a:alpha val="100000"/>
                  </a:schemeClr>
                </a:solidFill>
                <a:effectLst/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en-US" sz="2000" dirty="0">
              <a:solidFill>
                <a:schemeClr val="tx1">
                  <a:alpha val="100000"/>
                </a:schemeClr>
              </a:solidFill>
              <a:effectLst/>
              <a:latin typeface="Times New Roman" panose="02020603050405020304"/>
              <a:ea typeface="Times New Roman" panose="02020603050405020304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zh-CN" sz="20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接收并处理图像</a:t>
            </a:r>
            <a:r>
              <a:rPr lang="zh-CN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，其上搭载的</a:t>
            </a:r>
            <a:r>
              <a:rPr lang="en-US" sz="2000" dirty="0">
                <a:solidFill>
                  <a:schemeClr val="tx1">
                    <a:alpha val="100000"/>
                  </a:schemeClr>
                </a:solidFill>
                <a:effectLst/>
                <a:latin typeface="Times New Roman" panose="02020603050405020304"/>
                <a:ea typeface="Times New Roman" panose="02020603050405020304"/>
              </a:rPr>
              <a:t>YOLOv11</a:t>
            </a:r>
            <a:r>
              <a:rPr lang="zh-CN" sz="2000" dirty="0">
                <a:solidFill>
                  <a:schemeClr val="tx1">
                    <a:alpha val="10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rPr>
              <a:t>代码用来检测关键区域。</a:t>
            </a:r>
            <a:endParaRPr lang="zh-CN" sz="2000" dirty="0">
              <a:solidFill>
                <a:schemeClr val="tx1">
                  <a:alpha val="10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</p:txBody>
      </p:sp>
      <p:pic>
        <p:nvPicPr>
          <p:cNvPr id="35" name="图片 3" descr="电子仪器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646" y="1023847"/>
            <a:ext cx="2169954" cy="1974587"/>
          </a:xfrm>
          <a:prstGeom prst="rect">
            <a:avLst/>
          </a:prstGeom>
        </p:spPr>
      </p:pic>
      <p:graphicFrame>
        <p:nvGraphicFramePr>
          <p:cNvPr id="36" name="图示 35"/>
          <p:cNvGraphicFramePr/>
          <p:nvPr/>
        </p:nvGraphicFramePr>
        <p:xfrm>
          <a:off x="4859040" y="3451890"/>
          <a:ext cx="6269998" cy="431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7" name="图片 5" descr="卡通人物&#10;&#10;AI 生成的内容可能不正确。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6033" y="4054358"/>
            <a:ext cx="2428567" cy="177891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0"/>
          <a:srcRect l="30545" t="3665" r="1897" b="-3665"/>
          <a:stretch>
            <a:fillRect/>
          </a:stretch>
        </p:blipFill>
        <p:spPr>
          <a:xfrm>
            <a:off x="6190500" y="4176546"/>
            <a:ext cx="2428567" cy="158408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874342" y="2982904"/>
            <a:ext cx="2999361" cy="380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采用</a:t>
            </a:r>
            <a:r>
              <a:rPr lang="en-US" altLang="zh-CN" sz="1600" b="1" dirty="0"/>
              <a:t>ESP32-CAM</a:t>
            </a:r>
            <a:r>
              <a:rPr lang="zh-CN" altLang="en-US" sz="1600" b="1" dirty="0"/>
              <a:t>进行高清识别</a:t>
            </a:r>
            <a:endParaRPr lang="zh-CN" altLang="en-US" sz="16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160043" y="5833276"/>
            <a:ext cx="3818428" cy="380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树莓派搭载</a:t>
            </a:r>
            <a:r>
              <a:rPr lang="en-US" altLang="zh-CN" sz="1600" b="1" dirty="0"/>
              <a:t>YOLOv11</a:t>
            </a:r>
            <a:r>
              <a:rPr lang="zh-CN" altLang="en-US" sz="1600" b="1" dirty="0"/>
              <a:t>进行核心处理</a:t>
            </a:r>
            <a:endParaRPr lang="zh-CN" altLang="en-US" sz="1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7"/>
          <p:cNvSpPr/>
          <p:nvPr/>
        </p:nvSpPr>
        <p:spPr>
          <a:xfrm>
            <a:off x="204242" y="27176"/>
            <a:ext cx="1537132" cy="973467"/>
          </a:xfrm>
          <a:custGeom>
            <a:avLst/>
            <a:gdLst/>
            <a:ahLst/>
            <a:cxnLst/>
            <a:rect l="l" t="t" r="r" b="b"/>
            <a:pathLst>
              <a:path w="2305699" h="1460201">
                <a:moveTo>
                  <a:pt x="0" y="0"/>
                </a:moveTo>
                <a:lnTo>
                  <a:pt x="2305699" y="0"/>
                </a:lnTo>
                <a:lnTo>
                  <a:pt x="2305699" y="1460201"/>
                </a:lnTo>
                <a:lnTo>
                  <a:pt x="0" y="1460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/>
        </p:txBody>
      </p:sp>
      <p:grpSp>
        <p:nvGrpSpPr>
          <p:cNvPr id="22" name="组合 21"/>
          <p:cNvGrpSpPr/>
          <p:nvPr/>
        </p:nvGrpSpPr>
        <p:grpSpPr>
          <a:xfrm>
            <a:off x="7994039" y="625616"/>
            <a:ext cx="4197963" cy="234280"/>
            <a:chOff x="7798958" y="766360"/>
            <a:chExt cx="4410490" cy="456106"/>
          </a:xfrm>
        </p:grpSpPr>
        <p:sp>
          <p:nvSpPr>
            <p:cNvPr id="23" name="矩形 22"/>
            <p:cNvSpPr/>
            <p:nvPr/>
          </p:nvSpPr>
          <p:spPr>
            <a:xfrm>
              <a:off x="8050437" y="766360"/>
              <a:ext cx="4154904" cy="342011"/>
            </a:xfrm>
            <a:prstGeom prst="rect">
              <a:avLst/>
            </a:prstGeom>
            <a:solidFill>
              <a:srgbClr val="7E0C6E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直角三角形 23"/>
            <p:cNvSpPr/>
            <p:nvPr/>
          </p:nvSpPr>
          <p:spPr>
            <a:xfrm flipH="1" flipV="1">
              <a:off x="7801226" y="773282"/>
              <a:ext cx="261937" cy="349186"/>
            </a:xfrm>
            <a:prstGeom prst="rtTriangle">
              <a:avLst/>
            </a:prstGeom>
            <a:solidFill>
              <a:srgbClr val="7E0C6E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矩形 24"/>
            <p:cNvSpPr/>
            <p:nvPr/>
          </p:nvSpPr>
          <p:spPr>
            <a:xfrm>
              <a:off x="8054545" y="866360"/>
              <a:ext cx="4154904" cy="342011"/>
            </a:xfrm>
            <a:prstGeom prst="rect">
              <a:avLst/>
            </a:prstGeom>
            <a:solidFill>
              <a:srgbClr val="7E0C6E">
                <a:alpha val="5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直角三角形 25"/>
            <p:cNvSpPr/>
            <p:nvPr/>
          </p:nvSpPr>
          <p:spPr>
            <a:xfrm flipH="1" flipV="1">
              <a:off x="7798958" y="873282"/>
              <a:ext cx="261937" cy="349186"/>
            </a:xfrm>
            <a:prstGeom prst="rtTriangle">
              <a:avLst/>
            </a:prstGeom>
            <a:solidFill>
              <a:srgbClr val="7E0C6E">
                <a:alpha val="5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345372" y="6242946"/>
            <a:ext cx="4716900" cy="635680"/>
            <a:chOff x="7345372" y="6242946"/>
            <a:chExt cx="4716900" cy="635680"/>
          </a:xfrm>
        </p:grpSpPr>
        <p:cxnSp>
          <p:nvCxnSpPr>
            <p:cNvPr id="17" name="直接箭头连接符 26"/>
            <p:cNvCxnSpPr/>
            <p:nvPr/>
          </p:nvCxnSpPr>
          <p:spPr>
            <a:xfrm>
              <a:off x="7586172" y="6425169"/>
              <a:ext cx="4476100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28"/>
            <p:cNvCxnSpPr/>
            <p:nvPr/>
          </p:nvCxnSpPr>
          <p:spPr>
            <a:xfrm>
              <a:off x="7345372" y="6242946"/>
              <a:ext cx="4059228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 2"/>
            <p:cNvSpPr/>
            <p:nvPr/>
          </p:nvSpPr>
          <p:spPr>
            <a:xfrm>
              <a:off x="7671845" y="6425169"/>
              <a:ext cx="4304755" cy="45345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滴水智联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en-US" altLang="zh-CN" sz="2000" b="1" dirty="0" err="1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DripSmart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 Connect</a:t>
              </a:r>
              <a:endParaRPr lang="en-US" altLang="zh-CN" sz="2000" b="1" dirty="0">
                <a:ln w="0"/>
                <a:solidFill>
                  <a:srgbClr val="6B0261">
                    <a:alpha val="100000"/>
                  </a:srgbClr>
                </a:solidFill>
                <a:effectLst>
                  <a:reflection blurRad="6350" stA="55000" endA="50" endPos="31000" dist="29997" dir="5400000" sy="-100000" algn="bl" rotWithShape="0"/>
                </a:effectLst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314843" y="-32245"/>
            <a:ext cx="1873250" cy="730885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sz="3200" b="1" dirty="0">
                <a:solidFill>
                  <a:srgbClr val="7E0C6E">
                    <a:alpha val="100000"/>
                  </a:srgbClr>
                </a:solidFill>
                <a:latin typeface="微软雅黑" panose="020B0503020204020204" charset="-122"/>
              </a:rPr>
              <a:t>软件实现</a:t>
            </a:r>
            <a:endParaRPr lang="zh-CN" sz="3200" b="1" dirty="0">
              <a:solidFill>
                <a:srgbClr val="7E0C6E">
                  <a:alpha val="100000"/>
                </a:srgbClr>
              </a:solidFill>
              <a:latin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16585" y="1088602"/>
            <a:ext cx="7169585" cy="1104479"/>
            <a:chOff x="416585" y="1088602"/>
            <a:chExt cx="7169585" cy="1104479"/>
          </a:xfrm>
        </p:grpSpPr>
        <p:grpSp>
          <p:nvGrpSpPr>
            <p:cNvPr id="40" name="组合 39"/>
            <p:cNvGrpSpPr/>
            <p:nvPr/>
          </p:nvGrpSpPr>
          <p:grpSpPr>
            <a:xfrm>
              <a:off x="2159100" y="1088602"/>
              <a:ext cx="5427070" cy="1104479"/>
              <a:chOff x="2573931" y="1042119"/>
              <a:chExt cx="5289909" cy="905554"/>
            </a:xfrm>
          </p:grpSpPr>
          <p:sp>
            <p:nvSpPr>
              <p:cNvPr id="41" name="圆角矩形 13"/>
              <p:cNvSpPr/>
              <p:nvPr/>
            </p:nvSpPr>
            <p:spPr>
              <a:xfrm>
                <a:off x="2573931" y="1042119"/>
                <a:ext cx="5289909" cy="905554"/>
              </a:xfrm>
              <a:prstGeom prst="round2DiagRect">
                <a:avLst/>
              </a:prstGeom>
              <a:solidFill>
                <a:schemeClr val="bg1">
                  <a:alpha val="100000"/>
                </a:schemeClr>
              </a:solidFill>
              <a:ln w="0">
                <a:noFill/>
              </a:ln>
              <a:effectLst>
                <a:innerShdw blurRad="311404">
                  <a:srgbClr val="000000">
                    <a:alpha val="40000"/>
                  </a:srgbClr>
                </a:innerShdw>
              </a:effec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Rectangle 3"/>
              <p:cNvSpPr>
                <a:spLocks noChangeArrowheads="1"/>
              </p:cNvSpPr>
              <p:nvPr/>
            </p:nvSpPr>
            <p:spPr bwMode="auto">
              <a:xfrm>
                <a:off x="2824272" y="1167088"/>
                <a:ext cx="4905179" cy="6813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ctr" anchorCtr="0" compatLnSpc="1">
                <a:spAutoFit/>
              </a:bodyPr>
              <a:lstStyle/>
              <a:p>
                <a:pPr marR="0" lvl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用收集的各类场景水表图片加以指针标注作为数据集，</a:t>
                </a:r>
                <a:r>
                  <a:rPr kumimoji="0" lang="zh-CN" altLang="en-US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训练专属</a:t>
                </a:r>
                <a:r>
                  <a:rPr kumimoji="0" lang="en-US" altLang="zh-CN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YOLOv11</a:t>
                </a:r>
                <a:r>
                  <a:rPr kumimoji="0" lang="zh-CN" altLang="en-US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识别模型</a:t>
                </a: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，使精准锁定水表的指针和刻度</a:t>
                </a: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</a:rPr>
                  <a:t>。</a:t>
                </a:r>
                <a:endParaRPr kumimoji="0" lang="zh-CN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1" name="矩形: 圆角 10"/>
            <p:cNvSpPr/>
            <p:nvPr/>
          </p:nvSpPr>
          <p:spPr>
            <a:xfrm>
              <a:off x="416585" y="1379767"/>
              <a:ext cx="1819922" cy="568171"/>
            </a:xfrm>
            <a:prstGeom prst="round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模型训练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14242" y="2283396"/>
            <a:ext cx="7169585" cy="1104478"/>
            <a:chOff x="416585" y="2275334"/>
            <a:chExt cx="7169585" cy="1104478"/>
          </a:xfrm>
        </p:grpSpPr>
        <p:grpSp>
          <p:nvGrpSpPr>
            <p:cNvPr id="43" name="组合 42"/>
            <p:cNvGrpSpPr/>
            <p:nvPr/>
          </p:nvGrpSpPr>
          <p:grpSpPr>
            <a:xfrm>
              <a:off x="2159101" y="2275334"/>
              <a:ext cx="5427069" cy="1104478"/>
              <a:chOff x="2573931" y="1042119"/>
              <a:chExt cx="5289909" cy="905554"/>
            </a:xfrm>
          </p:grpSpPr>
          <p:sp>
            <p:nvSpPr>
              <p:cNvPr id="44" name="圆角矩形 13"/>
              <p:cNvSpPr/>
              <p:nvPr/>
            </p:nvSpPr>
            <p:spPr>
              <a:xfrm>
                <a:off x="2573931" y="1042119"/>
                <a:ext cx="5289909" cy="905554"/>
              </a:xfrm>
              <a:prstGeom prst="round2DiagRect">
                <a:avLst/>
              </a:prstGeom>
              <a:solidFill>
                <a:schemeClr val="bg1">
                  <a:alpha val="100000"/>
                </a:schemeClr>
              </a:solidFill>
              <a:ln w="0">
                <a:noFill/>
              </a:ln>
              <a:effectLst>
                <a:innerShdw blurRad="311404">
                  <a:srgbClr val="000000">
                    <a:alpha val="40000"/>
                  </a:srgbClr>
                </a:innerShdw>
              </a:effec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Rectangle 3"/>
              <p:cNvSpPr>
                <a:spLocks noChangeArrowheads="1"/>
              </p:cNvSpPr>
              <p:nvPr/>
            </p:nvSpPr>
            <p:spPr bwMode="auto">
              <a:xfrm>
                <a:off x="2824273" y="1165563"/>
                <a:ext cx="4829107" cy="681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ctr" anchorCtr="0" compatLnSpc="1">
                <a:spAutoFit/>
              </a:bodyPr>
              <a:lstStyle/>
              <a:p>
                <a:pPr marR="0" lvl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把模型识别到的指针位置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计算</a:t>
                </a:r>
                <a:r>
                  <a:rPr kumimoji="0" lang="zh-CN" altLang="en-US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为准确水表读数</a:t>
                </a:r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，可避免</a:t>
                </a: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指针临近刻度时，容易读错、跳数的常见问题。</a:t>
                </a:r>
                <a:endParaRPr kumimoji="0" lang="zh-CN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2" name="矩形: 圆角 11"/>
            <p:cNvSpPr/>
            <p:nvPr/>
          </p:nvSpPr>
          <p:spPr>
            <a:xfrm>
              <a:off x="416585" y="2476184"/>
              <a:ext cx="1819922" cy="568171"/>
            </a:xfrm>
            <a:prstGeom prst="round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算法开发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582" y="1088602"/>
            <a:ext cx="2321694" cy="1370114"/>
          </a:xfrm>
          <a:prstGeom prst="rect">
            <a:avLst/>
          </a:prstGeom>
          <a:ln w="12700">
            <a:solidFill>
              <a:srgbClr val="5C5C5C">
                <a:alpha val="100000"/>
              </a:srgbClr>
            </a:solidFill>
            <a:prstDash val="solid"/>
          </a:ln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067" y="3206346"/>
            <a:ext cx="2098530" cy="2023336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5"/>
          <a:srcRect l="17504" t="39594" r="19611"/>
          <a:stretch>
            <a:fillRect/>
          </a:stretch>
        </p:blipFill>
        <p:spPr>
          <a:xfrm>
            <a:off x="1119618" y="4626393"/>
            <a:ext cx="3275655" cy="1854854"/>
          </a:xfrm>
          <a:prstGeom prst="rect">
            <a:avLst/>
          </a:prstGeom>
        </p:spPr>
      </p:pic>
      <p:sp>
        <p:nvSpPr>
          <p:cNvPr id="56" name="文本框 55"/>
          <p:cNvSpPr txBox="1"/>
          <p:nvPr/>
        </p:nvSpPr>
        <p:spPr>
          <a:xfrm>
            <a:off x="7885185" y="2505521"/>
            <a:ext cx="3564483" cy="700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b="1" dirty="0"/>
              <a:t>水表表盘原始采集图像（</a:t>
            </a:r>
            <a:r>
              <a:rPr lang="en-US" altLang="zh-CN" sz="1600" b="1" dirty="0"/>
              <a:t>ESP32-CAM </a:t>
            </a:r>
            <a:r>
              <a:rPr lang="zh-CN" altLang="en-US" sz="1600" b="1" dirty="0"/>
              <a:t>实拍，基础成像素材）</a:t>
            </a:r>
            <a:endParaRPr lang="zh-CN" altLang="en-US" sz="1600" b="1" dirty="0"/>
          </a:p>
        </p:txBody>
      </p:sp>
      <p:sp>
        <p:nvSpPr>
          <p:cNvPr id="57" name="文本框 56"/>
          <p:cNvSpPr txBox="1"/>
          <p:nvPr/>
        </p:nvSpPr>
        <p:spPr>
          <a:xfrm>
            <a:off x="7805607" y="5191601"/>
            <a:ext cx="3679450" cy="700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/>
              <a:t>YOLOv11 </a:t>
            </a:r>
            <a:r>
              <a:rPr lang="zh-CN" altLang="en-US" sz="1600" b="1" dirty="0"/>
              <a:t>表盘识别效果实拍（标注指针</a:t>
            </a:r>
            <a:r>
              <a:rPr lang="en-US" altLang="zh-CN" sz="1600" b="1" dirty="0"/>
              <a:t>/</a:t>
            </a:r>
            <a:r>
              <a:rPr lang="zh-CN" altLang="en-US" sz="1600" b="1" dirty="0"/>
              <a:t>刻度关键检测区域）</a:t>
            </a:r>
            <a:endParaRPr lang="zh-CN" altLang="en-US" sz="1600" b="1" dirty="0"/>
          </a:p>
        </p:txBody>
      </p:sp>
      <p:sp>
        <p:nvSpPr>
          <p:cNvPr id="58" name="文本框 57"/>
          <p:cNvSpPr txBox="1"/>
          <p:nvPr/>
        </p:nvSpPr>
        <p:spPr>
          <a:xfrm>
            <a:off x="414242" y="6450014"/>
            <a:ext cx="6080914" cy="380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/>
              <a:t>YOLOv11 </a:t>
            </a:r>
            <a:r>
              <a:rPr lang="zh-CN" altLang="en-US" sz="1600" b="1" dirty="0"/>
              <a:t>模型训练参数配置界面（核心训练超参数设定）</a:t>
            </a:r>
            <a:endParaRPr lang="zh-CN" altLang="en-US" sz="1600" b="1" dirty="0"/>
          </a:p>
        </p:txBody>
      </p:sp>
      <p:grpSp>
        <p:nvGrpSpPr>
          <p:cNvPr id="7" name="组合 6"/>
          <p:cNvGrpSpPr/>
          <p:nvPr/>
        </p:nvGrpSpPr>
        <p:grpSpPr>
          <a:xfrm>
            <a:off x="386907" y="3478189"/>
            <a:ext cx="7196920" cy="1060477"/>
            <a:chOff x="402873" y="3485252"/>
            <a:chExt cx="7196920" cy="1060477"/>
          </a:xfrm>
        </p:grpSpPr>
        <p:grpSp>
          <p:nvGrpSpPr>
            <p:cNvPr id="46" name="组合 45"/>
            <p:cNvGrpSpPr/>
            <p:nvPr/>
          </p:nvGrpSpPr>
          <p:grpSpPr>
            <a:xfrm>
              <a:off x="2141343" y="3485252"/>
              <a:ext cx="5458450" cy="1060477"/>
              <a:chOff x="2573931" y="1042119"/>
              <a:chExt cx="5289909" cy="905554"/>
            </a:xfrm>
          </p:grpSpPr>
          <p:sp>
            <p:nvSpPr>
              <p:cNvPr id="47" name="圆角矩形 13"/>
              <p:cNvSpPr/>
              <p:nvPr/>
            </p:nvSpPr>
            <p:spPr>
              <a:xfrm>
                <a:off x="2573931" y="1042119"/>
                <a:ext cx="5289909" cy="905554"/>
              </a:xfrm>
              <a:prstGeom prst="round2DiagRect">
                <a:avLst/>
              </a:prstGeom>
              <a:solidFill>
                <a:schemeClr val="bg1">
                  <a:alpha val="100000"/>
                </a:schemeClr>
              </a:solidFill>
              <a:ln w="0">
                <a:noFill/>
              </a:ln>
              <a:effectLst>
                <a:innerShdw blurRad="311404">
                  <a:srgbClr val="000000">
                    <a:alpha val="40000"/>
                  </a:srgbClr>
                </a:innerShdw>
              </a:effec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Rectangle 3"/>
              <p:cNvSpPr>
                <a:spLocks noChangeArrowheads="1"/>
              </p:cNvSpPr>
              <p:nvPr/>
            </p:nvSpPr>
            <p:spPr bwMode="auto">
              <a:xfrm>
                <a:off x="2816895" y="1281548"/>
                <a:ext cx="4882918" cy="4730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ctr" anchorCtr="0" compatLnSpc="1">
                <a:spAutoFit/>
              </a:bodyPr>
              <a:lstStyle/>
              <a:p>
                <a:pPr marR="0" lvl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</a:pPr>
                <a:r>
                  <a:rPr lang="zh-CN" altLang="en-US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将</a:t>
                </a: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读数传到云端后台，网络不好可</a:t>
                </a:r>
                <a:r>
                  <a:rPr kumimoji="0" lang="zh-CN" altLang="en-US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断点续传</a:t>
                </a: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，</a:t>
                </a:r>
                <a:r>
                  <a:rPr kumimoji="0" lang="zh-CN" altLang="en-US" b="1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不丢数据</a:t>
                </a: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微软雅黑" panose="020B0503020204020204" charset="-122"/>
                    <a:ea typeface="微软雅黑" panose="020B0503020204020204" charset="-122"/>
                  </a:rPr>
                  <a:t>，控制功耗。</a:t>
                </a:r>
                <a:endParaRPr kumimoji="0" lang="zh-CN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5" name="矩形: 圆角 14"/>
            <p:cNvSpPr/>
            <p:nvPr/>
          </p:nvSpPr>
          <p:spPr>
            <a:xfrm>
              <a:off x="402873" y="3732047"/>
              <a:ext cx="1819922" cy="568171"/>
            </a:xfrm>
            <a:prstGeom prst="roundRect">
              <a:avLst/>
            </a:prstGeom>
            <a:solidFill>
              <a:srgbClr val="7E0C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云端上传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7"/>
          <p:cNvSpPr/>
          <p:nvPr/>
        </p:nvSpPr>
        <p:spPr>
          <a:xfrm>
            <a:off x="204242" y="27176"/>
            <a:ext cx="1537132" cy="973467"/>
          </a:xfrm>
          <a:custGeom>
            <a:avLst/>
            <a:gdLst/>
            <a:ahLst/>
            <a:cxnLst/>
            <a:rect l="l" t="t" r="r" b="b"/>
            <a:pathLst>
              <a:path w="2305699" h="1460201">
                <a:moveTo>
                  <a:pt x="0" y="0"/>
                </a:moveTo>
                <a:lnTo>
                  <a:pt x="2305699" y="0"/>
                </a:lnTo>
                <a:lnTo>
                  <a:pt x="2305699" y="1460201"/>
                </a:lnTo>
                <a:lnTo>
                  <a:pt x="0" y="1460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/>
        </p:txBody>
      </p:sp>
      <p:grpSp>
        <p:nvGrpSpPr>
          <p:cNvPr id="22" name="组合 21"/>
          <p:cNvGrpSpPr/>
          <p:nvPr/>
        </p:nvGrpSpPr>
        <p:grpSpPr>
          <a:xfrm>
            <a:off x="7994039" y="625616"/>
            <a:ext cx="4197963" cy="234280"/>
            <a:chOff x="7798958" y="766360"/>
            <a:chExt cx="4410490" cy="456106"/>
          </a:xfrm>
        </p:grpSpPr>
        <p:sp>
          <p:nvSpPr>
            <p:cNvPr id="23" name="矩形 22"/>
            <p:cNvSpPr/>
            <p:nvPr/>
          </p:nvSpPr>
          <p:spPr>
            <a:xfrm>
              <a:off x="8050437" y="766360"/>
              <a:ext cx="4154904" cy="342011"/>
            </a:xfrm>
            <a:prstGeom prst="rect">
              <a:avLst/>
            </a:prstGeom>
            <a:solidFill>
              <a:srgbClr val="7E0C6E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直角三角形 23"/>
            <p:cNvSpPr/>
            <p:nvPr/>
          </p:nvSpPr>
          <p:spPr>
            <a:xfrm flipH="1" flipV="1">
              <a:off x="7801226" y="773282"/>
              <a:ext cx="261937" cy="349186"/>
            </a:xfrm>
            <a:prstGeom prst="rtTriangle">
              <a:avLst/>
            </a:prstGeom>
            <a:solidFill>
              <a:srgbClr val="7E0C6E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矩形 24"/>
            <p:cNvSpPr/>
            <p:nvPr/>
          </p:nvSpPr>
          <p:spPr>
            <a:xfrm>
              <a:off x="8054545" y="866360"/>
              <a:ext cx="4154904" cy="342011"/>
            </a:xfrm>
            <a:prstGeom prst="rect">
              <a:avLst/>
            </a:prstGeom>
            <a:solidFill>
              <a:srgbClr val="7E0C6E">
                <a:alpha val="5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直角三角形 25"/>
            <p:cNvSpPr/>
            <p:nvPr/>
          </p:nvSpPr>
          <p:spPr>
            <a:xfrm flipH="1" flipV="1">
              <a:off x="7798958" y="873282"/>
              <a:ext cx="261937" cy="349186"/>
            </a:xfrm>
            <a:prstGeom prst="rtTriangle">
              <a:avLst/>
            </a:prstGeom>
            <a:solidFill>
              <a:srgbClr val="7E0C6E">
                <a:alpha val="5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6" name="组合 5"/>
          <p:cNvGrpSpPr>
            <a:grpSpLocks noGrp="1" noRot="1" noMove="1" noResize="1" noUngrp="1"/>
          </p:cNvGrpSpPr>
          <p:nvPr/>
        </p:nvGrpSpPr>
        <p:grpSpPr>
          <a:xfrm>
            <a:off x="7345372" y="6242946"/>
            <a:ext cx="4716900" cy="635680"/>
            <a:chOff x="7345372" y="6242946"/>
            <a:chExt cx="4716900" cy="635680"/>
          </a:xfrm>
        </p:grpSpPr>
        <p:cxnSp>
          <p:nvCxnSpPr>
            <p:cNvPr id="17" name="直接箭头连接符 26"/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586172" y="6425169"/>
              <a:ext cx="4476100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28"/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345372" y="6242946"/>
              <a:ext cx="4059228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 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71845" y="6425169"/>
              <a:ext cx="4304755" cy="45345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滴水智联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en-US" altLang="zh-CN" sz="2000" b="1" dirty="0" err="1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DripSmart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 Connect</a:t>
              </a:r>
              <a:endParaRPr lang="en-US" altLang="zh-CN" sz="2000" b="1" dirty="0">
                <a:ln w="0"/>
                <a:solidFill>
                  <a:srgbClr val="6B0261">
                    <a:alpha val="100000"/>
                  </a:srgbClr>
                </a:solidFill>
                <a:effectLst>
                  <a:reflection blurRad="6350" stA="55000" endA="50" endPos="31000" dist="29997" dir="5400000" sy="-100000" algn="bl" rotWithShape="0"/>
                </a:effectLst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" name="文本占位符 5"/>
          <p:cNvSpPr txBox="1"/>
          <p:nvPr/>
        </p:nvSpPr>
        <p:spPr>
          <a:xfrm>
            <a:off x="10272909" y="67125"/>
            <a:ext cx="1898878" cy="6127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dirty="0">
                <a:solidFill>
                  <a:srgbClr val="6B0261"/>
                </a:solidFill>
              </a:rPr>
              <a:t>云端平台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6B026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9" name="图片 18" descr="日程表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6"/>
          <a:stretch>
            <a:fillRect/>
          </a:stretch>
        </p:blipFill>
        <p:spPr>
          <a:xfrm>
            <a:off x="120352" y="1587796"/>
            <a:ext cx="8148128" cy="3068384"/>
          </a:xfrm>
          <a:prstGeom prst="rect">
            <a:avLst/>
          </a:prstGeom>
        </p:spPr>
      </p:pic>
      <p:sp>
        <p:nvSpPr>
          <p:cNvPr id="30" name="CustomText"/>
          <p:cNvSpPr/>
          <p:nvPr>
            <p:custDataLst>
              <p:tags r:id="rId4"/>
            </p:custDataLst>
          </p:nvPr>
        </p:nvSpPr>
        <p:spPr>
          <a:xfrm>
            <a:off x="1216653" y="5429712"/>
            <a:ext cx="1207673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数据接入</a:t>
            </a:r>
            <a:endParaRPr lang="en-US" altLang="zh-CN" b="1" kern="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ValueBack1"/>
          <p:cNvSpPr/>
          <p:nvPr>
            <p:custDataLst>
              <p:tags r:id="rId5"/>
            </p:custDataLst>
          </p:nvPr>
        </p:nvSpPr>
        <p:spPr>
          <a:xfrm>
            <a:off x="1613250" y="5200679"/>
            <a:ext cx="217356" cy="225299"/>
          </a:xfrm>
          <a:prstGeom prst="ellipse">
            <a:avLst/>
          </a:prstGeom>
          <a:solidFill>
            <a:srgbClr val="6B02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kern="0" dirty="0">
              <a:solidFill>
                <a:prstClr val="white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sp>
        <p:nvSpPr>
          <p:cNvPr id="32" name="ValueBack2"/>
          <p:cNvSpPr/>
          <p:nvPr>
            <p:custDataLst>
              <p:tags r:id="rId6"/>
            </p:custDataLst>
          </p:nvPr>
        </p:nvSpPr>
        <p:spPr>
          <a:xfrm>
            <a:off x="3290568" y="5200679"/>
            <a:ext cx="217356" cy="225299"/>
          </a:xfrm>
          <a:prstGeom prst="ellipse">
            <a:avLst/>
          </a:prstGeom>
          <a:solidFill>
            <a:srgbClr val="6B02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kern="0" dirty="0">
              <a:solidFill>
                <a:prstClr val="white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sp>
        <p:nvSpPr>
          <p:cNvPr id="33" name="ValueBack3"/>
          <p:cNvSpPr/>
          <p:nvPr>
            <p:custDataLst>
              <p:tags r:id="rId7"/>
            </p:custDataLst>
          </p:nvPr>
        </p:nvSpPr>
        <p:spPr>
          <a:xfrm>
            <a:off x="4967887" y="5200679"/>
            <a:ext cx="217356" cy="225299"/>
          </a:xfrm>
          <a:prstGeom prst="ellipse">
            <a:avLst/>
          </a:prstGeom>
          <a:solidFill>
            <a:srgbClr val="6B02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kern="0" dirty="0">
              <a:solidFill>
                <a:prstClr val="white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sp>
        <p:nvSpPr>
          <p:cNvPr id="34" name="ValueBack4"/>
          <p:cNvSpPr/>
          <p:nvPr>
            <p:custDataLst>
              <p:tags r:id="rId8"/>
            </p:custDataLst>
          </p:nvPr>
        </p:nvSpPr>
        <p:spPr>
          <a:xfrm>
            <a:off x="6643326" y="5200679"/>
            <a:ext cx="217356" cy="225299"/>
          </a:xfrm>
          <a:prstGeom prst="ellipse">
            <a:avLst/>
          </a:prstGeom>
          <a:solidFill>
            <a:srgbClr val="6B026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kern="0" dirty="0">
              <a:solidFill>
                <a:prstClr val="white"/>
              </a:solidFill>
              <a:latin typeface="Arial" panose="020B0604020202020204"/>
              <a:ea typeface="微软雅黑 Light" panose="020B0502040204020203" pitchFamily="34" charset="-122"/>
            </a:endParaRPr>
          </a:p>
        </p:txBody>
      </p:sp>
      <p:cxnSp>
        <p:nvCxnSpPr>
          <p:cNvPr id="39" name="line1"/>
          <p:cNvCxnSpPr/>
          <p:nvPr/>
        </p:nvCxnSpPr>
        <p:spPr>
          <a:xfrm>
            <a:off x="573363" y="5313329"/>
            <a:ext cx="933087" cy="0"/>
          </a:xfrm>
          <a:prstGeom prst="straightConnector1">
            <a:avLst/>
          </a:prstGeom>
          <a:noFill/>
          <a:ln w="98425" cap="rnd" cmpd="sng" algn="ctr">
            <a:solidFill>
              <a:srgbClr val="6B0261"/>
            </a:solidFill>
            <a:prstDash val="solid"/>
            <a:round/>
            <a:tailEnd type="none"/>
          </a:ln>
          <a:effectLst/>
        </p:spPr>
      </p:cxnSp>
      <p:cxnSp>
        <p:nvCxnSpPr>
          <p:cNvPr id="40" name="line2"/>
          <p:cNvCxnSpPr/>
          <p:nvPr>
            <p:custDataLst>
              <p:tags r:id="rId9"/>
            </p:custDataLst>
          </p:nvPr>
        </p:nvCxnSpPr>
        <p:spPr>
          <a:xfrm>
            <a:off x="1981568" y="5313329"/>
            <a:ext cx="1239253" cy="0"/>
          </a:xfrm>
          <a:prstGeom prst="straightConnector1">
            <a:avLst/>
          </a:prstGeom>
          <a:noFill/>
          <a:ln w="98425" cap="rnd" cmpd="sng" algn="ctr">
            <a:solidFill>
              <a:srgbClr val="6B0261"/>
            </a:solidFill>
            <a:prstDash val="solid"/>
            <a:round/>
            <a:tailEnd type="triangle"/>
          </a:ln>
          <a:effectLst/>
        </p:spPr>
      </p:cxnSp>
      <p:cxnSp>
        <p:nvCxnSpPr>
          <p:cNvPr id="41" name="line3"/>
          <p:cNvCxnSpPr/>
          <p:nvPr>
            <p:custDataLst>
              <p:tags r:id="rId10"/>
            </p:custDataLst>
          </p:nvPr>
        </p:nvCxnSpPr>
        <p:spPr>
          <a:xfrm>
            <a:off x="3658886" y="5313329"/>
            <a:ext cx="1239253" cy="0"/>
          </a:xfrm>
          <a:prstGeom prst="straightConnector1">
            <a:avLst/>
          </a:prstGeom>
          <a:noFill/>
          <a:ln w="98425" cap="rnd" cmpd="sng" algn="ctr">
            <a:solidFill>
              <a:srgbClr val="6B0261"/>
            </a:solidFill>
            <a:prstDash val="solid"/>
            <a:round/>
            <a:tailEnd type="triangle"/>
          </a:ln>
          <a:effectLst/>
        </p:spPr>
      </p:cxnSp>
      <p:cxnSp>
        <p:nvCxnSpPr>
          <p:cNvPr id="42" name="line4"/>
          <p:cNvCxnSpPr/>
          <p:nvPr>
            <p:custDataLst>
              <p:tags r:id="rId11"/>
            </p:custDataLst>
          </p:nvPr>
        </p:nvCxnSpPr>
        <p:spPr>
          <a:xfrm>
            <a:off x="5334326" y="5313329"/>
            <a:ext cx="1239253" cy="0"/>
          </a:xfrm>
          <a:prstGeom prst="straightConnector1">
            <a:avLst/>
          </a:prstGeom>
          <a:noFill/>
          <a:ln w="98425" cap="rnd" cmpd="sng" algn="ctr">
            <a:solidFill>
              <a:srgbClr val="6B0261"/>
            </a:solidFill>
            <a:prstDash val="solid"/>
            <a:round/>
            <a:tailEnd type="triangle"/>
          </a:ln>
          <a:effectLst/>
        </p:spPr>
      </p:cxnSp>
      <p:cxnSp>
        <p:nvCxnSpPr>
          <p:cNvPr id="43" name="line4"/>
          <p:cNvCxnSpPr/>
          <p:nvPr>
            <p:custDataLst>
              <p:tags r:id="rId12"/>
            </p:custDataLst>
          </p:nvPr>
        </p:nvCxnSpPr>
        <p:spPr>
          <a:xfrm flipH="1">
            <a:off x="6967482" y="5313329"/>
            <a:ext cx="913574" cy="0"/>
          </a:xfrm>
          <a:prstGeom prst="straightConnector1">
            <a:avLst/>
          </a:prstGeom>
          <a:noFill/>
          <a:ln w="98425" cap="rnd" cmpd="sng" algn="ctr">
            <a:solidFill>
              <a:srgbClr val="6B0261"/>
            </a:solidFill>
            <a:prstDash val="solid"/>
            <a:round/>
            <a:tailEnd type="none"/>
          </a:ln>
          <a:effectLst/>
        </p:spPr>
      </p:cxnSp>
      <p:sp>
        <p:nvSpPr>
          <p:cNvPr id="44" name="CustomText"/>
          <p:cNvSpPr/>
          <p:nvPr>
            <p:custDataLst>
              <p:tags r:id="rId13"/>
            </p:custDataLst>
          </p:nvPr>
        </p:nvSpPr>
        <p:spPr>
          <a:xfrm>
            <a:off x="2871387" y="5431717"/>
            <a:ext cx="1112565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数据处理</a:t>
            </a:r>
            <a:endParaRPr lang="en-US" altLang="zh-CN" b="1" kern="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CustomText"/>
          <p:cNvSpPr/>
          <p:nvPr>
            <p:custDataLst>
              <p:tags r:id="rId14"/>
            </p:custDataLst>
          </p:nvPr>
        </p:nvSpPr>
        <p:spPr>
          <a:xfrm>
            <a:off x="4533297" y="5431716"/>
            <a:ext cx="1112565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数据存储</a:t>
            </a:r>
            <a:endParaRPr lang="en-US" altLang="zh-CN" b="1" kern="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CustomText"/>
          <p:cNvSpPr/>
          <p:nvPr>
            <p:custDataLst>
              <p:tags r:id="rId15"/>
            </p:custDataLst>
          </p:nvPr>
        </p:nvSpPr>
        <p:spPr>
          <a:xfrm>
            <a:off x="6125093" y="5433633"/>
            <a:ext cx="1497208" cy="41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数据可视化</a:t>
            </a:r>
            <a:endParaRPr lang="en-US" altLang="zh-CN" b="1" kern="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648660" y="1386250"/>
            <a:ext cx="3328395" cy="3932506"/>
            <a:chOff x="8455713" y="1386250"/>
            <a:chExt cx="3328395" cy="3932506"/>
          </a:xfrm>
        </p:grpSpPr>
        <p:grpSp>
          <p:nvGrpSpPr>
            <p:cNvPr id="13" name="组合 12"/>
            <p:cNvGrpSpPr/>
            <p:nvPr/>
          </p:nvGrpSpPr>
          <p:grpSpPr>
            <a:xfrm>
              <a:off x="8455713" y="1386250"/>
              <a:ext cx="3328395" cy="1774507"/>
              <a:chOff x="10092966" y="1833323"/>
              <a:chExt cx="3328395" cy="1774507"/>
            </a:xfrm>
          </p:grpSpPr>
          <p:sp>
            <p:nvSpPr>
              <p:cNvPr id="8" name="圆角矩形 13"/>
              <p:cNvSpPr/>
              <p:nvPr/>
            </p:nvSpPr>
            <p:spPr>
              <a:xfrm>
                <a:off x="10121963" y="2206127"/>
                <a:ext cx="3299398" cy="1401703"/>
              </a:xfrm>
              <a:prstGeom prst="roundRect">
                <a:avLst/>
              </a:prstGeom>
              <a:solidFill>
                <a:schemeClr val="bg1">
                  <a:alpha val="100000"/>
                </a:schemeClr>
              </a:solidFill>
              <a:ln w="0">
                <a:noFill/>
              </a:ln>
              <a:effectLst>
                <a:innerShdw blurRad="311404">
                  <a:srgbClr val="000000">
                    <a:alpha val="40000"/>
                  </a:srgbClr>
                </a:innerShdw>
              </a:effectLst>
            </p:spPr>
            <p:txBody>
              <a:bodyPr anchor="ctr"/>
              <a:lstStyle/>
              <a:p>
                <a:pPr algn="ctr"/>
                <a:endParaRPr sz="1600"/>
              </a:p>
            </p:txBody>
          </p:sp>
          <p:sp>
            <p:nvSpPr>
              <p:cNvPr id="9" name="流程图: 终止 8"/>
              <p:cNvSpPr/>
              <p:nvPr/>
            </p:nvSpPr>
            <p:spPr>
              <a:xfrm>
                <a:off x="10119911" y="1833323"/>
                <a:ext cx="1640873" cy="406317"/>
              </a:xfrm>
              <a:prstGeom prst="flowChartTerminator">
                <a:avLst/>
              </a:prstGeom>
              <a:solidFill>
                <a:srgbClr val="7E0C6E">
                  <a:alpha val="100000"/>
                </a:srgb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effectLst/>
                  </a:rPr>
                  <a:t>预警功能</a:t>
                </a:r>
                <a:endParaRPr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0092966" y="2205359"/>
                <a:ext cx="3196314" cy="13410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effectLst/>
                  </a:rPr>
                  <a:t>通过对水表数据的分析，实现对用户</a:t>
                </a:r>
                <a:r>
                  <a:rPr lang="zh-CN" altLang="en-US" sz="1600" b="1" dirty="0">
                    <a:solidFill>
                      <a:srgbClr val="C00000"/>
                    </a:solidFill>
                    <a:effectLst/>
                  </a:rPr>
                  <a:t>用水习惯的跟踪</a:t>
                </a:r>
                <a:endParaRPr lang="en-US" altLang="zh-CN" sz="1600" b="1" dirty="0">
                  <a:solidFill>
                    <a:srgbClr val="C00000"/>
                  </a:solidFill>
                  <a:effectLst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effectLst/>
                  </a:rPr>
                  <a:t>在出现异常用水情况时</a:t>
                </a:r>
                <a:r>
                  <a:rPr lang="zh-CN" altLang="en-US" sz="1600" dirty="0"/>
                  <a:t>，通过 </a:t>
                </a:r>
                <a:r>
                  <a:rPr lang="en-US" altLang="zh-CN" sz="1600" dirty="0"/>
                  <a:t>API </a:t>
                </a:r>
                <a:r>
                  <a:rPr lang="zh-CN" altLang="en-US" sz="1600" dirty="0"/>
                  <a:t>向 </a:t>
                </a:r>
                <a:r>
                  <a:rPr lang="en-US" altLang="zh-CN" sz="1600" dirty="0"/>
                  <a:t>Web </a:t>
                </a:r>
                <a:r>
                  <a:rPr lang="zh-CN" altLang="en-US" sz="1600" dirty="0"/>
                  <a:t>端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发送预警信息</a:t>
                </a:r>
                <a:endParaRPr lang="zh-CN" sz="1600" dirty="0">
                  <a:latin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8455713" y="3536655"/>
              <a:ext cx="3315526" cy="1782101"/>
              <a:chOff x="10103783" y="3525316"/>
              <a:chExt cx="3315526" cy="1782101"/>
            </a:xfrm>
          </p:grpSpPr>
          <p:sp>
            <p:nvSpPr>
              <p:cNvPr id="7" name="圆角矩形 12"/>
              <p:cNvSpPr/>
              <p:nvPr/>
            </p:nvSpPr>
            <p:spPr>
              <a:xfrm>
                <a:off x="10119911" y="3847817"/>
                <a:ext cx="3299398" cy="1459600"/>
              </a:xfrm>
              <a:prstGeom prst="roundRect">
                <a:avLst/>
              </a:prstGeom>
              <a:solidFill>
                <a:schemeClr val="bg1">
                  <a:alpha val="100000"/>
                </a:schemeClr>
              </a:solidFill>
              <a:ln w="0">
                <a:noFill/>
              </a:ln>
              <a:effectLst>
                <a:innerShdw blurRad="311404">
                  <a:srgbClr val="000000">
                    <a:alpha val="40000"/>
                  </a:srgbClr>
                </a:innerShdw>
              </a:effectLst>
            </p:spPr>
            <p:txBody>
              <a:bodyPr anchor="ctr"/>
              <a:lstStyle/>
              <a:p>
                <a:pPr algn="ctr"/>
                <a:endParaRPr sz="1600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0103783" y="3909215"/>
                <a:ext cx="3185498" cy="13410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以时序拟合与趋势分析数据，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构建用水高峰预测模型</a:t>
                </a:r>
                <a:endParaRPr lang="en-US" altLang="zh-CN" sz="1600" b="1" dirty="0">
                  <a:solidFill>
                    <a:srgbClr val="C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输出</a:t>
                </a:r>
                <a:r>
                  <a:rPr lang="zh-CN" altLang="en-US" sz="1600" b="1" dirty="0">
                    <a:solidFill>
                      <a:srgbClr val="C00000"/>
                    </a:solidFill>
                  </a:rPr>
                  <a:t>用水报告</a:t>
                </a:r>
                <a:r>
                  <a:rPr lang="zh-CN" altLang="en-US" sz="1600" dirty="0"/>
                  <a:t>，</a:t>
                </a:r>
                <a:r>
                  <a:rPr lang="zh-CN" altLang="en-US" sz="1600" dirty="0">
                    <a:effectLst/>
                  </a:rPr>
                  <a:t>为上级部门提供建议，满足峰值用水需求</a:t>
                </a:r>
                <a:endParaRPr lang="zh-CN" altLang="en-US" sz="1600" dirty="0">
                  <a:effectLst/>
                </a:endParaRPr>
              </a:p>
            </p:txBody>
          </p:sp>
          <p:sp>
            <p:nvSpPr>
              <p:cNvPr id="12" name="流程图: 终止 11"/>
              <p:cNvSpPr/>
              <p:nvPr/>
            </p:nvSpPr>
            <p:spPr>
              <a:xfrm>
                <a:off x="10103783" y="3525316"/>
                <a:ext cx="1634340" cy="383898"/>
              </a:xfrm>
              <a:prstGeom prst="flowChartTerminator">
                <a:avLst/>
              </a:prstGeom>
              <a:solidFill>
                <a:srgbClr val="7E0C6E">
                  <a:alpha val="100000"/>
                </a:srgbClr>
              </a:solidFill>
              <a:ln w="0">
                <a:noFill/>
              </a:ln>
            </p:spPr>
            <p:txBody>
              <a:bodyPr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</a:rPr>
                  <a:t>智能</a:t>
                </a:r>
                <a:r>
                  <a:rPr lang="zh-CN" altLang="en-US" b="1" dirty="0">
                    <a:solidFill>
                      <a:schemeClr val="bg1"/>
                    </a:solidFill>
                    <a:effectLst/>
                  </a:rPr>
                  <a:t>预判</a:t>
                </a:r>
                <a:endParaRPr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6" name="矩形 15"/>
          <p:cNvSpPr/>
          <p:nvPr/>
        </p:nvSpPr>
        <p:spPr>
          <a:xfrm>
            <a:off x="481084" y="3761264"/>
            <a:ext cx="1531447" cy="720000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defRPr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对数据</a:t>
            </a:r>
            <a:r>
              <a:rPr lang="zh-CN" altLang="en-US"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解析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异常判断与规则计算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，保障数据有效可信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284405" y="1105111"/>
            <a:ext cx="2262480" cy="540000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IoT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zh-CN" altLang="en-US"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加密存储数据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、设备状态与历史日志，支持长期追溯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 Light" panose="020B0502040204020203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723799" y="3226427"/>
            <a:ext cx="1665380" cy="792000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API 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对接前端，实现</a:t>
            </a:r>
            <a:r>
              <a:rPr lang="zh-CN" altLang="en-US"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数据可视化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展示、</a:t>
            </a:r>
            <a:r>
              <a:rPr lang="zh-CN" altLang="en-US"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设备监控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altLang="en-US" sz="1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预警推送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 Light" panose="020B0502040204020203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315735" y="3150925"/>
            <a:ext cx="1882073" cy="468000"/>
          </a:xfrm>
          <a:prstGeom prst="rect">
            <a:avLst/>
          </a:prstGeom>
          <a:solidFill>
            <a:srgbClr val="7E0C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数据解析与处理、存储与指标、分析与应用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 Light" panose="020B0502040204020203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1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7"/>
          <p:cNvSpPr/>
          <p:nvPr/>
        </p:nvSpPr>
        <p:spPr>
          <a:xfrm>
            <a:off x="204242" y="27176"/>
            <a:ext cx="1537132" cy="973467"/>
          </a:xfrm>
          <a:custGeom>
            <a:avLst/>
            <a:gdLst/>
            <a:ahLst/>
            <a:cxnLst/>
            <a:rect l="l" t="t" r="r" b="b"/>
            <a:pathLst>
              <a:path w="2305699" h="1460201">
                <a:moveTo>
                  <a:pt x="0" y="0"/>
                </a:moveTo>
                <a:lnTo>
                  <a:pt x="2305699" y="0"/>
                </a:lnTo>
                <a:lnTo>
                  <a:pt x="2305699" y="1460201"/>
                </a:lnTo>
                <a:lnTo>
                  <a:pt x="0" y="1460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/>
        </p:txBody>
      </p:sp>
      <p:grpSp>
        <p:nvGrpSpPr>
          <p:cNvPr id="6" name="组合 5"/>
          <p:cNvGrpSpPr>
            <a:grpSpLocks noGrp="1" noRot="1" noMove="1" noResize="1" noUngrp="1"/>
          </p:cNvGrpSpPr>
          <p:nvPr/>
        </p:nvGrpSpPr>
        <p:grpSpPr>
          <a:xfrm>
            <a:off x="7345372" y="6242946"/>
            <a:ext cx="4716900" cy="635680"/>
            <a:chOff x="7345372" y="6242946"/>
            <a:chExt cx="4716900" cy="635680"/>
          </a:xfrm>
        </p:grpSpPr>
        <p:cxnSp>
          <p:nvCxnSpPr>
            <p:cNvPr id="17" name="直接箭头连接符 26"/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586172" y="6425169"/>
              <a:ext cx="4476100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28"/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345372" y="6242946"/>
              <a:ext cx="4059228" cy="0"/>
            </a:xfrm>
            <a:prstGeom prst="straightConnector1">
              <a:avLst/>
            </a:prstGeom>
            <a:ln w="50800">
              <a:solidFill>
                <a:srgbClr val="6B0261">
                  <a:alpha val="100000"/>
                </a:srgbClr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矩形 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71845" y="6425169"/>
              <a:ext cx="4304755" cy="45345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zh-CN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滴水智联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——</a:t>
              </a:r>
              <a:r>
                <a:rPr lang="en-US" altLang="zh-CN" sz="2000" b="1" dirty="0" err="1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DripSmart</a:t>
              </a:r>
              <a:r>
                <a:rPr lang="en-US" altLang="zh-CN" sz="2000" b="1" dirty="0">
                  <a:ln w="0"/>
                  <a:solidFill>
                    <a:srgbClr val="6B0261">
                      <a:alpha val="100000"/>
                    </a:srgbClr>
                  </a:solidFill>
                  <a:effectLst>
                    <a:reflection blurRad="6350" stA="55000" endA="50" endPos="31000" dist="29997" dir="5400000" sy="-100000" algn="bl" rotWithShape="0"/>
                  </a:effectLst>
                  <a:latin typeface="微软雅黑" panose="020B0503020204020204" charset="-122"/>
                  <a:cs typeface="微软雅黑" panose="020B0503020204020204" charset="-122"/>
                </a:rPr>
                <a:t> Connect</a:t>
              </a:r>
              <a:endParaRPr lang="en-US" altLang="zh-CN" sz="2000" b="1" dirty="0">
                <a:ln w="0"/>
                <a:solidFill>
                  <a:srgbClr val="6B0261">
                    <a:alpha val="100000"/>
                  </a:srgbClr>
                </a:solidFill>
                <a:effectLst>
                  <a:reflection blurRad="6350" stA="55000" endA="50" endPos="31000" dist="29997" dir="5400000" sy="-100000" algn="bl" rotWithShape="0"/>
                </a:effectLst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328160" y="-31168"/>
            <a:ext cx="3535680" cy="1588976"/>
            <a:chOff x="4328160" y="822272"/>
            <a:chExt cx="3535680" cy="1588976"/>
          </a:xfrm>
        </p:grpSpPr>
        <p:sp>
          <p:nvSpPr>
            <p:cNvPr id="2" name="文本框 1"/>
            <p:cNvSpPr txBox="1"/>
            <p:nvPr/>
          </p:nvSpPr>
          <p:spPr>
            <a:xfrm>
              <a:off x="5542280" y="822272"/>
              <a:ext cx="1107440" cy="886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rgbClr val="002060"/>
                  </a:solidFill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zh-CN" altLang="en-US" sz="4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328160" y="1525621"/>
              <a:ext cx="3535680" cy="885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400" b="1" dirty="0">
                  <a:solidFill>
                    <a:srgbClr val="7E0C6E"/>
                  </a:solidFill>
                </a:rPr>
                <a:t>预期成果</a:t>
              </a:r>
              <a:endParaRPr lang="zh-CN" altLang="en-US" sz="4400" b="1" dirty="0">
                <a:solidFill>
                  <a:srgbClr val="7E0C6E"/>
                </a:solidFill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753399" y="2131929"/>
            <a:ext cx="4526381" cy="3060000"/>
            <a:chOff x="724159" y="2304154"/>
            <a:chExt cx="4526381" cy="3060000"/>
          </a:xfrm>
        </p:grpSpPr>
        <p:sp>
          <p:nvSpPr>
            <p:cNvPr id="11" name="îš1iḑê"/>
            <p:cNvSpPr/>
            <p:nvPr/>
          </p:nvSpPr>
          <p:spPr>
            <a:xfrm>
              <a:off x="724159" y="2304154"/>
              <a:ext cx="104775" cy="3060000"/>
            </a:xfrm>
            <a:prstGeom prst="rect">
              <a:avLst/>
            </a:prstGeom>
            <a:solidFill>
              <a:srgbClr val="6B0261"/>
            </a:solidFill>
            <a:ln w="12700" cap="flat" cmpd="sng" algn="ctr">
              <a:solidFill>
                <a:srgbClr val="6B0261"/>
              </a:solidFill>
              <a:prstDash val="solid"/>
              <a:miter lim="800000"/>
            </a:ln>
            <a:effectLst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 panose="020B0604020202020204"/>
                <a:ea typeface="微软雅黑 Light" panose="020B0502040204020203" pitchFamily="34" charset="-122"/>
              </a:endParaRPr>
            </a:p>
          </p:txBody>
        </p:sp>
        <p:pic>
          <p:nvPicPr>
            <p:cNvPr id="15" name="Picture 2" descr="老式水表读取设备 的图像结果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28934" y="2397641"/>
              <a:ext cx="4421606" cy="2873025"/>
            </a:xfrm>
            <a:prstGeom prst="rect">
              <a:avLst/>
            </a:prstGeom>
            <a:noFill/>
          </p:spPr>
        </p:pic>
      </p:grpSp>
      <p:grpSp>
        <p:nvGrpSpPr>
          <p:cNvPr id="50" name="组合 49"/>
          <p:cNvGrpSpPr/>
          <p:nvPr/>
        </p:nvGrpSpPr>
        <p:grpSpPr>
          <a:xfrm>
            <a:off x="560840" y="1601299"/>
            <a:ext cx="6192559" cy="4841988"/>
            <a:chOff x="5961472" y="897267"/>
            <a:chExt cx="6039856" cy="5110227"/>
          </a:xfrm>
        </p:grpSpPr>
        <p:sp>
          <p:nvSpPr>
            <p:cNvPr id="37" name="išḷîdé"/>
            <p:cNvSpPr/>
            <p:nvPr>
              <p:custDataLst>
                <p:tags r:id="rId4"/>
              </p:custDataLst>
            </p:nvPr>
          </p:nvSpPr>
          <p:spPr bwMode="auto">
            <a:xfrm flipH="1" flipV="1">
              <a:off x="6251009" y="897267"/>
              <a:ext cx="3931051" cy="5016085"/>
            </a:xfrm>
            <a:custGeom>
              <a:avLst/>
              <a:gdLst>
                <a:gd name="T0" fmla="*/ 2147483646 w 1285"/>
                <a:gd name="T1" fmla="*/ 0 h 592"/>
                <a:gd name="T2" fmla="*/ 2147483646 w 1285"/>
                <a:gd name="T3" fmla="*/ 2147483646 h 592"/>
                <a:gd name="T4" fmla="*/ 0 w 1285"/>
                <a:gd name="T5" fmla="*/ 2147483646 h 5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85" h="592">
                  <a:moveTo>
                    <a:pt x="1285" y="0"/>
                  </a:moveTo>
                  <a:lnTo>
                    <a:pt x="1285" y="592"/>
                  </a:lnTo>
                  <a:lnTo>
                    <a:pt x="0" y="592"/>
                  </a:lnTo>
                </a:path>
              </a:pathLst>
            </a:custGeom>
            <a:noFill/>
            <a:ln w="22225" cap="flat" cmpd="sng">
              <a:solidFill>
                <a:srgbClr val="6B026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>
              <a:normAutofit/>
            </a:bodyPr>
            <a:lstStyle/>
            <a:p>
              <a:pPr>
                <a:defRPr/>
              </a:pPr>
              <a:endParaRPr lang="zh-CN" altLang="en-US" kern="0">
                <a:solidFill>
                  <a:prstClr val="black"/>
                </a:solidFill>
                <a:latin typeface="Arial" panose="020B0604020202020204"/>
                <a:ea typeface="微软雅黑 Light" panose="020B0502040204020203" pitchFamily="34" charset="-122"/>
              </a:endParaRPr>
            </a:p>
          </p:txBody>
        </p:sp>
        <p:sp>
          <p:nvSpPr>
            <p:cNvPr id="38" name="iṡḻíḋe"/>
            <p:cNvSpPr/>
            <p:nvPr>
              <p:custDataLst>
                <p:tags r:id="rId5"/>
              </p:custDataLst>
            </p:nvPr>
          </p:nvSpPr>
          <p:spPr>
            <a:xfrm>
              <a:off x="5967448" y="1199828"/>
              <a:ext cx="567122" cy="563880"/>
            </a:xfrm>
            <a:prstGeom prst="roundRect">
              <a:avLst>
                <a:gd name="adj" fmla="val 50000"/>
              </a:avLst>
            </a:prstGeom>
            <a:solidFill>
              <a:srgbClr val="6B0261"/>
            </a:solidFill>
            <a:ln w="57150" cap="flat">
              <a:solidFill>
                <a:sysClr val="window" lastClr="FFFFFF"/>
              </a:solidFill>
              <a:miter lim="400000"/>
            </a:ln>
            <a:effectLst/>
          </p:spPr>
          <p:txBody>
            <a:bodyPr wrap="none" lIns="0" tIns="0" rIns="0" bIns="0" numCol="1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defRPr sz="3200"/>
              </a:pPr>
              <a:r>
                <a:rPr lang="en-US" altLang="zh-CN" sz="1600" b="1" dirty="0">
                  <a:solidFill>
                    <a:prstClr val="white"/>
                  </a:solidFill>
                  <a:latin typeface="Arial" panose="020B0604020202020204"/>
                  <a:ea typeface="微软雅黑 Light" panose="020B0502040204020203" pitchFamily="34" charset="-122"/>
                </a:rPr>
                <a:t>1</a:t>
              </a:r>
              <a:endParaRPr sz="1600" b="1" dirty="0">
                <a:solidFill>
                  <a:prstClr val="white"/>
                </a:solidFill>
                <a:latin typeface="Arial" panose="020B0604020202020204"/>
                <a:ea typeface="微软雅黑 Light" panose="020B0502040204020203" pitchFamily="34" charset="-122"/>
              </a:endParaRPr>
            </a:p>
          </p:txBody>
        </p:sp>
        <p:sp>
          <p:nvSpPr>
            <p:cNvPr id="39" name="îšḻïdé"/>
            <p:cNvSpPr/>
            <p:nvPr>
              <p:custDataLst>
                <p:tags r:id="rId6"/>
              </p:custDataLst>
            </p:nvPr>
          </p:nvSpPr>
          <p:spPr>
            <a:xfrm>
              <a:off x="5961473" y="2386725"/>
              <a:ext cx="567121" cy="563880"/>
            </a:xfrm>
            <a:prstGeom prst="roundRect">
              <a:avLst>
                <a:gd name="adj" fmla="val 50000"/>
              </a:avLst>
            </a:prstGeom>
            <a:solidFill>
              <a:srgbClr val="6B0261"/>
            </a:solidFill>
            <a:ln w="57150" cap="flat">
              <a:solidFill>
                <a:sysClr val="window" lastClr="FFFFFF"/>
              </a:solidFill>
              <a:miter lim="400000"/>
            </a:ln>
            <a:effectLst/>
          </p:spPr>
          <p:txBody>
            <a:bodyPr wrap="none" lIns="0" tIns="0" rIns="0" bIns="0" numCol="1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defRPr sz="3200"/>
              </a:pPr>
              <a:r>
                <a:rPr lang="en-US" altLang="zh-CN" sz="1600" b="1" dirty="0">
                  <a:solidFill>
                    <a:prstClr val="white"/>
                  </a:solidFill>
                  <a:latin typeface="Arial" panose="020B0604020202020204"/>
                  <a:ea typeface="微软雅黑 Light" panose="020B0502040204020203" pitchFamily="34" charset="-122"/>
                </a:rPr>
                <a:t>2</a:t>
              </a:r>
              <a:endParaRPr sz="1600" b="1" dirty="0">
                <a:solidFill>
                  <a:prstClr val="white"/>
                </a:solidFill>
                <a:latin typeface="Arial" panose="020B0604020202020204"/>
                <a:ea typeface="微软雅黑 Light" panose="020B0502040204020203" pitchFamily="34" charset="-122"/>
              </a:endParaRPr>
            </a:p>
          </p:txBody>
        </p:sp>
        <p:sp>
          <p:nvSpPr>
            <p:cNvPr id="40" name="îśḷíde"/>
            <p:cNvSpPr/>
            <p:nvPr>
              <p:custDataLst>
                <p:tags r:id="rId7"/>
              </p:custDataLst>
            </p:nvPr>
          </p:nvSpPr>
          <p:spPr>
            <a:xfrm>
              <a:off x="5961473" y="3585756"/>
              <a:ext cx="567121" cy="563880"/>
            </a:xfrm>
            <a:prstGeom prst="roundRect">
              <a:avLst>
                <a:gd name="adj" fmla="val 50000"/>
              </a:avLst>
            </a:prstGeom>
            <a:solidFill>
              <a:srgbClr val="6B0261"/>
            </a:solidFill>
            <a:ln w="57150" cap="flat">
              <a:solidFill>
                <a:sysClr val="window" lastClr="FFFFFF"/>
              </a:solidFill>
              <a:miter lim="400000"/>
            </a:ln>
            <a:effectLst/>
          </p:spPr>
          <p:txBody>
            <a:bodyPr wrap="none" lIns="0" tIns="0" rIns="0" bIns="0" numCol="1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defRPr sz="3200"/>
              </a:pPr>
              <a:r>
                <a:rPr lang="en-US" altLang="zh-CN" sz="1600" b="1" dirty="0">
                  <a:solidFill>
                    <a:prstClr val="white"/>
                  </a:solidFill>
                  <a:latin typeface="Arial" panose="020B0604020202020204"/>
                  <a:ea typeface="微软雅黑 Light" panose="020B0502040204020203" pitchFamily="34" charset="-122"/>
                </a:rPr>
                <a:t>3</a:t>
              </a:r>
              <a:endParaRPr sz="1600" b="1" dirty="0">
                <a:solidFill>
                  <a:prstClr val="white"/>
                </a:solidFill>
                <a:latin typeface="Arial" panose="020B0604020202020204"/>
                <a:ea typeface="微软雅黑 Light" panose="020B0502040204020203" pitchFamily="34" charset="-122"/>
              </a:endParaRPr>
            </a:p>
          </p:txBody>
        </p:sp>
        <p:sp>
          <p:nvSpPr>
            <p:cNvPr id="41" name="文本框 21"/>
            <p:cNvSpPr txBox="1"/>
            <p:nvPr>
              <p:custDataLst>
                <p:tags r:id="rId8"/>
              </p:custDataLst>
            </p:nvPr>
          </p:nvSpPr>
          <p:spPr>
            <a:xfrm>
              <a:off x="6608911" y="1229304"/>
              <a:ext cx="4263214" cy="478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硬件</a:t>
              </a:r>
              <a:r>
                <a:rPr lang="zh-CN" altLang="en-US" sz="2000" b="1" dirty="0">
                  <a:latin typeface="微软雅黑" panose="020B0503020204020204" charset="-122"/>
                </a:rPr>
                <a:t>：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高适配、低功耗采集终端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文本框 22"/>
            <p:cNvSpPr txBox="1"/>
            <p:nvPr>
              <p:custDataLst>
                <p:tags r:id="rId9"/>
              </p:custDataLst>
            </p:nvPr>
          </p:nvSpPr>
          <p:spPr>
            <a:xfrm>
              <a:off x="6599686" y="2432758"/>
              <a:ext cx="5153240" cy="478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算法</a:t>
              </a:r>
              <a:r>
                <a:rPr lang="zh-CN" altLang="en-US" sz="2000" b="1" dirty="0">
                  <a:latin typeface="微软雅黑" panose="020B0503020204020204" charset="-122"/>
                </a:rPr>
                <a:t>：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高精度、轻量化识别引擎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文本框 23"/>
            <p:cNvSpPr txBox="1"/>
            <p:nvPr>
              <p:custDataLst>
                <p:tags r:id="rId10"/>
              </p:custDataLst>
            </p:nvPr>
          </p:nvSpPr>
          <p:spPr>
            <a:xfrm>
              <a:off x="6608911" y="3606291"/>
              <a:ext cx="4263214" cy="5140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系统：“端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-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边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-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云”协同管理平台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文本框 25"/>
            <p:cNvSpPr txBox="1"/>
            <p:nvPr>
              <p:custDataLst>
                <p:tags r:id="rId11"/>
              </p:custDataLst>
            </p:nvPr>
          </p:nvSpPr>
          <p:spPr>
            <a:xfrm>
              <a:off x="6599686" y="1678349"/>
              <a:ext cx="4005943" cy="740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无需停水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无需拆表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零成本改造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的智能挂载装置，</a:t>
              </a:r>
              <a:r>
                <a:rPr lang="zh-CN" altLang="en-US" sz="1600" dirty="0"/>
                <a:t>形成</a:t>
              </a:r>
              <a:r>
                <a:rPr lang="zh-CN" altLang="en-US" sz="1600" b="1" dirty="0">
                  <a:solidFill>
                    <a:srgbClr val="C00000"/>
                  </a:solidFill>
                </a:rPr>
                <a:t>标准化产品</a:t>
              </a:r>
              <a:endPara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文本框 27"/>
            <p:cNvSpPr txBox="1"/>
            <p:nvPr>
              <p:custDataLst>
                <p:tags r:id="rId12"/>
              </p:custDataLst>
            </p:nvPr>
          </p:nvSpPr>
          <p:spPr>
            <a:xfrm>
              <a:off x="6599686" y="2891106"/>
              <a:ext cx="5153240" cy="740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基于 </a:t>
              </a:r>
              <a:r>
                <a:rPr lang="en-US" altLang="zh-CN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YOLOv11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实现关键点检测，角度解析精度预期达到 </a:t>
              </a:r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</a:rPr>
                <a:t>1°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zh-CN" altLang="en-US" sz="1600" dirty="0"/>
                <a:t>形成</a:t>
              </a:r>
              <a:r>
                <a:rPr lang="zh-CN" altLang="en-US" sz="1600" b="1" dirty="0">
                  <a:solidFill>
                    <a:srgbClr val="C00000"/>
                  </a:solidFill>
                </a:rPr>
                <a:t>可复用</a:t>
              </a:r>
              <a:r>
                <a:rPr lang="zh-CN" altLang="en-US" sz="1600" dirty="0"/>
                <a:t>的算法模型，支撑</a:t>
              </a:r>
              <a:r>
                <a:rPr lang="zh-CN" altLang="en-US" sz="1600" b="1" dirty="0">
                  <a:solidFill>
                    <a:srgbClr val="C00000"/>
                  </a:solidFill>
                </a:rPr>
                <a:t>论文与专利产出</a:t>
              </a:r>
              <a:endPara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文本框 29"/>
            <p:cNvSpPr txBox="1"/>
            <p:nvPr>
              <p:custDataLst>
                <p:tags r:id="rId13"/>
              </p:custDataLst>
            </p:nvPr>
          </p:nvSpPr>
          <p:spPr>
            <a:xfrm>
              <a:off x="6630784" y="4046066"/>
              <a:ext cx="4897870" cy="740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用水数据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实时化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结构化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与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可视化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，依托 </a:t>
              </a:r>
              <a:r>
                <a:rPr lang="en-US" altLang="zh-CN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AI 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算法提供节水建议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，打造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可商业化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的 </a:t>
              </a:r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</a:rPr>
                <a:t>SaaS 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管理平台</a:t>
              </a:r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îśḷíde"/>
            <p:cNvSpPr/>
            <p:nvPr>
              <p:custDataLst>
                <p:tags r:id="rId14"/>
              </p:custDataLst>
            </p:nvPr>
          </p:nvSpPr>
          <p:spPr>
            <a:xfrm>
              <a:off x="5961472" y="4772596"/>
              <a:ext cx="567121" cy="563880"/>
            </a:xfrm>
            <a:prstGeom prst="roundRect">
              <a:avLst>
                <a:gd name="adj" fmla="val 50000"/>
              </a:avLst>
            </a:prstGeom>
            <a:solidFill>
              <a:srgbClr val="6B0261"/>
            </a:solidFill>
            <a:ln w="57150" cap="flat">
              <a:solidFill>
                <a:sysClr val="window" lastClr="FFFFFF"/>
              </a:solidFill>
              <a:miter lim="400000"/>
            </a:ln>
            <a:effectLst/>
          </p:spPr>
          <p:txBody>
            <a:bodyPr wrap="none" lIns="0" tIns="0" rIns="0" bIns="0" numCol="1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defRPr sz="3200"/>
              </a:pPr>
              <a:r>
                <a:rPr lang="en-US" sz="1600" b="1" dirty="0">
                  <a:solidFill>
                    <a:prstClr val="white"/>
                  </a:solidFill>
                  <a:ea typeface="微软雅黑 Light" panose="020B0502040204020203" pitchFamily="34" charset="-122"/>
                </a:rPr>
                <a:t>4</a:t>
              </a:r>
              <a:endParaRPr sz="1600" b="1" dirty="0">
                <a:solidFill>
                  <a:prstClr val="white"/>
                </a:solidFill>
                <a:latin typeface="Arial" panose="020B0604020202020204"/>
                <a:ea typeface="微软雅黑 Light" panose="020B0502040204020203" pitchFamily="34" charset="-122"/>
              </a:endParaRPr>
            </a:p>
          </p:txBody>
        </p:sp>
        <p:sp>
          <p:nvSpPr>
            <p:cNvPr id="48" name="文本框 34"/>
            <p:cNvSpPr txBox="1"/>
            <p:nvPr>
              <p:custDataLst>
                <p:tags r:id="rId15"/>
              </p:custDataLst>
            </p:nvPr>
          </p:nvSpPr>
          <p:spPr>
            <a:xfrm>
              <a:off x="6608911" y="4799953"/>
              <a:ext cx="4582716" cy="4534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应用拓展：从水务监测到全工业场景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文本框 36"/>
            <p:cNvSpPr txBox="1"/>
            <p:nvPr>
              <p:custDataLst>
                <p:tags r:id="rId16"/>
              </p:custDataLst>
            </p:nvPr>
          </p:nvSpPr>
          <p:spPr>
            <a:xfrm>
              <a:off x="6636333" y="5267294"/>
              <a:ext cx="5364995" cy="740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针对电力、石化等行业中大量难以更换的机械式指针仪表，通过微调检测模型，实现</a:t>
              </a:r>
              <a:r>
                <a:rPr lang="zh-CN" altLang="en-US" sz="1600" b="1" dirty="0">
                  <a:latin typeface="微软雅黑" panose="020B0503020204020204" charset="-122"/>
                  <a:ea typeface="微软雅黑" panose="020B0503020204020204" charset="-122"/>
                </a:rPr>
                <a:t>非侵入式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的数字化升级</a:t>
              </a:r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3.77834645669293,&quot;left&quot;:440.3,&quot;top&quot;:102.37165354330708,&quot;width&quot;:429.5644094488189}"/>
</p:tagLst>
</file>

<file path=ppt/tags/tag2.xml><?xml version="1.0" encoding="utf-8"?>
<p:tagLst xmlns:p="http://schemas.openxmlformats.org/presentationml/2006/main">
  <p:tag name="KSO_WM_DIAGRAM_VIRTUALLY_FRAME" val="{&quot;height&quot;:363.77834645669293,&quot;left&quot;:440.3,&quot;top&quot;:102.37165354330708,&quot;width&quot;:429.5644094488189}"/>
</p:tagLst>
</file>

<file path=ppt/tags/tag3.xml><?xml version="1.0" encoding="utf-8"?>
<p:tagLst xmlns:p="http://schemas.openxmlformats.org/presentationml/2006/main">
  <p:tag name="KSO_WM_DIAGRAM_VIRTUALLY_FRAME" val="{&quot;height&quot;:363.77834645669293,&quot;left&quot;:440.3,&quot;top&quot;:102.37165354330708,&quot;width&quot;:429.5644094488189}"/>
</p:tagLst>
</file>

<file path=ppt/tags/tag4.xml><?xml version="1.0" encoding="utf-8"?>
<p:tagLst xmlns:p="http://schemas.openxmlformats.org/presentationml/2006/main">
  <p:tag name="KSO_WM_DIAGRAM_VIRTUALLY_FRAME" val="{&quot;height&quot;:363.77834645669293,&quot;left&quot;:440.3,&quot;top&quot;:102.37165354330708,&quot;width&quot;:429.5644094488189}"/>
</p:tagLst>
</file>

<file path=ppt/tags/tag5.xml><?xml version="1.0" encoding="utf-8"?>
<p:tagLst xmlns:p="http://schemas.openxmlformats.org/presentationml/2006/main">
  <p:tag name="KSO_WM_DIAGRAM_VIRTUALLY_FRAME" val="{&quot;height&quot;:179.66811023622049,&quot;left&quot;:46.82582677165355,&quot;top&quot;:168.1659842519685,&quot;width&quot;:773.3540157480314}"/>
</p:tagLst>
</file>

<file path=ppt/tags/tag6.xml><?xml version="1.0" encoding="utf-8"?>
<p:tagLst xmlns:p="http://schemas.openxmlformats.org/presentationml/2006/main">
  <p:tag name="KSO_WM_DIAGRAM_VIRTUALLY_FRAME" val="{&quot;height&quot;:179.66811023622049,&quot;left&quot;:46.82582677165355,&quot;top&quot;:168.1659842519685,&quot;width&quot;:773.3540157480314}"/>
</p:tagLst>
</file>

<file path=ppt/tags/tag7.xml><?xml version="1.0" encoding="utf-8"?>
<p:tagLst xmlns:p="http://schemas.openxmlformats.org/presentationml/2006/main">
  <p:tag name="KSO_WM_DIAGRAM_VIRTUALLY_FRAME" val="{&quot;height&quot;:179.66811023622049,&quot;left&quot;:46.82582677165355,&quot;top&quot;:168.1659842519685,&quot;width&quot;:773.3540157480314}"/>
</p:tagLst>
</file>

<file path=ppt/tags/tag8.xml><?xml version="1.0" encoding="utf-8"?>
<p:tagLst xmlns:p="http://schemas.openxmlformats.org/presentationml/2006/main">
  <p:tag name="KSO_WM_DIAGRAM_VIRTUALLY_FRAME" val="{&quot;height&quot;:179.66811023622049,&quot;left&quot;:46.82582677165355,&quot;top&quot;:168.1659842519685,&quot;width&quot;:773.3540157480314}"/>
</p:tagLst>
</file>

<file path=ppt/tags/tag9.xml><?xml version="1.0" encoding="utf-8"?>
<p:tagLst xmlns:p="http://schemas.openxmlformats.org/presentationml/2006/main">
  <p:tag name="KSO_WM_DIAGRAM_VIRTUALLY_FRAME" val="{&quot;height&quot;:179.66811023622049,&quot;left&quot;:46.82582677165355,&quot;top&quot;:168.1659842519685,&quot;width&quot;:773.3540157480314}"/>
</p:tagLst>
</file>

<file path=ppt/tags/tag10.xml><?xml version="1.0" encoding="utf-8"?>
<p:tagLst xmlns:p="http://schemas.openxmlformats.org/presentationml/2006/main">
  <p:tag name="KSO_WM_DIAGRAM_VIRTUALLY_FRAME" val="{&quot;height&quot;:179.66811023622049,&quot;left&quot;:46.82582677165355,&quot;top&quot;:168.1659842519685,&quot;width&quot;:773.3540157480314}"/>
</p:tagLst>
</file>

<file path=ppt/tags/tag11.xml><?xml version="1.0" encoding="utf-8"?>
<p:tagLst xmlns:p="http://schemas.openxmlformats.org/presentationml/2006/main">
  <p:tag name="KSO_WM_DIAGRAM_VIRTUALLY_FRAME" val="{&quot;height&quot;:143.1170866141732,&quot;left&quot;:151.4596062992126,&quot;top&quot;:370.80818897637795,&quot;width&quot;:661.8848818897637}"/>
</p:tagLst>
</file>

<file path=ppt/tags/tag12.xml><?xml version="1.0" encoding="utf-8"?>
<p:tagLst xmlns:p="http://schemas.openxmlformats.org/presentationml/2006/main">
  <p:tag name="KSO_WM_DIAGRAM_VIRTUALLY_FRAME" val="{&quot;height&quot;:143.1170866141732,&quot;left&quot;:151.4596062992126,&quot;top&quot;:370.80818897637795,&quot;width&quot;:661.8848818897637}"/>
</p:tagLst>
</file>

<file path=ppt/tags/tag13.xml><?xml version="1.0" encoding="utf-8"?>
<p:tagLst xmlns:p="http://schemas.openxmlformats.org/presentationml/2006/main">
  <p:tag name="KSO_WM_DIAGRAM_VIRTUALLY_FRAME" val="{&quot;height&quot;:143.1170866141732,&quot;left&quot;:151.4596062992126,&quot;top&quot;:370.80818897637795,&quot;width&quot;:661.8848818897637}"/>
</p:tagLst>
</file>

<file path=ppt/tags/tag14.xml><?xml version="1.0" encoding="utf-8"?>
<p:tagLst xmlns:p="http://schemas.openxmlformats.org/presentationml/2006/main">
  <p:tag name="KSO_WM_DIAGRAM_VIRTUALLY_FRAME" val="{&quot;height&quot;:143.1170866141732,&quot;left&quot;:151.4596062992126,&quot;top&quot;:370.80818897637795,&quot;width&quot;:661.8848818897637}"/>
</p:tagLst>
</file>

<file path=ppt/tags/tag15.xml><?xml version="1.0" encoding="utf-8"?>
<p:tagLst xmlns:p="http://schemas.openxmlformats.org/presentationml/2006/main">
  <p:tag name="KSO_WM_DIAGRAM_VIRTUALLY_FRAME" val="{&quot;height&quot;:143.1170866141732,&quot;left&quot;:151.4596062992126,&quot;top&quot;:370.80818897637795,&quot;width&quot;:661.8848818897637}"/>
</p:tagLst>
</file>

<file path=ppt/tags/tag16.xml><?xml version="1.0" encoding="utf-8"?>
<p:tagLst xmlns:p="http://schemas.openxmlformats.org/presentationml/2006/main">
  <p:tag name="KSO_WM_DIAGRAM_VIRTUALLY_FRAME" val="{&quot;height&quot;:143.1170866141732,&quot;left&quot;:151.4596062992126,&quot;top&quot;:370.80818897637795,&quot;width&quot;:661.8848818897637}"/>
</p:tagLst>
</file>

<file path=ppt/tags/tag17.xml><?xml version="1.0" encoding="utf-8"?>
<p:tagLst xmlns:p="http://schemas.openxmlformats.org/presentationml/2006/main">
  <p:tag name="KSO_WM_DIAGRAM_VIRTUALLY_FRAME" val="{&quot;height&quot;:143.1170866141732,&quot;left&quot;:151.4596062992126,&quot;top&quot;:370.80818897637795,&quot;width&quot;:661.8848818897637}"/>
</p:tagLst>
</file>

<file path=ppt/tags/tag18.xml><?xml version="1.0" encoding="utf-8"?>
<p:tagLst xmlns:p="http://schemas.openxmlformats.org/presentationml/2006/main">
  <p:tag name="KSO_WM_DIAGRAM_VIRTUALLY_FRAME" val="{&quot;height&quot;:143.1170866141732,&quot;left&quot;:151.4596062992126,&quot;top&quot;:370.80818897637795,&quot;width&quot;:661.8848818897637}"/>
</p:tagLst>
</file>

<file path=ppt/tags/tag19.xml><?xml version="1.0" encoding="utf-8"?>
<p:tagLst xmlns:p="http://schemas.openxmlformats.org/presentationml/2006/main">
  <p:tag name="KSO_WM_DIAGRAM_VIRTUALLY_FRAME" val="{&quot;height&quot;:143.1170866141732,&quot;left&quot;:151.4596062992126,&quot;top&quot;:370.80818897637795,&quot;width&quot;:661.8848818897637}"/>
</p:tagLst>
</file>

<file path=ppt/tags/tag20.xml><?xml version="1.0" encoding="utf-8"?>
<p:tagLst xmlns:p="http://schemas.openxmlformats.org/presentationml/2006/main">
  <p:tag name="KSO_WM_DIAGRAM_VIRTUALLY_FRAME" val="{&quot;height&quot;:143.1170866141732,&quot;left&quot;:151.4596062992126,&quot;top&quot;:370.80818897637795,&quot;width&quot;:661.8848818897637}"/>
</p:tagLst>
</file>

<file path=ppt/tags/tag21.xml><?xml version="1.0" encoding="utf-8"?>
<p:tagLst xmlns:p="http://schemas.openxmlformats.org/presentationml/2006/main">
  <p:tag name="KSO_WM_DIAGRAM_VIRTUALLY_FRAME" val="{&quot;height&quot;:143.1170866141732,&quot;left&quot;:151.4596062992126,&quot;top&quot;:370.80818897637795,&quot;width&quot;:661.8848818897637}"/>
</p:tagLst>
</file>

<file path=ppt/tags/tag22.xml><?xml version="1.0" encoding="utf-8"?>
<p:tagLst xmlns:p="http://schemas.openxmlformats.org/presentationml/2006/main">
  <p:tag name="KSO_WM_DIAGRAM_VIRTUALLY_FRAME" val="{&quot;height&quot;:143.1170866141732,&quot;left&quot;:151.4596062992126,&quot;top&quot;:370.80818897637795,&quot;width&quot;:661.8848818897637}"/>
</p:tagLst>
</file>

<file path=ppt/tags/tag23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24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25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26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27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28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29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30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31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32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33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34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35.xml><?xml version="1.0" encoding="utf-8"?>
<p:tagLst xmlns:p="http://schemas.openxmlformats.org/presentationml/2006/main">
  <p:tag name="KSO_WM_DIAGRAM_VIRTUALLY_FRAME" val="{&quot;height&quot;:400.3728346456693,&quot;left&quot;:469.4072440944882,&quot;top&quot;:70.65094488188974,&quot;width&quot;:840.4794488188978}"/>
</p:tagLst>
</file>

<file path=ppt/tags/tag36.xml><?xml version="1.0" encoding="utf-8"?>
<p:tagLst xmlns:p="http://schemas.openxmlformats.org/presentationml/2006/main">
  <p:tag name="RESOURCE_RECORD_KEY" val="{&quot;10&quot;:[21543485]}"/>
</p:tagLst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1682</Words>
  <Application>WPS 演示</Application>
  <PresentationFormat>宽屏</PresentationFormat>
  <Paragraphs>216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Calibri</vt:lpstr>
      <vt:lpstr>DFKai-SB</vt:lpstr>
      <vt:lpstr>Segoe Print</vt:lpstr>
      <vt:lpstr>思源黑体 1 Medium</vt:lpstr>
      <vt:lpstr>黑体</vt:lpstr>
      <vt:lpstr>Arimo Bold</vt:lpstr>
      <vt:lpstr>思源黑体 2 Bold</vt:lpstr>
      <vt:lpstr>Times New Roman</vt:lpstr>
      <vt:lpstr>微软雅黑 Light</vt:lpstr>
      <vt:lpstr>Arial Unicode MS</vt:lpstr>
      <vt:lpstr>等线</vt:lpstr>
      <vt:lpstr>等线 Light</vt:lpstr>
      <vt:lpstr>腾讯文档 默认主题​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徐俊喆</dc:creator>
  <cp:lastModifiedBy>贺昭雄</cp:lastModifiedBy>
  <cp:revision>96</cp:revision>
  <dcterms:created xsi:type="dcterms:W3CDTF">2026-04-15T07:24:00Z</dcterms:created>
  <dcterms:modified xsi:type="dcterms:W3CDTF">2026-05-31T10:53:34Z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B0D630E891DA452F939BF82D2205DD15_13</vt:lpwstr>
  </property>
  <property fmtid="{D5CDD505-2E9C-101B-9397-08002B2CF9AE}" pid="3" name="KSOProductBuildVer">
    <vt:lpwstr>2052-12.1.0.23125</vt:lpwstr>
  </property>
</Properties>
</file>