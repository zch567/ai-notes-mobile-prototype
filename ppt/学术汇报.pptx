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15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19" autoAdjust="0"/>
  </p:normalViewPr>
  <p:slideViewPr>
    <p:cSldViewPr snapToGrid="0" showGuides="1">
      <p:cViewPr varScale="1">
        <p:scale>
          <a:sx n="121" d="100"/>
          <a:sy n="121" d="100"/>
        </p:scale>
        <p:origin x="288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！今天我的结课展示，将以民族服饰文化为切入点，探寻它在中华民族数千年交往交流交融中的演变历程。服饰是民族文化的鲜活载体，一针一线、一衣一饰，都镌刻着各民族文化碰撞、融合、共生的印记，也见证了中华民族共同体的逐步形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展示将分为七个部分。首先，我们将探讨服饰文化与民族交融的内在关联。接着，将按照历史脉络，依次梳理从先秦秦汉、魏晋南北朝、隋唐盛世到宋元明清的服饰文化演变。之后，我们将总结服饰文化交融的历史启示，并从青年视角出发，探讨当代青年的责任与担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要明确，服饰从来不只是遮体御寒的物品，更是一个民族的文化名片。不同民族的服饰款式、纹样、面料、工艺，都有着独属于本民族的文化内涵。而各民族之间的每一次接触，都会带来服饰文化的交流，这种交流不是简单的复制，而是相互融合、共同发展，最终汇聚成璀璨的中华服饰文化，也印证了各民族密不可分的联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秦时期，中原与周边民族服饰差异鲜明，而赵武灵王胡服骑射，打破了服饰的民族界限，让实用性更强的胡服融入中原生活。到了秦汉，大一统的局面让服饰文化有了主流规范，而丝绸之路的开通，更让中原与边疆的服饰、工艺、面料实现了第一次大范围互通，民族服饰文化的交融正式拉开序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魏晋南北朝的民族大迁徙，让服饰文化融合进入爆发期。北方游牧民族来到中原，他们便于骑射、劳作的服饰，彻底改变了中原汉族传统服饰的笨重感，裤褶服、裲裆衫成为全民流行服饰。同时，各民族的纹饰、面料也相互融合，这一时期的服饰，不再分纯粹的汉族或少数民族服饰，而是你中有我、我中有你的融合产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隋唐的开放包容，让民族服饰交融达到顶峰。当时的长安，随处可见穿着胡服的百姓，各民族服饰自由流行、相互借鉴。文成公主入藏，更是让汉藏服饰文化实现了深度交流，中原的丝绸、制衣工艺走进雪域高原，吐蕃的服饰特色也融入中原。这一时期的服饰，充分体现了各民族平等交流、共同繁荣的文化格局，也让中华服饰文化走向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宋元明清四朝，民族服饰文化从多元交流走向深度融合。元代的大一统、清代的民族文化互通，让游牧民族与汉族服饰彻底打破界限，我们如今熟知的旗袍、马褂，就是满汉服饰文化融合的结晶。在这一过程中，每个民族都没有丢掉自己的服饰特色，同时又吸纳了其他民族的优秀文化，最终让中华服饰文化变得更加丰富、更加厚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望中华服饰文化的演变历程，我们能清晰看到，没有任何一个民族的服饰是孤立发展的。从先秦胡服骑射到隋唐胡汉交融，再到明清服饰定型，每一步都离不开各民族的相互学习、相互成就。这也告诉我们，中华文化的博大精深，正是源于各民族文化的百花齐放、交融共生，这也是中华民族共同体的文化根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通过对民族服饰文化演变的梳理，我们能深刻理解中华民族共同体的文化底蕴。服饰文化如此，其他民族文化亦是如此，各民族文化交融共生，才造就了今天的中华文化。作为青年，我们要尊重每一个民族的文化，读懂文化背后的民族交融历史，用文化认同凝聚民族力量，为铸牢中华民族共同体意识贡献青春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本次展示的内容参考了《中华民族共同体概论》教材、沈从文先生的《中国古代服饰研究》、费孝通先生的《中华民族多元一体格局》以及相关的学术文献，在此一并致谢。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以上就是我的全部展示内容，感谢老师在课程中的悉心指导，也感谢各位同学的耐心倾听，如有不足之处，恳请大家批评指正！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4A6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衣冠交融 共铸华章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民族服饰文化在中华民族共同体中的演变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2006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19558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引言：服饰文化与民族交融的内在关联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238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34671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41500" y="34163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先秦至秦汉：服饰文化的初步交流与奠基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699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4927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41500" y="48768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魏晋南北朝：民族大迁徙下的服饰大融合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2006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19558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隋唐盛世：开放包容中的服饰文化鼎盛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238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34671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02500" y="34163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宋元明清：多民族服饰文化的深度交融与定型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699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4978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48500" y="49022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服饰文化交融的</a:t>
            </a:r>
            <a:b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历史启示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4699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080500" y="4978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4E4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79000" y="49022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</a:t>
            </a:r>
            <a:b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青年视角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服饰文化与民族交融的内在关联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FFCF5">
              <a:alpha val="90000"/>
            </a:srgbClr>
          </a:solidFill>
          <a:ln w="12700" cap="flat" cmpd="sng">
            <a:solidFill>
              <a:srgbClr val="2E4A6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9685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 民族文化的外在表征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服饰不只是遮体御寒的实用物品，更是民族文化的“活化石”。它以独特的语言，生动承载并外化了一个民族的生活习俗、审美观念、深层的精神信仰与厚重的历史记忆。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FFFCF5">
              <a:alpha val="90000"/>
            </a:srgbClr>
          </a:solidFill>
          <a:ln w="12700" cap="flat" cmpd="sng">
            <a:solidFill>
              <a:srgbClr val="2E4A6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3619500"/>
            <a:ext cx="1003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 中华民族多元一体格局的生动体现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上，迁徙、和亲、贸易与政治往来等多种方式，推动了各民族服饰文化的深度互动。在相互借鉴、吸收与改造中，既保留了各族服饰的鲜明个性，又逐步凝聚出共通的审美内核与文化基因，绘就了“你中有我，我中有你”的融合画卷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CF5">
              <a:alpha val="90000"/>
            </a:srgbClr>
          </a:solidFill>
          <a:ln w="12700" cap="flat" cmpd="sng">
            <a:solidFill>
              <a:srgbClr val="2E4A6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520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53975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 共同体意识的历史缩影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一部服饰文化演变史，就是一部各民族交往、交流、交融的历史，更是中华民族共同体意识不断孕育、深化与升华的鲜活见证。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先秦至秦汉：服饰文化的初步交流与奠基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DFBF7">
              <a:alpha val="95000"/>
            </a:srgbClr>
          </a:solidFill>
          <a:ln w="12700" cap="flat" cmpd="sng">
            <a:solidFill>
              <a:srgbClr val="2E4A62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先秦时期：华夏与周边民族服饰初交融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中原华夏族以宽衣博带、深衣袍服为典型，而周边的东夷、西戎、南蛮、北狄等民族，多着便于游牧骑射的短衣、长裤与革靴，即“胡服”。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赵武灵王推行“胡服骑射”改革，打破了服饰的民族界限，是中原服饰首次大规模吸收游牧民族服饰文化的标志性事件，开启了民族服饰文化交融的先河。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4699000" cy="12700"/>
          </a:xfrm>
          <a:prstGeom prst="roundRect">
            <a:avLst>
              <a:gd name="adj" fmla="val 0"/>
            </a:avLst>
          </a:prstGeom>
          <a:solidFill>
            <a:srgbClr val="2E4A62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381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秦汉时期：大一统下的服饰文化整合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秦汉实现大一统后，不仅统一了服饰的形制与礼仪，确立了中原服饰文化的主流地位；更通过开辟丝绸之路、发展边疆贸易，实现了中原与西域、乃至更远地区的服饰文化双向交流，为后世多民族服饰文化的深度融合奠定了坚实基础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5056" b="15056"/>
          <a:stretch>
            <a:fillRect/>
          </a:stretch>
        </p:blipFill>
        <p:spPr>
          <a:xfrm>
            <a:off x="6350000" y="4000500"/>
            <a:ext cx="2413000" cy="2222500"/>
          </a:xfrm>
          <a:prstGeom prst="rect">
            <a:avLst/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21892" r="21892"/>
          <a:stretch>
            <a:fillRect/>
          </a:stretch>
        </p:blipFill>
        <p:spPr>
          <a:xfrm>
            <a:off x="8890000" y="4000500"/>
            <a:ext cx="2413000" cy="2222500"/>
          </a:xfrm>
          <a:prstGeom prst="rect">
            <a:avLst/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1" y="1611519"/>
            <a:ext cx="4953000" cy="2174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魏晋南北朝：民族大迁徙下的服饰大融合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魏晋南北朝是中国历史上民族大迁徙、大融合的高峰期，北方少数民族大量入主中原，带来了独具特色的游牧民族服饰文化，推动中华服饰从款式、面料到审美观念的全面革新。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C84E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492500"/>
            <a:ext cx="50800" cy="698500"/>
          </a:xfrm>
          <a:prstGeom prst="roundRect">
            <a:avLst>
              <a:gd name="adj" fmla="val 0"/>
            </a:avLst>
          </a:prstGeom>
          <a:solidFill>
            <a:srgbClr val="C84E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服饰款式：从宽袍到实用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摒弃传统宽衣博带，吸收“紧身、圆领、开衩”等胡服特点，诞生“裤褶服”与“裲裆衫”，兼顾礼仪与骑射劳作的实用性。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5207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C84E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762500"/>
            <a:ext cx="50800" cy="698500"/>
          </a:xfrm>
          <a:prstGeom prst="roundRect">
            <a:avLst>
              <a:gd name="adj" fmla="val 0"/>
            </a:avLst>
          </a:prstGeom>
          <a:solidFill>
            <a:srgbClr val="C84E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面料纹样：胡汉交融之美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北方皮毛、毛织面料与中原丝绸、麻布工艺相互借鉴；佛教的莲花、忍冬纹样，与游牧民族的动物纹样共同融入服饰。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715000"/>
            <a:ext cx="5207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C84E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867400"/>
            <a:ext cx="50800" cy="711200"/>
          </a:xfrm>
          <a:prstGeom prst="roundRect">
            <a:avLst>
              <a:gd name="adj" fmla="val 0"/>
            </a:avLst>
          </a:prstGeom>
          <a:solidFill>
            <a:srgbClr val="C84E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84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审美观念：刚柔并济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汉族服饰的礼仪性与少数民族服饰的功能性完美结合，形成了多元包容的审美风尚。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t="24904" b="24904"/>
          <a:stretch>
            <a:fillRect/>
          </a:stretch>
        </p:blipFill>
        <p:spPr>
          <a:xfrm>
            <a:off x="6350000" y="1778000"/>
            <a:ext cx="5080000" cy="2349500"/>
          </a:xfrm>
          <a:prstGeom prst="rect">
            <a:avLst/>
          </a:prstGeom>
          <a:noFill/>
          <a:ln w="25400" cap="flat" cmpd="sng">
            <a:solidFill>
              <a:srgbClr val="2E4A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99" y="4381500"/>
            <a:ext cx="5079999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隋唐盛世：开放包容中的服饰文化鼎盛</a:t>
            </a:r>
            <a:endParaRPr lang="en-US" sz="1100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28468" b="28468"/>
          <a:stretch>
            <a:fillRect/>
          </a:stretch>
        </p:blipFill>
        <p:spPr>
          <a:xfrm>
            <a:off x="762000" y="1778000"/>
            <a:ext cx="3302000" cy="2159000"/>
          </a:xfrm>
          <a:prstGeom prst="rect">
            <a:avLst/>
          </a:prstGeom>
          <a:noFill/>
          <a:ln w="25400" cap="flat" cmpd="sng">
            <a:solidFill>
              <a:srgbClr val="2E4A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572000" y="1778000"/>
            <a:ext cx="685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隋唐时期国力强盛、民族政策开明，民族往来空前频繁，服饰文化呈现开放包容、兼收并蓄的鼎盛风貌，成为中华文明史上浓墨重彩的一笔。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3048000"/>
            <a:ext cx="685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3175000"/>
            <a:ext cx="635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胡服风靡中原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西域、吐蕃、回鹘等少数民族服饰成为时尚潮流，窄袖、紧身、翻领、胡帽与胡靴深受贵族与百姓喜爱，打破了传统服饰的形制束缚。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4381500"/>
            <a:ext cx="685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826000" y="4508500"/>
            <a:ext cx="635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和亲推动服饰交融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文成公主入藏将中原丝绸、汉服形制与礼仪带入吐蕃；吐蕃藏袍与特色配饰也随之传入中原，极大促进了汉藏服饰文化的深度融合与双向奔赴。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572000" y="5588000"/>
            <a:ext cx="685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5689600"/>
            <a:ext cx="635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中华服饰文化体系成型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中原服饰的礼仪内涵与各民族服饰的实用特色完美融合，构建起兼具包容性与独特性的中华服饰体系，生动诠释了“胡汉一家”的宏大民族格局。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27500"/>
            <a:ext cx="33020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宋元明清：多民族服饰文化的深度交融与定型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20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宋元时期：多民族服饰的深度互通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宋代中原服饰崇尚简约内敛，同时也广泛吸收了契丹、女真、党项等北方少数民族的服饰元素，形成独特风格；元代由蒙古族建立，其代表性的质孙服、辫线袄融入中原，同时中原汉服的形制与审美也被蒙古族接纳，各民族服饰在大一统王朝的包容下实现了深度的互通与融合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445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20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明清时期：服饰文化的定型与典范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代在恢复汉族服饰传统的基础上，保留了元代服饰融合的精华。清代，满族的旗袍、马褂、马蹄袖与汉族服饰文化深度融合，经过数百年演变与改良，旗袍与马褂逐渐褪去民族界限，成为了中华服饰文化的经典代表，更是多民族文化交融共生的生动典范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42" r="142"/>
          <a:stretch>
            <a:fillRect/>
          </a:stretch>
        </p:blipFill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4215874"/>
            <a:ext cx="5206999" cy="2159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服饰文化交融的历史启示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413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3429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文化瑰宝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中华服饰文化是56个民族共同创造的文化瑰宝，每个民族的服饰文化都为其注入了独特活力，彰显中华民族多元一体的核心特质。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413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3429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核心动力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各民族文化交往交流交融，是中华文化生生不息、源远流长的核心动力，开放包容、互学互鉴，才能实现文化的传承与发展。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E4A62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413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3429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共同体形成史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服饰文化的融合史，就是中华民族共同体的形成史，各民族文化长期共生、相互依存，早已形成不可分割的文化共同体。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总结与青年视角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DF5">
              <a:alpha val="95000"/>
            </a:srgbClr>
          </a:solidFill>
          <a:ln w="12700" cap="flat" cmpd="sng">
            <a:solidFill>
              <a:srgbClr val="E6E2D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2222500"/>
          </a:xfrm>
          <a:prstGeom prst="roundRect">
            <a:avLst>
              <a:gd name="adj" fmla="val 0"/>
            </a:avLst>
          </a:prstGeom>
          <a:solidFill>
            <a:srgbClr val="C84E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92200" y="1968500"/>
            <a:ext cx="457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2000" b="1" i="0" u="none" strike="noStrike">
                <a:solidFill>
                  <a:srgbClr val="C8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课程总结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族服饰文化的千年演变，是中华民族各民族交往交流交融的生动见证。从款式、工艺到审美、内涵，各民族文化相互滋养、共同发展，铸就了灿烂的中华服饰文化，也深刻印证了中华民族休戚与共、命运与共的共同体理念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2545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DF5">
              <a:alpha val="95000"/>
            </a:srgbClr>
          </a:solidFill>
          <a:ln w="12700" cap="flat" cmpd="sng">
            <a:solidFill>
              <a:srgbClr val="E6E2D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4254500"/>
            <a:ext cx="76200" cy="22225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92200" y="4445000"/>
            <a:ext cx="457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2000" b="1" i="0" u="none" strike="noStrike">
                <a:solidFill>
                  <a:srgbClr val="2E4A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青年担当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新时代青年，我们要尊重各民族服饰文化，深入了解其背后的民族历史与交融故事，树立正确的民族文化观；更要主动传承和弘扬中华优秀服饰文化，守护各民族文化瑰宝，以文化认同筑牢中华民族共同体意识，争做民族文化交融的传承者与守护者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99" y="1866900"/>
            <a:ext cx="5080603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参考文献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CF8">
              <a:alpha val="95000"/>
            </a:srgbClr>
          </a:solidFill>
          <a:ln w="12700" cap="flat" cmpd="sng">
            <a:solidFill>
              <a:srgbClr val="2E4A62">
                <a:alpha val="2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28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《中华民族共同体概论》教材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CF8">
              <a:alpha val="95000"/>
            </a:srgbClr>
          </a:solidFill>
          <a:ln w="12700" cap="flat" cmpd="sng">
            <a:solidFill>
              <a:srgbClr val="2E4A62">
                <a:alpha val="2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2222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04000" y="228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沈从文 · 《中国古代服饰研究》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CF8">
              <a:alpha val="95000"/>
            </a:srgbClr>
          </a:solidFill>
          <a:ln w="12700" cap="flat" cmpd="sng">
            <a:solidFill>
              <a:srgbClr val="2E4A62">
                <a:alpha val="2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381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445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费孝通 · 《中华民族多元一体格局》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CF8">
              <a:alpha val="95000"/>
            </a:srgbClr>
          </a:solidFill>
          <a:ln w="12700" cap="flat" cmpd="sng">
            <a:solidFill>
              <a:srgbClr val="2E4A62">
                <a:alpha val="2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4381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4445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中国古代服饰史相关学术文献与资料汇编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E4A6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 敬请批评指正！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E4A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致谢老师的悉心教导与同学们的倾听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WPS 演示</Application>
  <PresentationFormat>宽屏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贺昭雄</cp:lastModifiedBy>
  <cp:revision>2</cp:revision>
  <dcterms:created xsi:type="dcterms:W3CDTF">2026-05-31T10:53:59Z</dcterms:created>
  <dcterms:modified xsi:type="dcterms:W3CDTF">2026-05-31T10:54:14Z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C233592835AC4867A0C5887A724A193E_12</vt:lpwstr>
  </property>
  <property fmtid="{D5CDD505-2E9C-101B-9397-08002B2CF9AE}" pid="3" name="KSOProductBuildVer">
    <vt:lpwstr>2052-12.1.0.23125</vt:lpwstr>
  </property>
</Properties>
</file>