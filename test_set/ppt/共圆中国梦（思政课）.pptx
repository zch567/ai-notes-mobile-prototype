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2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6" r:id="rId2"/>
    <p:sldMasterId id="2147483668" r:id="rId3"/>
  </p:sldMasterIdLst>
  <p:notesMasterIdLst>
    <p:notesMasterId r:id="rId24"/>
  </p:notesMasterIdLst>
  <p:handoutMasterIdLst>
    <p:handoutMasterId r:id="rId25"/>
  </p:handoutMasterIdLst>
  <p:sldIdLst>
    <p:sldId id="551" r:id="rId4"/>
    <p:sldId id="521" r:id="rId5"/>
    <p:sldId id="365" r:id="rId6"/>
    <p:sldId id="597" r:id="rId7"/>
    <p:sldId id="524" r:id="rId8"/>
    <p:sldId id="535" r:id="rId9"/>
    <p:sldId id="579" r:id="rId10"/>
    <p:sldId id="580" r:id="rId11"/>
    <p:sldId id="598" r:id="rId12"/>
    <p:sldId id="596" r:id="rId13"/>
    <p:sldId id="572" r:id="rId14"/>
    <p:sldId id="364" r:id="rId15"/>
    <p:sldId id="590" r:id="rId16"/>
    <p:sldId id="542" r:id="rId17"/>
    <p:sldId id="571" r:id="rId18"/>
    <p:sldId id="539" r:id="rId19"/>
    <p:sldId id="569" r:id="rId20"/>
    <p:sldId id="599" r:id="rId21"/>
    <p:sldId id="567" r:id="rId22"/>
    <p:sldId id="600" r:id="rId23"/>
  </p:sldIdLst>
  <p:sldSz cx="9144000" cy="5143500" type="screen16x9"/>
  <p:notesSz cx="6858000" cy="9144000"/>
  <p:embeddedFontLst>
    <p:embeddedFont>
      <p:font typeface="微软雅黑" pitchFamily="34" charset="-122"/>
      <p:regular r:id="rId26"/>
      <p:bold r:id="rId27"/>
    </p:embeddedFont>
    <p:embeddedFont>
      <p:font typeface="汉仪颜楷简" charset="-122"/>
      <p:regular r:id="rId28"/>
    </p:embeddedFont>
    <p:embeddedFont>
      <p:font typeface="楷体" pitchFamily="49" charset="-122"/>
      <p:regular r:id="rId29"/>
    </p:embeddedFont>
    <p:embeddedFont>
      <p:font typeface="Wingdings 3" pitchFamily="18" charset="2"/>
      <p:regular r:id="rId30"/>
    </p:embeddedFont>
    <p:embeddedFont>
      <p:font typeface="Calibri" pitchFamily="34" charset="0"/>
      <p:regular r:id="rId31"/>
      <p:bold r:id="rId32"/>
      <p:italic r:id="rId33"/>
      <p:boldItalic r:id="rId34"/>
    </p:embeddedFont>
    <p:embeddedFont>
      <p:font typeface="黑体" pitchFamily="49" charset="-122"/>
      <p:regular r:id="rId35"/>
    </p:embeddedFont>
    <p:embeddedFont>
      <p:font typeface="Impact" pitchFamily="34" charset="0"/>
      <p:regular r:id="rId36"/>
    </p:embeddedFont>
  </p:embeddedFontLst>
  <p:custDataLst>
    <p:tags r:id="rId3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2" pos="279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" lastIdx="0" clrIdx="0"/>
  <p:cmAuthor id="1" name="kingsoft" initials="k" lastIdx="0" clrIdx="0"/>
  <p:cmAuthor id="2" name="as" initials="a" lastIdx="0" clrIdx="0"/>
  <p:cmAuthor id="3" name="CHINESE-BC06F90" initials="C" lastIdx="0" clrIdx="0"/>
  <p:cmAuthor id="4" name="jh" initials="j" lastIdx="0" clrIdx="0"/>
  <p:cmAuthor id="5" name="www.xkb1.com" initials="w" lastIdx="0" clrIdx="1"/>
  <p:cmAuthor id="6" name="lenovo" initials="" lastIdx="0" clrIdx="0"/>
  <p:cmAuthor id="7" name="xkb1.com" initials="" lastIdx="0" clrIdx="0"/>
  <p:cmAuthor id="8" name="xiaoxuan Zeng" initials="x" lastIdx="0" clrIdx="0"/>
  <p:cmAuthor id="9" name="dongyu" initials="d" lastIdx="0" clrIdx="8"/>
  <p:cmAuthor id="10" name="新课标第一网" initials="新" lastIdx="0" clrIdx="0"/>
  <p:cmAuthor id="11" name="jinli" initials="j" lastIdx="0" clrIdx="0"/>
  <p:cmAuthor id="12" name="MyPC" initials="M" lastIdx="0" clrIdx="11"/>
  <p:cmAuthor id="13" name="PC" initials="P" lastIdx="0" clrIdx="12"/>
  <p:cmAuthor id="14" name="杜B格小生" initials="杜" lastIdx="0" clrIdx="0"/>
  <p:cmAuthor id="15" name="李丽" initials="李" lastIdx="0" clrIdx="14"/>
  <p:cmAuthor id="16" name="Nicole Li  李倩" initials="N" lastIdx="0" clrIdx="0"/>
  <p:cmAuthor id="17" name="admin" initials="a" lastIdx="0" clrIdx="0"/>
  <p:cmAuthor id="18" name="222" initials="2" lastIdx="0" clrIdx="0"/>
  <p:cmAuthor id="19" name="Vivian Liu" initials="V" lastIdx="0" clrIdx="1"/>
  <p:cmAuthor id="20" name="ming qiu" initials="" lastIdx="0" clrIdx="1"/>
  <p:cmAuthor id="21" name="ASUS" initials="A" lastIdx="0" clrIdx="20"/>
  <p:cmAuthor id="22" name="孙宇婷" initials="孙" lastIdx="0" clrIdx="21"/>
  <p:cmAuthor id="2000" name="张瑞霞" initials="authorId_524709945" lastIdx="0" clrIdx="0"/>
  <p:cmAuthor id="2001" name="Dino._6ZFrB7nA" initials="authorId_1257418890" lastIdx="0" clrIdx="1"/>
  <p:cmAuthor id="23" name="古" initials="" lastIdx="0" clrIdx="24"/>
  <p:cmAuthor id="49837067" name="刘浩" initials="刘" lastIdx="0" clrIdx="0"/>
  <p:cmAuthor id="24" name="chenl" initials="c" lastIdx="0" clrIdx="0"/>
  <p:cmAuthor id="25" name="王羽熙" initials="王" lastIdx="0" clrIdx="24"/>
  <p:cmAuthor id="49837069" name="未知用户1" initials="未知用户1" lastIdx="0" clrIdx="22"/>
  <p:cmAuthor id="26" name="Mia Vida Villanueva" initials="M" lastIdx="0" clrIdx="0"/>
  <p:cmAuthor id="27" name="张 林娜" initials="张" lastIdx="0" clrIdx="0"/>
  <p:cmAuthor id="28" name="叶子" initials="叶" lastIdx="0" clrIdx="27"/>
  <p:cmAuthor id="29" name="八九年" initials="" lastIdx="0" clrIdx="4"/>
  <p:cmAuthor id="30" name="LJH" initials="L" lastIdx="0" clrIdx="0"/>
  <p:cmAuthor id="31" name="liao'p'x" initials="l" lastIdx="0" clrIdx="30"/>
  <p:cmAuthor id="32" name="mao" initials="mao" lastIdx="0" clrIdx="31"/>
  <p:cmAuthor id="76" name="李彦利" initials="李彦利" lastIdx="0" clrIdx="25"/>
  <p:cmAuthor id="33" name="Echo" initials="" lastIdx="0" clrIdx="30"/>
  <p:cmAuthor id="34" name="a'su's" initials="a" lastIdx="0" clrIdx="33"/>
  <p:cmAuthor id="36" name="陈芳" initials="A" lastIdx="0" clrIdx="35"/>
  <p:cmAuthor id="37" name="邹 嘉豪" initials="" lastIdx="0" clrIdx="25"/>
  <p:cmAuthor id="39" name="韩琳晶" initials="" lastIdx="0" clrIdx="2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2B3C5"/>
    <a:srgbClr val="DAE3F3"/>
    <a:srgbClr val="FD9F00"/>
    <a:srgbClr val="E6A774"/>
    <a:srgbClr val="D56D00"/>
    <a:srgbClr val="00A48D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2" autoAdjust="0"/>
    <p:restoredTop sz="95062" autoAdjust="0"/>
  </p:normalViewPr>
  <p:slideViewPr>
    <p:cSldViewPr showGuides="1">
      <p:cViewPr>
        <p:scale>
          <a:sx n="125" d="100"/>
          <a:sy n="125" d="100"/>
        </p:scale>
        <p:origin x="-1380" y="-570"/>
      </p:cViewPr>
      <p:guideLst>
        <p:guide orient="horz" pos="1620"/>
        <p:guide pos="2880"/>
        <p:guide pos="279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1.fntdata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font" Target="fonts/font9.fntdata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4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Tx/>
              <a:buNone/>
              <a:defRPr sz="1200"/>
            </a:lvl1pPr>
          </a:lstStyle>
          <a:p>
            <a:pPr>
              <a:defRPr/>
            </a:pP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Tx/>
              <a:buNone/>
              <a:defRPr sz="1200"/>
            </a:lvl1pPr>
          </a:lstStyle>
          <a:p>
            <a:pPr>
              <a:defRPr/>
            </a:pP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Tx/>
              <a:buNone/>
              <a:defRPr sz="1200"/>
            </a:lvl1pPr>
          </a:lstStyle>
          <a:p>
            <a:pPr>
              <a:defRPr/>
            </a:pP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18006E18-4BEF-4595-B3B6-2ABF2F04905E}" type="slidenum">
              <a:rPr lang="zh-CN" altLang="en-US">
                <a:ea typeface="黑体" panose="02010609060101010101" pitchFamily="49" charset="-122"/>
              </a:rPr>
              <a:t>‹#›</a:t>
            </a:fld>
            <a:endParaRPr lang="zh-CN" altLang="en-US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7944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Tx/>
              <a:buNone/>
              <a:defRPr sz="1200">
                <a:ea typeface="黑体" panose="02010609060101010101" pitchFamily="49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Tx/>
              <a:buNone/>
              <a:defRPr sz="1200">
                <a:ea typeface="黑体" panose="02010609060101010101" pitchFamily="49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Tx/>
              <a:buNone/>
              <a:defRPr sz="1200">
                <a:ea typeface="黑体" panose="02010609060101010101" pitchFamily="49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395A52D7-8F67-41F0-A534-CB8A9A4DB925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10041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powerpoint/" TargetMode="External"/><Relationship Id="rId13" Type="http://schemas.openxmlformats.org/officeDocument/2006/relationships/hyperlink" Target="http://www.1ppt.com/jianli/" TargetMode="External"/><Relationship Id="rId18" Type="http://schemas.openxmlformats.org/officeDocument/2006/relationships/hyperlink" Target="http://www.1ppt.com/kejian/meishu/" TargetMode="External"/><Relationship Id="rId3" Type="http://schemas.openxmlformats.org/officeDocument/2006/relationships/hyperlink" Target="http://www.1ppt.com/moban/" TargetMode="External"/><Relationship Id="rId21" Type="http://schemas.openxmlformats.org/officeDocument/2006/relationships/hyperlink" Target="http://www.1ppt.com/kejian/huaxue/" TargetMode="External"/><Relationship Id="rId7" Type="http://schemas.openxmlformats.org/officeDocument/2006/relationships/hyperlink" Target="http://www.1ppt.com/xiazai/" TargetMode="External"/><Relationship Id="rId12" Type="http://schemas.openxmlformats.org/officeDocument/2006/relationships/hyperlink" Target="http://www.1ppt.com/jiaoan/" TargetMode="External"/><Relationship Id="rId17" Type="http://schemas.openxmlformats.org/officeDocument/2006/relationships/hyperlink" Target="http://www.1ppt.com/kejian/yingyu/" TargetMode="External"/><Relationship Id="rId2" Type="http://schemas.openxmlformats.org/officeDocument/2006/relationships/slide" Target="../slides/slide8.xml"/><Relationship Id="rId16" Type="http://schemas.openxmlformats.org/officeDocument/2006/relationships/hyperlink" Target="http://www.1ppt.com/kejian/shuxue/" TargetMode="External"/><Relationship Id="rId20" Type="http://schemas.openxmlformats.org/officeDocument/2006/relationships/hyperlink" Target="http://www.1ppt.com/kejian/wuli/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1ppt.com/tubiao/" TargetMode="External"/><Relationship Id="rId11" Type="http://schemas.openxmlformats.org/officeDocument/2006/relationships/hyperlink" Target="http://www.1ppt.com/shiti/" TargetMode="External"/><Relationship Id="rId24" Type="http://schemas.openxmlformats.org/officeDocument/2006/relationships/hyperlink" Target="http://www.1ppt.com/kejian/lishi/" TargetMode="External"/><Relationship Id="rId5" Type="http://schemas.openxmlformats.org/officeDocument/2006/relationships/hyperlink" Target="http://www.1ppt.com/beijing/" TargetMode="External"/><Relationship Id="rId15" Type="http://schemas.openxmlformats.org/officeDocument/2006/relationships/hyperlink" Target="http://www.1ppt.com/kejian/yuwen/" TargetMode="External"/><Relationship Id="rId23" Type="http://schemas.openxmlformats.org/officeDocument/2006/relationships/hyperlink" Target="http://www.1ppt.com/kejian/dili/" TargetMode="External"/><Relationship Id="rId10" Type="http://schemas.openxmlformats.org/officeDocument/2006/relationships/hyperlink" Target="http://www.1ppt.com/excel/" TargetMode="External"/><Relationship Id="rId19" Type="http://schemas.openxmlformats.org/officeDocument/2006/relationships/hyperlink" Target="http://www.1ppt.com/kejian/kexue/" TargetMode="External"/><Relationship Id="rId4" Type="http://schemas.openxmlformats.org/officeDocument/2006/relationships/hyperlink" Target="http://www.1ppt.com/sucai/" TargetMode="External"/><Relationship Id="rId9" Type="http://schemas.openxmlformats.org/officeDocument/2006/relationships/hyperlink" Target="http://www.1ppt.com/word/" TargetMode="External"/><Relationship Id="rId14" Type="http://schemas.openxmlformats.org/officeDocument/2006/relationships/hyperlink" Target="http://www.1ppt.com/kejian/" TargetMode="External"/><Relationship Id="rId22" Type="http://schemas.openxmlformats.org/officeDocument/2006/relationships/hyperlink" Target="http://www.1ppt.com/kejian/shengwu/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模板：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3"/>
              </a:rPr>
              <a:t>www.1ppt.com/moban/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素材：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4"/>
              </a:rPr>
              <a:t>www.1ppt.com/sucai/</a:t>
            </a:r>
            <a:endParaRPr lang="en-US" altLang="zh-CN" sz="1200" dirty="0" smtClean="0">
              <a:solidFill>
                <a:srgbClr val="EEECE1">
                  <a:lumMod val="25000"/>
                </a:srgbClr>
              </a:solidFill>
            </a:endParaRPr>
          </a:p>
          <a:p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背景：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5"/>
              </a:rPr>
              <a:t>www.1ppt.com/beijing/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 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图表：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6"/>
              </a:rPr>
              <a:t>www.1ppt.com/tubiao/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</a:t>
            </a:r>
          </a:p>
          <a:p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下载：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7"/>
              </a:rPr>
              <a:t>www.1ppt.com/xiazai/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   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教程：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8"/>
              </a:rPr>
              <a:t>www.1ppt.com/powerpoint/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</a:t>
            </a:r>
          </a:p>
          <a:p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Word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模板：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9"/>
              </a:rPr>
              <a:t>www.1ppt.com/word/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  Excel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模板：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0"/>
              </a:rPr>
              <a:t>www.1ppt.com/excel/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试卷下载：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1"/>
              </a:rPr>
              <a:t>www.1ppt.com/shiti/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教案下载：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2"/>
              </a:rPr>
              <a:t>www.1ppt.com/jiaoan/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个人简历：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3"/>
              </a:rPr>
              <a:t>www.1ppt.com/jianli/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  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4"/>
              </a:rPr>
              <a:t>www.1ppt.com/kejian/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语文课件：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5"/>
              </a:rPr>
              <a:t>www.1ppt.com/kejian/yuwen/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数学课件：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6"/>
              </a:rPr>
              <a:t>www.1ppt.com/kejian/shuxue/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英语课件：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7"/>
              </a:rPr>
              <a:t>www.1ppt.com/kejian/yingyu/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美术课件：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8"/>
              </a:rPr>
              <a:t>www.1ppt.com/kejian/meishu/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科学课件：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9"/>
              </a:rPr>
              <a:t>www.1ppt.com/kejian/kexue/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物理课件：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20"/>
              </a:rPr>
              <a:t>www.1ppt.com/kejian/wuli/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化学课件：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21"/>
              </a:rPr>
              <a:t>www.1ppt.com/kejian/huaxue/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生物课件：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22"/>
              </a:rPr>
              <a:t>www.1ppt.com/kejian/shengwu/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地理课件：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23"/>
              </a:rPr>
              <a:t>www.1ppt.com/kejian/dili/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历史课件：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24"/>
              </a:rPr>
              <a:t>www.1ppt.com/kejian/lishi/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5A52D7-8F67-41F0-A534-CB8A9A4DB925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0953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新课导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656184" cy="438580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新课导入</a:t>
            </a: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294084" y="195486"/>
            <a:ext cx="1685628" cy="354827"/>
            <a:chOff x="392112" y="375411"/>
            <a:chExt cx="2247503" cy="473102"/>
          </a:xfrm>
        </p:grpSpPr>
        <p:sp>
          <p:nvSpPr>
            <p:cNvPr id="4" name="菱形 3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5" name="直接连接符 4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218200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直接连接符 5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656184" cy="438580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学习目标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294084" y="195486"/>
            <a:ext cx="1685628" cy="354827"/>
            <a:chOff x="392112" y="375411"/>
            <a:chExt cx="2247503" cy="473102"/>
          </a:xfrm>
        </p:grpSpPr>
        <p:sp>
          <p:nvSpPr>
            <p:cNvPr id="4" name="菱形 3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5" name="直接连接符 4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218200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直接连接符 5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当堂训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656184" cy="438580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当堂训练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294084" y="195486"/>
            <a:ext cx="1685628" cy="354827"/>
            <a:chOff x="392112" y="375411"/>
            <a:chExt cx="2247503" cy="473102"/>
          </a:xfrm>
        </p:grpSpPr>
        <p:sp>
          <p:nvSpPr>
            <p:cNvPr id="4" name="菱形 3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5" name="直接连接符 4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218200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直接连接符 5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板书设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656184" cy="438580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板书设计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294084" y="195486"/>
            <a:ext cx="1685628" cy="354827"/>
            <a:chOff x="392112" y="375411"/>
            <a:chExt cx="2247503" cy="473102"/>
          </a:xfrm>
        </p:grpSpPr>
        <p:sp>
          <p:nvSpPr>
            <p:cNvPr id="4" name="菱形 3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5" name="直接连接符 4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218200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直接连接符 5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学习任务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933888" cy="438580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学习任务一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294084" y="195486"/>
            <a:ext cx="1973660" cy="354827"/>
            <a:chOff x="392112" y="375411"/>
            <a:chExt cx="2631546" cy="473102"/>
          </a:xfrm>
        </p:grpSpPr>
        <p:sp>
          <p:nvSpPr>
            <p:cNvPr id="5" name="菱形 4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602243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学习任务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933888" cy="438580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学习任务二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294084" y="195486"/>
            <a:ext cx="1973660" cy="354827"/>
            <a:chOff x="392112" y="375411"/>
            <a:chExt cx="2631546" cy="473102"/>
          </a:xfrm>
        </p:grpSpPr>
        <p:sp>
          <p:nvSpPr>
            <p:cNvPr id="5" name="菱形 4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602243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任务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933888" cy="438580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学习任务三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294084" y="195486"/>
            <a:ext cx="1973660" cy="354827"/>
            <a:chOff x="392112" y="375411"/>
            <a:chExt cx="2631546" cy="473102"/>
          </a:xfrm>
        </p:grpSpPr>
        <p:sp>
          <p:nvSpPr>
            <p:cNvPr id="5" name="菱形 4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602243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任务四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933888" cy="438580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学习任务四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294084" y="195486"/>
            <a:ext cx="1973660" cy="354827"/>
            <a:chOff x="392112" y="375411"/>
            <a:chExt cx="2631546" cy="473102"/>
          </a:xfrm>
        </p:grpSpPr>
        <p:sp>
          <p:nvSpPr>
            <p:cNvPr id="5" name="菱形 4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602243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任务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933888" cy="438580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学习任务五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294084" y="195486"/>
            <a:ext cx="1973660" cy="354827"/>
            <a:chOff x="392112" y="375411"/>
            <a:chExt cx="2631546" cy="473102"/>
          </a:xfrm>
        </p:grpSpPr>
        <p:sp>
          <p:nvSpPr>
            <p:cNvPr id="5" name="菱形 4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602243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任务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933888" cy="438580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学习任务六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294084" y="195486"/>
            <a:ext cx="1973660" cy="354827"/>
            <a:chOff x="392112" y="375411"/>
            <a:chExt cx="2631546" cy="473102"/>
          </a:xfrm>
        </p:grpSpPr>
        <p:sp>
          <p:nvSpPr>
            <p:cNvPr id="5" name="菱形 4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602243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笔记整理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933888" cy="438580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笔记整理一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294084" y="195486"/>
            <a:ext cx="1973660" cy="354827"/>
            <a:chOff x="392112" y="375411"/>
            <a:chExt cx="2631546" cy="473102"/>
          </a:xfrm>
        </p:grpSpPr>
        <p:sp>
          <p:nvSpPr>
            <p:cNvPr id="5" name="菱形 4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602243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笔记整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933888" cy="438580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笔记整理二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294084" y="195486"/>
            <a:ext cx="1973660" cy="354827"/>
            <a:chOff x="392112" y="375411"/>
            <a:chExt cx="2631546" cy="473102"/>
          </a:xfrm>
        </p:grpSpPr>
        <p:sp>
          <p:nvSpPr>
            <p:cNvPr id="5" name="菱形 4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602243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笔记整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933888" cy="807911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笔记整理三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294084" y="195486"/>
            <a:ext cx="1973660" cy="354827"/>
            <a:chOff x="392112" y="375411"/>
            <a:chExt cx="2631546" cy="473102"/>
          </a:xfrm>
        </p:grpSpPr>
        <p:sp>
          <p:nvSpPr>
            <p:cNvPr id="5" name="菱形 4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602243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笔记整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933888" cy="438580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笔记整理四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294084" y="195486"/>
            <a:ext cx="1973660" cy="354827"/>
            <a:chOff x="392112" y="375411"/>
            <a:chExt cx="2631546" cy="473102"/>
          </a:xfrm>
        </p:grpSpPr>
        <p:sp>
          <p:nvSpPr>
            <p:cNvPr id="5" name="菱形 4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602243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笔记整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933888" cy="438580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笔记整理五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294084" y="195486"/>
            <a:ext cx="1973660" cy="354827"/>
            <a:chOff x="392112" y="375411"/>
            <a:chExt cx="2631546" cy="473102"/>
          </a:xfrm>
        </p:grpSpPr>
        <p:sp>
          <p:nvSpPr>
            <p:cNvPr id="5" name="菱形 4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602243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笔记整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 userDrawn="1"/>
        </p:nvSpPr>
        <p:spPr>
          <a:xfrm>
            <a:off x="621888" y="96858"/>
            <a:ext cx="1933888" cy="438580"/>
          </a:xfrm>
          <a:prstGeom prst="rect">
            <a:avLst/>
          </a:prstGeom>
          <a:noFill/>
        </p:spPr>
        <p:txBody>
          <a:bodyPr wrap="square" lIns="68570" tIns="34289" rIns="68570" bIns="34289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笔记整理六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 userDrawn="1">
            <p:custDataLst>
              <p:tags r:id="rId1"/>
            </p:custDataLst>
          </p:nvPr>
        </p:nvCxnSpPr>
        <p:spPr>
          <a:xfrm>
            <a:off x="0" y="699542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294084" y="195486"/>
            <a:ext cx="1973660" cy="354827"/>
            <a:chOff x="392112" y="375411"/>
            <a:chExt cx="2631546" cy="473102"/>
          </a:xfrm>
        </p:grpSpPr>
        <p:sp>
          <p:nvSpPr>
            <p:cNvPr id="5" name="菱形 4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602243" cy="0"/>
            </a:xfrm>
            <a:prstGeom prst="line">
              <a:avLst/>
            </a:prstGeom>
            <a:ln w="2540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email">
            <a:lum contrast="-12001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39581" y="1001115"/>
            <a:ext cx="4373165" cy="74890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Box 8"/>
          <p:cNvSpPr txBox="1"/>
          <p:nvPr userDrawn="1"/>
        </p:nvSpPr>
        <p:spPr>
          <a:xfrm>
            <a:off x="3338029" y="1059583"/>
            <a:ext cx="2376264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2024/8/12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8099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2024/8/12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9678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2024/8/12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0470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2024/8/12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3750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2024/8/12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22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2024/8/12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9126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2024/8/12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496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2024/8/12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9951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2024/8/12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1095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2024/8/12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391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2024/8/12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375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ags" Target="../tags/tag5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/>
  <p:timing>
    <p:tnLst>
      <p:par>
        <p:cTn id="1" dur="indefinite" restart="never" nodeType="tmRoot"/>
      </p:par>
    </p:tnLst>
  </p:timing>
  <p:txStyles>
    <p:titleStyle>
      <a:lvl1pPr algn="ctr" defTabSz="685800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685800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Impact" panose="020B0806030902050204" pitchFamily="34" charset="0"/>
          <a:ea typeface="微软雅黑" panose="020B0503020204020204" pitchFamily="34" charset="-122"/>
        </a:defRPr>
      </a:lvl2pPr>
      <a:lvl3pPr algn="ctr" defTabSz="685800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Impact" panose="020B0806030902050204" pitchFamily="34" charset="0"/>
          <a:ea typeface="微软雅黑" panose="020B0503020204020204" pitchFamily="34" charset="-122"/>
        </a:defRPr>
      </a:lvl3pPr>
      <a:lvl4pPr algn="ctr" defTabSz="685800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Impact" panose="020B0806030902050204" pitchFamily="34" charset="0"/>
          <a:ea typeface="微软雅黑" panose="020B0503020204020204" pitchFamily="34" charset="-122"/>
        </a:defRPr>
      </a:lvl4pPr>
      <a:lvl5pPr algn="ctr" defTabSz="685800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Impact" panose="020B0806030902050204" pitchFamily="34" charset="0"/>
          <a:ea typeface="微软雅黑" panose="020B0503020204020204" pitchFamily="34" charset="-122"/>
        </a:defRPr>
      </a:lvl5pPr>
      <a:lvl6pPr marL="457200" algn="ctr" defTabSz="6858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Impact" panose="020B0806030902050204" pitchFamily="34" charset="0"/>
          <a:ea typeface="微软雅黑" panose="020B0503020204020204" pitchFamily="34" charset="-122"/>
        </a:defRPr>
      </a:lvl6pPr>
      <a:lvl7pPr marL="914400" algn="ctr" defTabSz="6858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Impact" panose="020B0806030902050204" pitchFamily="34" charset="0"/>
          <a:ea typeface="微软雅黑" panose="020B0503020204020204" pitchFamily="34" charset="-122"/>
        </a:defRPr>
      </a:lvl7pPr>
      <a:lvl8pPr marL="1371600" algn="ctr" defTabSz="6858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Impact" panose="020B0806030902050204" pitchFamily="34" charset="0"/>
          <a:ea typeface="微软雅黑" panose="020B0503020204020204" pitchFamily="34" charset="-122"/>
        </a:defRPr>
      </a:lvl8pPr>
      <a:lvl9pPr marL="1828800" algn="ctr" defTabSz="6858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Impact" panose="020B0806030902050204" pitchFamily="34" charset="0"/>
          <a:ea typeface="微软雅黑" panose="020B0503020204020204" pitchFamily="34" charset="-122"/>
        </a:defRPr>
      </a:lvl9pPr>
    </p:titleStyle>
    <p:bodyStyle>
      <a:lvl1pPr marL="257175" indent="-257175" algn="l" defTabSz="6858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5060" y="238731"/>
            <a:ext cx="8102204" cy="475059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6" cstate="email">
            <a:lum contrast="-12001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39581" y="1001115"/>
            <a:ext cx="4373165" cy="74890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Box 8"/>
          <p:cNvSpPr txBox="1"/>
          <p:nvPr userDrawn="1"/>
        </p:nvSpPr>
        <p:spPr>
          <a:xfrm>
            <a:off x="3338029" y="1059583"/>
            <a:ext cx="2376264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ransition/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</a:rPr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t>2024/8/12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</a:rPr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01629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5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4.jpe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78.xml"/><Relationship Id="rId7" Type="http://schemas.openxmlformats.org/officeDocument/2006/relationships/slideLayout" Target="../slideLayouts/slideLayout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92.xml"/><Relationship Id="rId9" Type="http://schemas.openxmlformats.org/officeDocument/2006/relationships/tags" Target="../tags/tag9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7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20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>
            <a:off x="0" y="842963"/>
            <a:ext cx="9144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1" name="文本框 2"/>
          <p:cNvSpPr txBox="1"/>
          <p:nvPr/>
        </p:nvSpPr>
        <p:spPr>
          <a:xfrm>
            <a:off x="1" y="1060450"/>
            <a:ext cx="9144000" cy="286232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dirty="0">
                <a:latin typeface="+mj-ea"/>
                <a:ea typeface="+mj-ea"/>
                <a:sym typeface="微软雅黑" panose="020B0503020204020204" pitchFamily="34" charset="-122"/>
              </a:rPr>
              <a:t>第四单元</a:t>
            </a:r>
            <a:r>
              <a:rPr lang="en-US" altLang="zh-CN" sz="4000" dirty="0">
                <a:latin typeface="+mj-ea"/>
                <a:ea typeface="+mj-ea"/>
                <a:sym typeface="微软雅黑" panose="020B0503020204020204" pitchFamily="34" charset="-122"/>
              </a:rPr>
              <a:t> </a:t>
            </a:r>
            <a:r>
              <a:rPr lang="zh-CN" altLang="en-US" sz="4000" dirty="0" smtClean="0">
                <a:latin typeface="+mj-ea"/>
                <a:ea typeface="+mj-ea"/>
                <a:sym typeface="微软雅黑" panose="020B0503020204020204" pitchFamily="34" charset="-122"/>
              </a:rPr>
              <a:t>和</a:t>
            </a:r>
            <a:r>
              <a:rPr lang="zh-CN" altLang="en-US" sz="4000" dirty="0">
                <a:latin typeface="+mj-ea"/>
                <a:ea typeface="+mj-ea"/>
                <a:sym typeface="微软雅黑" panose="020B0503020204020204" pitchFamily="34" charset="-122"/>
              </a:rPr>
              <a:t>谐与梦</a:t>
            </a:r>
            <a:r>
              <a:rPr lang="zh-CN" altLang="en-US" sz="4000" dirty="0" smtClean="0">
                <a:latin typeface="+mj-ea"/>
                <a:ea typeface="+mj-ea"/>
                <a:sym typeface="微软雅黑" panose="020B0503020204020204" pitchFamily="34" charset="-122"/>
              </a:rPr>
              <a:t>想</a:t>
            </a:r>
            <a:endParaRPr lang="en-US" altLang="zh-CN" sz="4000" dirty="0" smtClean="0">
              <a:latin typeface="+mj-ea"/>
              <a:ea typeface="+mj-ea"/>
              <a:sym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00" dirty="0" smtClean="0">
                <a:latin typeface="+mj-ea"/>
                <a:ea typeface="+mj-ea"/>
                <a:sym typeface="微软雅黑" panose="020B0503020204020204" pitchFamily="34" charset="-122"/>
              </a:rPr>
              <a:t>第</a:t>
            </a:r>
            <a:r>
              <a:rPr lang="zh-CN" altLang="en-US" sz="4000" dirty="0" smtClean="0">
                <a:latin typeface="+mj-ea"/>
                <a:ea typeface="+mj-ea"/>
                <a:sym typeface="微软雅黑" panose="020B0503020204020204" pitchFamily="34" charset="-122"/>
              </a:rPr>
              <a:t>八</a:t>
            </a:r>
            <a:r>
              <a:rPr lang="zh-CN" altLang="en-US" sz="4000" dirty="0">
                <a:latin typeface="+mj-ea"/>
                <a:ea typeface="+mj-ea"/>
                <a:sym typeface="微软雅黑" panose="020B0503020204020204" pitchFamily="34" charset="-122"/>
              </a:rPr>
              <a:t>课</a:t>
            </a:r>
            <a:r>
              <a:rPr lang="en-US" altLang="zh-CN" sz="4000" dirty="0">
                <a:latin typeface="+mj-ea"/>
                <a:ea typeface="+mj-ea"/>
                <a:sym typeface="微软雅黑" panose="020B0503020204020204" pitchFamily="34" charset="-122"/>
              </a:rPr>
              <a:t> </a:t>
            </a:r>
            <a:r>
              <a:rPr lang="zh-CN" altLang="en-US" sz="4000" dirty="0" smtClean="0">
                <a:latin typeface="+mj-ea"/>
                <a:ea typeface="+mj-ea"/>
                <a:sym typeface="微软雅黑" panose="020B0503020204020204" pitchFamily="34" charset="-122"/>
              </a:rPr>
              <a:t>中</a:t>
            </a:r>
            <a:r>
              <a:rPr lang="zh-CN" altLang="en-US" sz="4000" dirty="0" smtClean="0">
                <a:latin typeface="+mj-ea"/>
                <a:ea typeface="+mj-ea"/>
                <a:sym typeface="微软雅黑" panose="020B0503020204020204" pitchFamily="34" charset="-122"/>
              </a:rPr>
              <a:t>国</a:t>
            </a:r>
            <a:r>
              <a:rPr lang="zh-CN" altLang="en-US" sz="4000" dirty="0" smtClean="0">
                <a:latin typeface="+mj-ea"/>
                <a:ea typeface="+mj-ea"/>
                <a:sym typeface="微软雅黑" panose="020B0503020204020204" pitchFamily="34" charset="-122"/>
              </a:rPr>
              <a:t>人中</a:t>
            </a:r>
            <a:r>
              <a:rPr lang="zh-CN" altLang="en-US" sz="4000" dirty="0">
                <a:latin typeface="+mj-ea"/>
                <a:ea typeface="+mj-ea"/>
                <a:sym typeface="微软雅黑" panose="020B0503020204020204" pitchFamily="34" charset="-122"/>
              </a:rPr>
              <a:t>国</a:t>
            </a:r>
            <a:r>
              <a:rPr lang="zh-CN" altLang="en-US" sz="4000" dirty="0" smtClean="0">
                <a:latin typeface="+mj-ea"/>
                <a:ea typeface="+mj-ea"/>
                <a:sym typeface="微软雅黑" panose="020B0503020204020204" pitchFamily="34" charset="-122"/>
              </a:rPr>
              <a:t>梦</a:t>
            </a:r>
            <a:endParaRPr lang="en-US" altLang="zh-CN" sz="4000" dirty="0" smtClean="0">
              <a:latin typeface="+mj-ea"/>
              <a:ea typeface="+mj-ea"/>
              <a:sym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 dirty="0" smtClean="0">
                <a:solidFill>
                  <a:srgbClr val="FF0000"/>
                </a:solidFill>
                <a:latin typeface="+mj-ea"/>
                <a:ea typeface="+mj-ea"/>
                <a:sym typeface="微软雅黑" panose="020B0503020204020204" pitchFamily="34" charset="-122"/>
              </a:rPr>
              <a:t>第</a:t>
            </a:r>
            <a:r>
              <a:rPr lang="en-US" altLang="zh-CN" sz="3600" dirty="0">
                <a:solidFill>
                  <a:srgbClr val="FF0000"/>
                </a:solidFill>
                <a:latin typeface="+mj-ea"/>
                <a:ea typeface="+mj-ea"/>
                <a:sym typeface="微软雅黑" panose="020B0503020204020204" pitchFamily="34" charset="-122"/>
              </a:rPr>
              <a:t>2</a:t>
            </a:r>
            <a:r>
              <a:rPr lang="zh-CN" altLang="en-US" sz="3600" dirty="0">
                <a:solidFill>
                  <a:srgbClr val="FF0000"/>
                </a:solidFill>
                <a:latin typeface="+mj-ea"/>
                <a:ea typeface="+mj-ea"/>
                <a:sym typeface="微软雅黑" panose="020B0503020204020204" pitchFamily="34" charset="-122"/>
              </a:rPr>
              <a:t>框</a:t>
            </a:r>
            <a:r>
              <a:rPr lang="en-US" altLang="zh-CN" sz="3600" dirty="0">
                <a:solidFill>
                  <a:srgbClr val="FF0000"/>
                </a:solidFill>
                <a:latin typeface="+mj-ea"/>
                <a:ea typeface="+mj-ea"/>
                <a:sym typeface="微软雅黑" panose="020B0503020204020204" pitchFamily="34" charset="-122"/>
              </a:rPr>
              <a:t> </a:t>
            </a:r>
            <a:r>
              <a:rPr lang="en-US" altLang="zh-CN" sz="3600" dirty="0" smtClean="0">
                <a:solidFill>
                  <a:srgbClr val="FF0000"/>
                </a:solidFill>
                <a:latin typeface="+mj-ea"/>
                <a:ea typeface="+mj-ea"/>
                <a:sym typeface="微软雅黑" panose="020B0503020204020204" pitchFamily="34" charset="-122"/>
              </a:rPr>
              <a:t> </a:t>
            </a:r>
            <a:r>
              <a:rPr lang="zh-CN" altLang="en-US" sz="3600" dirty="0" smtClean="0">
                <a:solidFill>
                  <a:srgbClr val="FF0000"/>
                </a:solidFill>
                <a:latin typeface="+mj-ea"/>
                <a:ea typeface="+mj-ea"/>
                <a:sym typeface="微软雅黑" panose="020B0503020204020204" pitchFamily="34" charset="-122"/>
              </a:rPr>
              <a:t>共</a:t>
            </a:r>
            <a:r>
              <a:rPr lang="zh-CN" altLang="en-US" sz="3600" dirty="0">
                <a:solidFill>
                  <a:srgbClr val="FF0000"/>
                </a:solidFill>
                <a:latin typeface="+mj-ea"/>
                <a:ea typeface="+mj-ea"/>
                <a:sym typeface="微软雅黑" panose="020B0503020204020204" pitchFamily="34" charset="-122"/>
              </a:rPr>
              <a:t>圆中国梦 </a:t>
            </a:r>
            <a:endParaRPr lang="zh-CN" altLang="en-US" sz="36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76715" y="4443958"/>
            <a:ext cx="4190571" cy="407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en-US" altLang="zh-CN" sz="20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0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模板网</a:t>
            </a:r>
            <a:r>
              <a:rPr lang="en-US" altLang="zh-CN" sz="20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-WWW.1PPT.COM</a:t>
            </a:r>
            <a:endParaRPr lang="en-US" altLang="zh-CN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06976" y="843558"/>
            <a:ext cx="8281228" cy="39333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通过本节课学习，增强对实现中国梦的自信心，树立热爱祖国，热爱党的思想感情，增强对民族和国家的认同感，自豪感和自信心。</a:t>
            </a:r>
            <a:endParaRPr lang="en-US" altLang="zh-CN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2.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了解自信中国人的特点和自信的源泉，自觉做一个追梦人。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  <a:sym typeface="+mn-ea"/>
              </a:rPr>
              <a:t>树立个人梦想和中国梦紧密相连的意识，培养学生做自信中国人胸怀。</a:t>
            </a:r>
            <a:endParaRPr lang="en-US" altLang="zh-CN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3.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将个人成长与祖国发展相结合，明确青少年在实现中国梦过程中所肩负的责任和使命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。</a:t>
            </a:r>
            <a:endParaRPr lang="en-US" altLang="zh-CN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3"/>
          <p:cNvSpPr txBox="1"/>
          <p:nvPr>
            <p:custDataLst>
              <p:tags r:id="rId1"/>
            </p:custDataLst>
          </p:nvPr>
        </p:nvSpPr>
        <p:spPr>
          <a:xfrm>
            <a:off x="767780" y="952788"/>
            <a:ext cx="7776864" cy="257666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fontAlgn="auto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latin typeface="+mn-ea"/>
                <a:ea typeface="+mn-ea"/>
                <a:sym typeface="+mn-ea"/>
              </a:rPr>
              <a:t>每个人都有自己的梦想，采访身边的人（父母、老师或邻居），记录他们的</a:t>
            </a:r>
            <a:r>
              <a:rPr lang="en-US" altLang="zh-CN" sz="2800" b="1" dirty="0">
                <a:latin typeface="+mn-ea"/>
                <a:ea typeface="+mn-ea"/>
                <a:sym typeface="+mn-ea"/>
              </a:rPr>
              <a:t>“</a:t>
            </a:r>
            <a:r>
              <a:rPr lang="zh-CN" altLang="en-US" sz="2800" b="1" dirty="0">
                <a:latin typeface="+mn-ea"/>
                <a:ea typeface="+mn-ea"/>
                <a:sym typeface="+mn-ea"/>
              </a:rPr>
              <a:t>中国梦。</a:t>
            </a:r>
          </a:p>
          <a:p>
            <a:pPr lvl="0" eaLnBrk="0" fontAlgn="auto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 b="1" dirty="0">
              <a:latin typeface="+mn-ea"/>
              <a:ea typeface="+mn-ea"/>
              <a:sym typeface="+mn-ea"/>
            </a:endParaRPr>
          </a:p>
          <a:p>
            <a:pPr lvl="0" eaLnBrk="0" fontAlgn="auto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latin typeface="+mn-ea"/>
                <a:ea typeface="+mn-ea"/>
                <a:sym typeface="+mn-ea"/>
              </a:rPr>
              <a:t>想一想：他们实现梦想需要哪些条件？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>
            <p:custDataLst>
              <p:tags r:id="rId1"/>
            </p:custDataLst>
          </p:nvPr>
        </p:nvSpPr>
        <p:spPr>
          <a:xfrm>
            <a:off x="1866900" y="1440180"/>
            <a:ext cx="5410200" cy="2262664"/>
          </a:xfrm>
          <a:prstGeom prst="rect">
            <a:avLst/>
          </a:prstGeom>
          <a:solidFill>
            <a:srgbClr val="2D5D4A">
              <a:alpha val="12000"/>
            </a:srgbClr>
          </a:solidFill>
          <a:ln w="19050">
            <a:solidFill>
              <a:srgbClr val="2D5D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b="1" dirty="0">
              <a:solidFill>
                <a:srgbClr val="2D5D4A"/>
              </a:solidFill>
              <a:ea typeface="黑体" panose="02010609060101010101" pitchFamily="49" charset="-122"/>
              <a:cs typeface="微软雅黑" panose="020B0503020204020204" pitchFamily="34" charset="-122"/>
            </a:endParaRPr>
          </a:p>
        </p:txBody>
      </p:sp>
      <p:sp>
        <p:nvSpPr>
          <p:cNvPr id="3" name="文本框"/>
          <p:cNvSpPr txBox="1"/>
          <p:nvPr>
            <p:custDataLst>
              <p:tags r:id="rId2"/>
            </p:custDataLst>
          </p:nvPr>
        </p:nvSpPr>
        <p:spPr>
          <a:xfrm>
            <a:off x="2885503" y="1440180"/>
            <a:ext cx="3374643" cy="1717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800" b="1" spc="150" dirty="0" smtClean="0">
                <a:solidFill>
                  <a:srgbClr val="009FB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01</a:t>
            </a:r>
            <a:endParaRPr lang="en-US" altLang="zh-CN" sz="4800" b="1" spc="150" dirty="0">
              <a:solidFill>
                <a:srgbClr val="009FB0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800" b="1" spc="150" dirty="0" smtClean="0">
                <a:solidFill>
                  <a:srgbClr val="009FB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圆梦大舞台</a:t>
            </a:r>
            <a:endParaRPr lang="zh-CN" altLang="en-US" sz="4800" b="1" spc="150" dirty="0">
              <a:solidFill>
                <a:srgbClr val="009FB0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06644" y="915566"/>
            <a:ext cx="7718425" cy="2603854"/>
          </a:xfrm>
          <a:prstGeom prst="rect">
            <a:avLst/>
          </a:prstGeom>
          <a:noFill/>
          <a:ln w="28575">
            <a:noFill/>
            <a:round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为什么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中国梦能够实现？</a:t>
            </a:r>
          </a:p>
          <a:p>
            <a:pPr algn="just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800" b="1" dirty="0" smtClean="0">
                <a:latin typeface="Calibri" panose="020F0502020204030204"/>
                <a:ea typeface="黑体" panose="02010609060101010101" pitchFamily="49" charset="-122"/>
              </a:rPr>
              <a:t>现在</a:t>
            </a:r>
            <a:r>
              <a:rPr lang="zh-CN" altLang="en-US" sz="2800" b="1" dirty="0">
                <a:latin typeface="Calibri" panose="020F0502020204030204"/>
                <a:ea typeface="黑体" panose="02010609060101010101" pitchFamily="49" charset="-122"/>
              </a:rPr>
              <a:t>，我们</a:t>
            </a:r>
            <a:r>
              <a:rPr lang="zh-CN" altLang="en-US" sz="2800" b="1" dirty="0">
                <a:solidFill>
                  <a:srgbClr val="2400FE"/>
                </a:solidFill>
                <a:latin typeface="Calibri" panose="020F0502020204030204"/>
                <a:ea typeface="黑体" panose="02010609060101010101" pitchFamily="49" charset="-122"/>
              </a:rPr>
              <a:t>比历史上任何时期都更接近</a:t>
            </a:r>
            <a:r>
              <a:rPr lang="zh-CN" altLang="en-US" sz="2800" b="1" dirty="0">
                <a:latin typeface="Calibri" panose="020F0502020204030204"/>
                <a:ea typeface="黑体" panose="02010609060101010101" pitchFamily="49" charset="-122"/>
              </a:rPr>
              <a:t>中华民族伟大复兴的目标，</a:t>
            </a:r>
            <a:r>
              <a:rPr lang="zh-CN" altLang="en-US" sz="2800" b="1" dirty="0">
                <a:solidFill>
                  <a:srgbClr val="2400FE"/>
                </a:solidFill>
                <a:latin typeface="Calibri" panose="020F0502020204030204"/>
                <a:ea typeface="黑体" panose="02010609060101010101" pitchFamily="49" charset="-122"/>
              </a:rPr>
              <a:t>比历史上任何时期都更有信心、有能力</a:t>
            </a:r>
            <a:r>
              <a:rPr lang="zh-CN" altLang="en-US" sz="2800" b="1" dirty="0">
                <a:latin typeface="Calibri" panose="020F0502020204030204"/>
                <a:ea typeface="黑体" panose="02010609060101010101" pitchFamily="49" charset="-122"/>
              </a:rPr>
              <a:t>实现这个目标。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611505" y="843915"/>
            <a:ext cx="5184576" cy="42037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zh-CN"/>
            </a:defPPr>
            <a:lvl1pPr lvl="0">
              <a:lnSpc>
                <a:spcPct val="90000"/>
              </a:lnSpc>
              <a:spcBef>
                <a:spcPct val="0"/>
              </a:spcBef>
              <a:buNone/>
              <a:defRPr sz="4800">
                <a:solidFill>
                  <a:srgbClr val="00B0F0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sz="2400" b="1" strike="noStrike" noProof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1.</a:t>
            </a:r>
            <a:r>
              <a:rPr lang="zh-CN" altLang="en-US" sz="2400" b="1" strike="noStrike" noProof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怎样实现中国梦？（国家层面）</a:t>
            </a:r>
          </a:p>
        </p:txBody>
      </p:sp>
      <p:sp>
        <p:nvSpPr>
          <p:cNvPr id="15363" name="文本框 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3568" y="1259840"/>
            <a:ext cx="8036560" cy="35648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40" tIns="45720" rIns="91440" bIns="45720">
            <a:noAutofit/>
          </a:bodyPr>
          <a:lstStyle/>
          <a:p>
            <a:pPr algn="just" defTabSz="1219200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①要坚持党的领导，贯彻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五大发展理念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，坚持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五位一体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总布局，协调推进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四个全面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2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defTabSz="1219200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②必须走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中国道路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，即中国特色社会主义道路；</a:t>
            </a:r>
            <a:endParaRPr lang="zh-CN" altLang="en-US" sz="2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defTabSz="1219200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③必须弘扬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中国精神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，即</a:t>
            </a:r>
            <a:r>
              <a:rPr lang="zh-CN" altLang="zh-CN" sz="2400" b="1" noProof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以</a:t>
            </a:r>
            <a:r>
              <a:rPr lang="zh-CN" altLang="zh-CN" sz="2400" b="1" noProof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爱国主义</a:t>
            </a:r>
            <a:r>
              <a:rPr lang="zh-CN" altLang="zh-CN" sz="2400" b="1" noProof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为核心的</a:t>
            </a:r>
            <a:r>
              <a:rPr lang="zh-CN" altLang="zh-CN" sz="2400" b="1" noProof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民族精神</a:t>
            </a:r>
            <a:r>
              <a:rPr lang="zh-CN" altLang="zh-CN" sz="2400" b="1" noProof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和以</a:t>
            </a:r>
            <a:r>
              <a:rPr lang="zh-CN" altLang="zh-CN" sz="2400" b="1" noProof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改革创新</a:t>
            </a:r>
            <a:r>
              <a:rPr lang="zh-CN" altLang="zh-CN" sz="2400" b="1" noProof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为核心的时代精神</a:t>
            </a:r>
            <a:r>
              <a:rPr lang="zh-CN" altLang="en-US" sz="2400" b="1" noProof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；</a:t>
            </a:r>
            <a:endParaRPr lang="zh-CN" altLang="en-US" sz="2400" b="1" noProof="1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just" defTabSz="1219200">
              <a:lnSpc>
                <a:spcPct val="150000"/>
              </a:lnSpc>
            </a:pPr>
            <a:r>
              <a:rPr lang="zh-CN" altLang="en-US" sz="2400" b="1" noProof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④要凝聚</a:t>
            </a:r>
            <a:r>
              <a:rPr lang="zh-CN" altLang="en-US" sz="2400" b="1" noProof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中国力量</a:t>
            </a:r>
            <a:r>
              <a:rPr lang="zh-CN" altLang="en-US" sz="2400" b="1" noProof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，即全国各族人民大团结的力量。</a:t>
            </a:r>
          </a:p>
          <a:p>
            <a:pPr algn="just" defTabSz="1219200">
              <a:lnSpc>
                <a:spcPct val="150000"/>
              </a:lnSpc>
            </a:pPr>
            <a:endParaRPr lang="zh-CN" altLang="en-US" sz="2400" b="1" noProof="1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55576" y="1358000"/>
            <a:ext cx="8172450" cy="35283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algn="just" defTabSz="1219200">
              <a:lnSpc>
                <a:spcPct val="150000"/>
              </a:lnSpc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sz="2200" dirty="0"/>
              <a:t>①树立崇高远大理想，努力学习科学文化知识，不断提高自身素质；</a:t>
            </a:r>
          </a:p>
          <a:p>
            <a:pPr>
              <a:lnSpc>
                <a:spcPct val="125000"/>
              </a:lnSpc>
            </a:pPr>
            <a:r>
              <a:rPr lang="zh-CN" altLang="en-US" sz="2200" dirty="0"/>
              <a:t>②</a:t>
            </a:r>
            <a:r>
              <a:rPr lang="zh-CN" altLang="en-US" sz="2200" dirty="0">
                <a:sym typeface="+mn-ea"/>
              </a:rPr>
              <a:t>弘扬民族精神和时代精神，继承和弘扬中华优秀传统文化；</a:t>
            </a:r>
            <a:endParaRPr lang="zh-CN" altLang="en-US" sz="2200" dirty="0"/>
          </a:p>
          <a:p>
            <a:pPr>
              <a:lnSpc>
                <a:spcPct val="125000"/>
              </a:lnSpc>
            </a:pPr>
            <a:r>
              <a:rPr lang="zh-CN" altLang="en-US" sz="2200" dirty="0"/>
              <a:t>③从点滴做起，养成亲社会行为，积极承担责任；</a:t>
            </a:r>
          </a:p>
          <a:p>
            <a:pPr>
              <a:lnSpc>
                <a:spcPct val="125000"/>
              </a:lnSpc>
            </a:pPr>
            <a:r>
              <a:rPr lang="zh-CN" altLang="en-US" sz="2200" dirty="0">
                <a:sym typeface="+mn-ea"/>
              </a:rPr>
              <a:t>④</a:t>
            </a:r>
            <a:r>
              <a:rPr lang="zh-CN" altLang="en-US" sz="2200" dirty="0"/>
              <a:t>积极参与社会实践，培养创新能力和实践能力；</a:t>
            </a:r>
          </a:p>
          <a:p>
            <a:pPr>
              <a:lnSpc>
                <a:spcPct val="125000"/>
              </a:lnSpc>
            </a:pPr>
            <a:r>
              <a:rPr lang="zh-CN" altLang="en-US" sz="2200" dirty="0">
                <a:sym typeface="+mn-ea"/>
              </a:rPr>
              <a:t>⑤</a:t>
            </a:r>
            <a:r>
              <a:rPr lang="zh-CN" altLang="en-US" sz="2200" dirty="0"/>
              <a:t>加强思想道德修养，自强不息、艰苦奋斗；</a:t>
            </a:r>
          </a:p>
          <a:p>
            <a:pPr>
              <a:lnSpc>
                <a:spcPct val="125000"/>
              </a:lnSpc>
            </a:pPr>
            <a:r>
              <a:rPr lang="zh-CN" altLang="en-US" sz="2200" dirty="0">
                <a:sym typeface="+mn-ea"/>
              </a:rPr>
              <a:t>⑥</a:t>
            </a:r>
            <a:r>
              <a:rPr lang="zh-CN" altLang="en-US" sz="2200" dirty="0"/>
              <a:t>增强法治观念，尊法学法守法用法，</a:t>
            </a:r>
            <a:r>
              <a:rPr lang="zh-CN" altLang="en-US" sz="2200" dirty="0">
                <a:sym typeface="+mn-ea"/>
              </a:rPr>
              <a:t>依法规范自身行为，</a:t>
            </a:r>
            <a:r>
              <a:rPr lang="zh-CN" altLang="en-US" sz="2200" dirty="0"/>
              <a:t>依法维护国家利益。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755576" y="843558"/>
            <a:ext cx="7646670" cy="4247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zh-CN"/>
            </a:defPPr>
            <a:lvl1pPr lvl="0">
              <a:lnSpc>
                <a:spcPct val="90000"/>
              </a:lnSpc>
              <a:buNone/>
              <a:defRPr sz="2400" b="1" strike="noStrike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dirty="0">
                <a:sym typeface="宋体" panose="02010600030101010101" pitchFamily="2" charset="-122"/>
              </a:rPr>
              <a:t>2.</a:t>
            </a:r>
            <a:r>
              <a:rPr lang="zh-CN" altLang="en-US" dirty="0">
                <a:sym typeface="宋体" panose="02010600030101010101" pitchFamily="2" charset="-122"/>
              </a:rPr>
              <a:t>为了实现中国梦，作为新时代的青少年应该怎么做？</a:t>
            </a:r>
            <a:endParaRPr lang="zh-CN" altLang="en-US" dirty="0"/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10744200" y="109347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755576" y="628545"/>
            <a:ext cx="7344484" cy="757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+mn-ea"/>
              </a:rPr>
              <a:t>3</a:t>
            </a:r>
            <a:r>
              <a:rPr lang="zh-CN" altLang="zh-CN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+mn-ea"/>
              </a:rPr>
              <a:t>.新时代为什么需要奋斗？</a:t>
            </a:r>
            <a:r>
              <a:rPr lang="zh-CN" altLang="zh-CN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（奋斗的意义）？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78456" y="1635646"/>
            <a:ext cx="80981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只有奋斗的人生才称得上</a:t>
            </a:r>
            <a:r>
              <a:rPr lang="zh-CN" altLang="en-US" sz="2400" b="1" dirty="0">
                <a:solidFill>
                  <a:srgbClr val="B0071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幸福的人生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奋斗者是</a:t>
            </a:r>
            <a:r>
              <a:rPr lang="zh-CN" altLang="en-US" sz="2400" b="1" dirty="0">
                <a:solidFill>
                  <a:srgbClr val="B0071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精神最为富足的人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，也是最懂得幸福、最享受幸福的人；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新时代是</a:t>
            </a:r>
            <a:r>
              <a:rPr lang="zh-CN" altLang="en-US" sz="2400" b="1" dirty="0">
                <a:solidFill>
                  <a:srgbClr val="B0071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奋斗者的时代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24" name="组合 23"/>
          <p:cNvGrpSpPr/>
          <p:nvPr>
            <p:custDataLst>
              <p:tags r:id="rId3"/>
            </p:custDataLst>
          </p:nvPr>
        </p:nvGrpSpPr>
        <p:grpSpPr>
          <a:xfrm>
            <a:off x="10519410" y="0"/>
            <a:ext cx="1672590" cy="1172845"/>
            <a:chOff x="16566" y="82"/>
            <a:chExt cx="2634" cy="1847"/>
          </a:xfrm>
        </p:grpSpPr>
        <p:sp>
          <p:nvSpPr>
            <p:cNvPr id="22" name="云形标注 21"/>
            <p:cNvSpPr/>
            <p:nvPr>
              <p:custDataLst>
                <p:tags r:id="rId4"/>
              </p:custDataLst>
            </p:nvPr>
          </p:nvSpPr>
          <p:spPr>
            <a:xfrm>
              <a:off x="16566" y="82"/>
              <a:ext cx="2634" cy="1847"/>
            </a:xfrm>
            <a:prstGeom prst="cloudCallout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ea typeface="黑体" panose="02010609060101010101" pitchFamily="49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5"/>
              </p:custDataLst>
            </p:nvPr>
          </p:nvSpPr>
          <p:spPr>
            <a:xfrm>
              <a:off x="16875" y="546"/>
              <a:ext cx="232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笔记区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>
            <p:custDataLst>
              <p:tags r:id="rId1"/>
            </p:custDataLst>
          </p:nvPr>
        </p:nvSpPr>
        <p:spPr>
          <a:xfrm>
            <a:off x="1866900" y="1440180"/>
            <a:ext cx="5410200" cy="2262664"/>
          </a:xfrm>
          <a:prstGeom prst="rect">
            <a:avLst/>
          </a:prstGeom>
          <a:solidFill>
            <a:srgbClr val="2D5D4A">
              <a:alpha val="12000"/>
            </a:srgbClr>
          </a:solidFill>
          <a:ln w="19050">
            <a:solidFill>
              <a:srgbClr val="2D5D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b="1" dirty="0">
              <a:solidFill>
                <a:srgbClr val="2D5D4A"/>
              </a:solidFill>
              <a:ea typeface="黑体" panose="02010609060101010101" pitchFamily="49" charset="-122"/>
              <a:cs typeface="微软雅黑" panose="020B0503020204020204" pitchFamily="34" charset="-122"/>
            </a:endParaRPr>
          </a:p>
        </p:txBody>
      </p:sp>
      <p:sp>
        <p:nvSpPr>
          <p:cNvPr id="3" name="文本框"/>
          <p:cNvSpPr txBox="1"/>
          <p:nvPr>
            <p:custDataLst>
              <p:tags r:id="rId2"/>
            </p:custDataLst>
          </p:nvPr>
        </p:nvSpPr>
        <p:spPr>
          <a:xfrm>
            <a:off x="2566506" y="1440180"/>
            <a:ext cx="4012637" cy="1717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800" b="1" spc="150" dirty="0" smtClean="0">
                <a:solidFill>
                  <a:srgbClr val="009FB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02</a:t>
            </a:r>
            <a:endParaRPr lang="en-US" altLang="zh-CN" sz="4800" b="1" spc="150" dirty="0">
              <a:solidFill>
                <a:srgbClr val="009FB0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800" b="1" spc="150" dirty="0" smtClean="0">
                <a:solidFill>
                  <a:srgbClr val="009FB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自信的中国人</a:t>
            </a:r>
            <a:endParaRPr lang="zh-CN" altLang="en-US" sz="4800" b="1" spc="150" dirty="0">
              <a:solidFill>
                <a:srgbClr val="009FB0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图片 103"/>
          <p:cNvPicPr/>
          <p:nvPr>
            <p:custDataLst>
              <p:tags r:id="rId1"/>
            </p:custDataLst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1960" y="843914"/>
            <a:ext cx="4739511" cy="38998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 flipV="1">
            <a:off x="827405" y="1708150"/>
            <a:ext cx="4250055" cy="2774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451004" y="1419622"/>
            <a:ext cx="3738880" cy="316835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cs typeface="楷体" panose="02010609060101010101" pitchFamily="49" charset="-122"/>
                <a:sym typeface="+mn-ea"/>
              </a:rPr>
              <a:t>  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cs typeface="楷体" panose="02010609060101010101" pitchFamily="49" charset="-122"/>
                <a:sym typeface="+mn-ea"/>
              </a:rPr>
              <a:t>据目前我国的航母成就，有军事专家评论：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cs typeface="楷体" panose="02010609060101010101" pitchFamily="49" charset="-122"/>
                <a:sym typeface="+mn-ea"/>
              </a:rPr>
              <a:t>“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cs typeface="楷体" panose="02010609060101010101" pitchFamily="49" charset="-122"/>
                <a:sym typeface="+mn-ea"/>
              </a:rPr>
              <a:t>未来我国航母发展潜力巨大。</a:t>
            </a:r>
            <a:r>
              <a:rPr lang="en-US" altLang="zh-CN" sz="2400" b="1" dirty="0" smtClean="0">
                <a:solidFill>
                  <a:srgbClr val="C00000"/>
                </a:solidFill>
                <a:latin typeface="+mn-ea"/>
                <a:ea typeface="+mn-ea"/>
                <a:cs typeface="楷体" panose="02010609060101010101" pitchFamily="49" charset="-122"/>
                <a:sym typeface="+mn-ea"/>
              </a:rPr>
              <a:t>”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  <a:cs typeface="楷体" panose="02010609060101010101" pitchFamily="49" charset="-122"/>
              <a:sym typeface="+mn-ea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cs typeface="楷体" panose="02010609060101010101" pitchFamily="49" charset="-122"/>
                <a:sym typeface="+mn-ea"/>
              </a:rPr>
              <a:t>你对我国航母的发展有信心吗？</a:t>
            </a: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cs typeface="楷体" panose="02010609060101010101" pitchFamily="49" charset="-122"/>
              <a:sym typeface="+mn-ea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cs typeface="楷体" panose="02010609060101010101" pitchFamily="49" charset="-122"/>
                <a:sym typeface="+mn-ea"/>
              </a:rPr>
              <a:t>为何会产生这种信心？</a:t>
            </a:r>
          </a:p>
        </p:txBody>
      </p:sp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611560" y="843914"/>
            <a:ext cx="1175385" cy="483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latin typeface="+mn-ea"/>
                <a:ea typeface="+mn-ea"/>
                <a:cs typeface="MiSans Bold" panose="00000800000000000000" charset="-122"/>
              </a:rPr>
              <a:t>思考：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6"/>
          <p:cNvSpPr txBox="1"/>
          <p:nvPr>
            <p:custDataLst>
              <p:tags r:id="rId1"/>
            </p:custDataLst>
          </p:nvPr>
        </p:nvSpPr>
        <p:spPr>
          <a:xfrm>
            <a:off x="683567" y="1508852"/>
            <a:ext cx="8203758" cy="3539430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lvl="0" indent="0" algn="l" fontAlgn="ctr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SzTx/>
              <a:buFont typeface="Wingdings 3" panose="05040102010807070707" charset="0"/>
              <a:buNone/>
            </a:pPr>
            <a:r>
              <a:rPr lang="zh-CN" altLang="en-US" sz="23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（</a:t>
            </a:r>
            <a:r>
              <a:rPr lang="en-US" altLang="zh-CN" sz="23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1</a:t>
            </a:r>
            <a:r>
              <a:rPr lang="zh-CN" altLang="en-US" sz="23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）根本原因</a:t>
            </a:r>
            <a:r>
              <a:rPr lang="zh-CN" altLang="en-US" sz="23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：</a:t>
            </a:r>
          </a:p>
          <a:p>
            <a:pPr marL="0" lvl="0" indent="0" algn="l" fontAlgn="ctr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SzTx/>
              <a:buFont typeface="Wingdings 3" panose="05040102010807070707" charset="0"/>
              <a:buNone/>
            </a:pPr>
            <a:r>
              <a:rPr lang="zh-CN" altLang="en-US" sz="2300" b="1" spc="160" dirty="0">
                <a:solidFill>
                  <a:schemeClr val="tx1"/>
                </a:solidFill>
                <a:uFillTx/>
                <a:latin typeface="Calibri" panose="020F0502020204030204"/>
                <a:ea typeface="黑体" panose="02010609060101010101" pitchFamily="49" charset="-122"/>
                <a:sym typeface="+mn-ea"/>
              </a:rPr>
              <a:t>①</a:t>
            </a:r>
            <a:r>
              <a:rPr lang="zh-CN" altLang="en-US" sz="2300" b="1" spc="160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中国共产党带领中国人民</a:t>
            </a:r>
            <a:r>
              <a:rPr lang="zh-CN" altLang="en-US" sz="2300" b="1" spc="160" dirty="0">
                <a:solidFill>
                  <a:srgbClr val="C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开辟了</a:t>
            </a:r>
            <a:r>
              <a:rPr lang="zh-CN" altLang="en-US" sz="2300" b="1" spc="160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中国特色社会主义</a:t>
            </a:r>
            <a:r>
              <a:rPr lang="zh-CN" altLang="en-US" sz="2300" b="1" spc="160" dirty="0">
                <a:solidFill>
                  <a:srgbClr val="C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道路</a:t>
            </a:r>
            <a:r>
              <a:rPr lang="zh-CN" altLang="en-US" sz="2300" b="1" spc="160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；</a:t>
            </a:r>
          </a:p>
          <a:p>
            <a:pPr marL="0" lvl="0" indent="0" algn="l" fontAlgn="ctr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SzTx/>
              <a:buFont typeface="Wingdings 3" panose="05040102010807070707" charset="0"/>
              <a:buNone/>
            </a:pPr>
            <a:r>
              <a:rPr lang="zh-CN" altLang="en-US" sz="2300" b="1" spc="160" dirty="0">
                <a:solidFill>
                  <a:schemeClr val="tx1"/>
                </a:solidFill>
                <a:uFillTx/>
                <a:latin typeface="Calibri" panose="020F0502020204030204"/>
                <a:ea typeface="黑体" panose="02010609060101010101" pitchFamily="49" charset="-122"/>
                <a:sym typeface="+mn-ea"/>
              </a:rPr>
              <a:t>②</a:t>
            </a:r>
            <a:r>
              <a:rPr lang="zh-CN" altLang="en-US" sz="2300" b="1" spc="160" dirty="0">
                <a:solidFill>
                  <a:srgbClr val="C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形成</a:t>
            </a:r>
            <a:r>
              <a:rPr lang="zh-CN" altLang="en-US" sz="2300" b="1" spc="160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了中国特色社会主义</a:t>
            </a:r>
            <a:r>
              <a:rPr lang="zh-CN" altLang="en-US" sz="2300" b="1" spc="160" dirty="0">
                <a:solidFill>
                  <a:srgbClr val="C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理论体系</a:t>
            </a:r>
            <a:r>
              <a:rPr lang="zh-CN" altLang="en-US" sz="2300" b="1" spc="160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；</a:t>
            </a:r>
          </a:p>
          <a:p>
            <a:pPr marL="0" lvl="0" indent="0" algn="l" fontAlgn="ctr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SzTx/>
              <a:buFont typeface="Wingdings 3" panose="05040102010807070707" charset="0"/>
              <a:buNone/>
            </a:pPr>
            <a:r>
              <a:rPr lang="zh-CN" altLang="en-US" sz="2300" b="1" spc="160" dirty="0">
                <a:solidFill>
                  <a:schemeClr val="tx1"/>
                </a:solidFill>
                <a:uFillTx/>
                <a:latin typeface="Calibri" panose="020F0502020204030204"/>
                <a:ea typeface="黑体" panose="02010609060101010101" pitchFamily="49" charset="-122"/>
                <a:sym typeface="+mn-ea"/>
              </a:rPr>
              <a:t>③</a:t>
            </a:r>
            <a:r>
              <a:rPr lang="zh-CN" altLang="en-US" sz="2300" b="1" spc="160" dirty="0">
                <a:solidFill>
                  <a:srgbClr val="C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确立了</a:t>
            </a:r>
            <a:r>
              <a:rPr lang="zh-CN" altLang="en-US" sz="2300" b="1" spc="160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中国特色社会主义</a:t>
            </a:r>
            <a:r>
              <a:rPr lang="zh-CN" altLang="en-US" sz="2300" b="1" spc="160" dirty="0">
                <a:solidFill>
                  <a:srgbClr val="C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制度</a:t>
            </a:r>
            <a:r>
              <a:rPr lang="zh-CN" altLang="en-US" sz="2300" b="1" spc="160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；</a:t>
            </a:r>
          </a:p>
          <a:p>
            <a:pPr marL="0" lvl="0" indent="0" algn="l" fontAlgn="ctr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SzTx/>
              <a:buFont typeface="Wingdings 3" panose="05040102010807070707" charset="0"/>
              <a:buNone/>
            </a:pPr>
            <a:r>
              <a:rPr lang="zh-CN" altLang="en-US" sz="2300" b="1" spc="160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④</a:t>
            </a:r>
            <a:r>
              <a:rPr lang="zh-CN" altLang="en-US" sz="2300" b="1" spc="160" dirty="0">
                <a:solidFill>
                  <a:srgbClr val="C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发展了</a:t>
            </a:r>
            <a:r>
              <a:rPr lang="zh-CN" altLang="en-US" sz="2300" b="1" spc="160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中国特色社会主义</a:t>
            </a:r>
            <a:r>
              <a:rPr lang="zh-CN" altLang="en-US" sz="2300" b="1" spc="160" dirty="0">
                <a:solidFill>
                  <a:srgbClr val="C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文化</a:t>
            </a:r>
            <a:r>
              <a:rPr lang="zh-CN" altLang="en-US" sz="2300" b="1" spc="160" dirty="0" smtClean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en-US" altLang="zh-CN" sz="2300" b="1" spc="160" dirty="0" smtClean="0">
              <a:solidFill>
                <a:schemeClr val="tx1"/>
              </a:solidFill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0" lvl="0" indent="0" algn="l" fontAlgn="ctr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SzTx/>
              <a:buFont typeface="Wingdings 3" panose="05040102010807070707" charset="0"/>
              <a:buNone/>
            </a:pPr>
            <a:r>
              <a:rPr lang="zh-CN" altLang="en-US" sz="23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（</a:t>
            </a:r>
            <a:r>
              <a:rPr lang="en-US" altLang="zh-CN" sz="23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2</a:t>
            </a:r>
            <a:r>
              <a:rPr lang="zh-CN" altLang="en-US" sz="23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）重要原因</a:t>
            </a:r>
            <a:r>
              <a:rPr lang="zh-CN" altLang="en-US" sz="23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：在党的领导下，中国特色社会主义伟大事业</a:t>
            </a:r>
            <a:r>
              <a:rPr lang="zh-CN" altLang="en-US" sz="23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不断取得新的成就</a:t>
            </a:r>
            <a:r>
              <a:rPr lang="zh-CN" altLang="en-US" sz="23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，</a:t>
            </a:r>
            <a:r>
              <a:rPr lang="zh-CN" altLang="en-US" sz="23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国家富强、民族振兴</a:t>
            </a:r>
            <a:r>
              <a:rPr lang="zh-CN" altLang="en-US" sz="23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让中国人更加自信</a:t>
            </a: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11559" y="733862"/>
            <a:ext cx="8275765" cy="8316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24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dirty="0" smtClean="0">
                <a:sym typeface="+mn-ea"/>
              </a:rPr>
              <a:t>4.</a:t>
            </a:r>
            <a:r>
              <a:rPr lang="zh-CN" altLang="en-US" dirty="0" smtClean="0">
                <a:sym typeface="+mn-ea"/>
              </a:rPr>
              <a:t>中国人</a:t>
            </a:r>
            <a:r>
              <a:rPr lang="zh-CN" altLang="en-US" dirty="0">
                <a:sym typeface="+mn-ea"/>
              </a:rPr>
              <a:t>自信的原因</a:t>
            </a:r>
            <a:r>
              <a:rPr lang="zh-CN" altLang="en-US" dirty="0" smtClean="0">
                <a:sym typeface="+mn-ea"/>
              </a:rPr>
              <a:t>？</a:t>
            </a:r>
            <a:r>
              <a:rPr lang="zh-CN" altLang="en-US" dirty="0">
                <a:cs typeface="微软雅黑" panose="020B0503020204020204" pitchFamily="34" charset="-122"/>
              </a:rPr>
              <a:t>中国自信、民族自信的底气源自</a:t>
            </a:r>
            <a:r>
              <a:rPr lang="zh-CN" altLang="en-US" dirty="0" smtClean="0">
                <a:cs typeface="微软雅黑" panose="020B0503020204020204" pitchFamily="34" charset="-122"/>
              </a:rPr>
              <a:t>哪里？</a:t>
            </a:r>
            <a:r>
              <a:rPr lang="en-US" altLang="zh-CN" dirty="0" smtClean="0">
                <a:cs typeface="微软雅黑" panose="020B0503020204020204" pitchFamily="34" charset="-122"/>
              </a:rPr>
              <a:t>/</a:t>
            </a:r>
            <a:r>
              <a:rPr lang="zh-CN" altLang="en-US" dirty="0">
                <a:cs typeface="微软雅黑" panose="020B0503020204020204" pitchFamily="34" charset="-122"/>
              </a:rPr>
              <a:t>根本所在</a:t>
            </a:r>
            <a:r>
              <a:rPr lang="zh-CN" altLang="en-US" dirty="0" smtClean="0">
                <a:cs typeface="微软雅黑" panose="020B0503020204020204" pitchFamily="34" charset="-122"/>
              </a:rPr>
              <a:t>？</a:t>
            </a:r>
            <a:endParaRPr lang="en-US" altLang="zh-CN" dirty="0">
              <a:solidFill>
                <a:srgbClr val="1D41D5"/>
              </a:solidFill>
              <a:cs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21740" y="1570446"/>
            <a:ext cx="1656184" cy="43088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+mj-ea"/>
                <a:ea typeface="+mj-ea"/>
              </a:rPr>
              <a:t>道路自信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4167" y="2362534"/>
            <a:ext cx="1440160" cy="43088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200" dirty="0"/>
              <a:t>理论自信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36096" y="2841551"/>
            <a:ext cx="1584176" cy="43088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200" dirty="0"/>
              <a:t>制度自信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6096" y="3333686"/>
            <a:ext cx="1584175" cy="43088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200" dirty="0"/>
              <a:t>文化自信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764458" y="1406371"/>
            <a:ext cx="5043279" cy="5724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ctr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SzTx/>
              <a:buFont typeface="Wingdings 3" panose="05040102010807070707" charset="0"/>
              <a:buNone/>
            </a:pPr>
            <a:r>
              <a:rPr lang="zh-CN" altLang="en-US" sz="2400" b="1" u="sng" spc="160" dirty="0">
                <a:latin typeface="+mj-ea"/>
                <a:ea typeface="+mj-ea"/>
                <a:sym typeface="+mn-ea"/>
              </a:rPr>
              <a:t>①自信的中国人</a:t>
            </a:r>
            <a:r>
              <a:rPr lang="zh-CN" altLang="en-US" sz="2400" b="1" u="sng" spc="160" dirty="0">
                <a:solidFill>
                  <a:srgbClr val="C00000"/>
                </a:solidFill>
                <a:latin typeface="+mj-ea"/>
                <a:ea typeface="+mj-ea"/>
                <a:sym typeface="+mn-ea"/>
              </a:rPr>
              <a:t>对国家有认同</a:t>
            </a:r>
            <a:r>
              <a:rPr lang="zh-CN" altLang="en-US" sz="2400" b="1" u="sng" spc="16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sym typeface="+mn-ea"/>
              </a:rPr>
              <a:t>。</a:t>
            </a:r>
          </a:p>
        </p:txBody>
      </p:sp>
      <p:sp>
        <p:nvSpPr>
          <p:cNvPr id="10" name="TextBox 19"/>
          <p:cNvSpPr txBox="1"/>
          <p:nvPr>
            <p:custDataLst>
              <p:tags r:id="rId2"/>
            </p:custDataLst>
          </p:nvPr>
        </p:nvSpPr>
        <p:spPr>
          <a:xfrm>
            <a:off x="879388" y="2067694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0" cap="none" spc="0" normalizeH="0" baseline="0" noProof="0" dirty="0">
                <a:solidFill>
                  <a:srgbClr val="C00000"/>
                </a:solidFill>
                <a:latin typeface="+mj-ea"/>
                <a:ea typeface="+mj-ea"/>
                <a:cs typeface="汉仪颜楷简" panose="02010600030101010101" charset="-122"/>
              </a:rPr>
              <a:t>“三感”</a:t>
            </a:r>
          </a:p>
        </p:txBody>
      </p:sp>
      <p:sp>
        <p:nvSpPr>
          <p:cNvPr id="4" name="TextBox 21"/>
          <p:cNvSpPr txBox="1"/>
          <p:nvPr>
            <p:custDataLst>
              <p:tags r:id="rId3"/>
            </p:custDataLst>
          </p:nvPr>
        </p:nvSpPr>
        <p:spPr>
          <a:xfrm>
            <a:off x="2861820" y="2067694"/>
            <a:ext cx="5891833" cy="1441548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 anchor="t">
            <a:spAutoFit/>
          </a:bodyPr>
          <a:lstStyle/>
          <a:p>
            <a:pPr marL="457200" indent="-457200" eaLnBrk="0" hangingPunct="0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+mj-ea"/>
                <a:ea typeface="+mj-ea"/>
              </a:rPr>
              <a:t>具有强烈的国家</a:t>
            </a:r>
            <a:r>
              <a:rPr lang="zh-CN" altLang="en-US" sz="2400" b="1" dirty="0">
                <a:solidFill>
                  <a:srgbClr val="4929E9"/>
                </a:solidFill>
                <a:latin typeface="+mj-ea"/>
                <a:ea typeface="+mj-ea"/>
              </a:rPr>
              <a:t>认同感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endParaRPr lang="en-US" altLang="zh-CN" sz="2400" b="1" dirty="0">
              <a:latin typeface="+mj-ea"/>
              <a:ea typeface="+mj-ea"/>
            </a:endParaRPr>
          </a:p>
          <a:p>
            <a:pPr marL="457200" indent="-457200" eaLnBrk="0" hangingPunct="0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+mj-ea"/>
                <a:ea typeface="+mj-ea"/>
              </a:rPr>
              <a:t>与国家民族休戚与共的</a:t>
            </a:r>
            <a:r>
              <a:rPr lang="zh-CN" altLang="en-US" sz="2400" b="1" dirty="0">
                <a:solidFill>
                  <a:srgbClr val="4929E9"/>
                </a:solidFill>
                <a:latin typeface="+mj-ea"/>
                <a:ea typeface="+mj-ea"/>
              </a:rPr>
              <a:t>责任感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</a:p>
          <a:p>
            <a:pPr marL="457200" indent="-457200" eaLnBrk="0" hangingPunct="0">
              <a:lnSpc>
                <a:spcPct val="130000"/>
              </a:lnSpc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+mj-ea"/>
                <a:ea typeface="+mj-ea"/>
              </a:rPr>
              <a:t>以天下为己任的</a:t>
            </a:r>
            <a:r>
              <a:rPr lang="zh-CN" altLang="en-US" sz="2400" b="1" dirty="0">
                <a:solidFill>
                  <a:srgbClr val="4929E9"/>
                </a:solidFill>
                <a:latin typeface="+mj-ea"/>
                <a:ea typeface="+mj-ea"/>
              </a:rPr>
              <a:t>使命感</a:t>
            </a:r>
            <a:r>
              <a:rPr lang="zh-CN" altLang="en-US" sz="2400" b="1" dirty="0">
                <a:latin typeface="+mj-ea"/>
                <a:ea typeface="+mj-ea"/>
              </a:rPr>
              <a:t>。</a:t>
            </a:r>
          </a:p>
        </p:txBody>
      </p:sp>
      <p:sp>
        <p:nvSpPr>
          <p:cNvPr id="12" name="TextBox 21"/>
          <p:cNvSpPr txBox="1"/>
          <p:nvPr>
            <p:custDataLst>
              <p:tags r:id="rId4"/>
            </p:custDataLst>
          </p:nvPr>
        </p:nvSpPr>
        <p:spPr>
          <a:xfrm>
            <a:off x="879388" y="3822247"/>
            <a:ext cx="1731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0" cap="none" spc="0" normalizeH="0" baseline="0" noProof="0" dirty="0">
                <a:solidFill>
                  <a:srgbClr val="C00000"/>
                </a:solidFill>
                <a:latin typeface="+mj-ea"/>
                <a:ea typeface="+mj-ea"/>
                <a:cs typeface="汉仪颜楷简" panose="02010600030101010101" charset="-122"/>
              </a:rPr>
              <a:t>“两自觉”</a:t>
            </a: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2861820" y="3683747"/>
            <a:ext cx="59793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 eaLnBrk="0" hangingPunct="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+mj-ea"/>
                <a:ea typeface="+mj-ea"/>
              </a:rPr>
              <a:t>能够自觉维护</a:t>
            </a:r>
            <a:r>
              <a:rPr lang="zh-CN" altLang="en-US" sz="2400" b="1" dirty="0">
                <a:solidFill>
                  <a:srgbClr val="4929E9"/>
                </a:solidFill>
                <a:latin typeface="+mj-ea"/>
                <a:ea typeface="+mj-ea"/>
              </a:rPr>
              <a:t>国家利益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zh-CN" altLang="en-US" sz="2400" b="1" dirty="0">
                <a:solidFill>
                  <a:srgbClr val="4929E9"/>
                </a:solidFill>
                <a:latin typeface="+mj-ea"/>
                <a:ea typeface="+mj-ea"/>
              </a:rPr>
              <a:t>国家尊严</a:t>
            </a:r>
            <a:r>
              <a:rPr lang="zh-CN" altLang="en-US" sz="2400" b="1" dirty="0">
                <a:latin typeface="+mj-ea"/>
                <a:ea typeface="+mj-ea"/>
              </a:rPr>
              <a:t>，</a:t>
            </a:r>
          </a:p>
          <a:p>
            <a:pPr marL="457200" indent="-457200" eaLnBrk="0" hangingPunct="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自觉维护</a:t>
            </a:r>
            <a:r>
              <a:rPr lang="zh-CN" altLang="en-US" sz="2400" b="1" dirty="0">
                <a:solidFill>
                  <a:srgbClr val="4929E9"/>
                </a:solidFill>
                <a:latin typeface="+mj-ea"/>
                <a:ea typeface="+mj-ea"/>
              </a:rPr>
              <a:t>祖国统一</a:t>
            </a: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和</a:t>
            </a:r>
            <a:r>
              <a:rPr lang="zh-CN" altLang="en-US" sz="2400" b="1" dirty="0">
                <a:solidFill>
                  <a:srgbClr val="4929E9"/>
                </a:solidFill>
                <a:latin typeface="+mj-ea"/>
                <a:ea typeface="+mj-ea"/>
              </a:rPr>
              <a:t>领土完整</a:t>
            </a:r>
            <a:r>
              <a:rPr lang="zh-CN" altLang="en-US" sz="2400" b="1" dirty="0">
                <a:latin typeface="+mj-ea"/>
                <a:ea typeface="+mj-ea"/>
              </a:rPr>
              <a:t>。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80084" y="870257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Arial" panose="020B0604020202020204"/>
              </a:rPr>
              <a:t>自信的中国人的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Arial" panose="020B0604020202020204"/>
              </a:rPr>
              <a:t>特点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Arial" panose="020B0604020202020204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4" grpId="0"/>
      <p:bldP spid="12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/>
          <p:nvPr>
            <p:custDataLst>
              <p:tags r:id="rId1"/>
            </p:custDataLst>
          </p:nvPr>
        </p:nvSpPr>
        <p:spPr>
          <a:xfrm>
            <a:off x="3406343" y="897480"/>
            <a:ext cx="2376398" cy="521110"/>
          </a:xfrm>
          <a:prstGeom prst="rect">
            <a:avLst/>
          </a:prstGeom>
          <a:solidFill>
            <a:srgbClr val="C00000"/>
          </a:solidFill>
          <a:ln>
            <a:noFill/>
            <a:miter lim="800000"/>
          </a:ln>
        </p:spPr>
        <p:txBody>
          <a:bodyPr wrap="square" lIns="89348" tIns="44675" rIns="89348" bIns="44675" anchor="ctr" anchorCtr="0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r>
              <a:rPr lang="zh-CN" altLang="en-US" sz="2800" b="1" dirty="0">
                <a:solidFill>
                  <a:schemeClr val="bg1"/>
                </a:solidFill>
                <a:ea typeface="黑体" panose="02010609060101010101" pitchFamily="49" charset="-122"/>
                <a:sym typeface="Arial" panose="020B0604020202020204" pitchFamily="34" charset="0"/>
              </a:rPr>
              <a:t>对文化有底气</a:t>
            </a:r>
          </a:p>
        </p:txBody>
      </p:sp>
      <p:pic>
        <p:nvPicPr>
          <p:cNvPr id="27652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1595" y="1635760"/>
            <a:ext cx="6525895" cy="247459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12128500" y="105664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>
            <p:custDataLst>
              <p:tags r:id="rId1"/>
            </p:custDataLst>
          </p:nvPr>
        </p:nvSpPr>
        <p:spPr>
          <a:xfrm rot="10800000" flipV="1">
            <a:off x="683568" y="915566"/>
            <a:ext cx="5681578" cy="605041"/>
          </a:xfrm>
          <a:prstGeom prst="round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91440" tIns="45720" rIns="91440" bIns="45720"/>
          <a:lstStyle/>
          <a:p>
            <a:pPr fontAlgn="base">
              <a:defRPr/>
            </a:pPr>
            <a:r>
              <a:rPr lang="en-US" altLang="zh-CN" sz="2800" b="1" dirty="0" smtClean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5.</a:t>
            </a:r>
            <a:r>
              <a:rPr lang="zh-CN" altLang="en-US" sz="2800" b="1" dirty="0" smtClean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自信的中国人表现在哪些方面？</a:t>
            </a:r>
            <a:endParaRPr lang="zh-CN" altLang="en-US" sz="2800" b="1" strike="noStrike" spc="50" noProof="0" dirty="0" smtClean="0">
              <a:ln w="11430"/>
              <a:solidFill>
                <a:schemeClr val="bg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25" name="文本框 224"/>
          <p:cNvSpPr txBox="1"/>
          <p:nvPr>
            <p:custDataLst>
              <p:tags r:id="rId2"/>
            </p:custDataLst>
          </p:nvPr>
        </p:nvSpPr>
        <p:spPr>
          <a:xfrm>
            <a:off x="827584" y="1707654"/>
            <a:ext cx="7136765" cy="2160240"/>
          </a:xfrm>
          <a:prstGeom prst="rect">
            <a:avLst/>
          </a:prstGeom>
          <a:noFill/>
          <a:ln w="34925" cmpd="sng">
            <a:noFill/>
            <a:prstDash val="sysDash"/>
          </a:ln>
        </p:spPr>
        <p:txBody>
          <a:bodyPr wrap="square" rtlCol="0">
            <a:noAutofit/>
          </a:bodyPr>
          <a:lstStyle/>
          <a:p>
            <a:pPr lvl="0" fontAlgn="auto">
              <a:lnSpc>
                <a:spcPct val="15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①自信的中国人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对国家有认同</a:t>
            </a:r>
          </a:p>
          <a:p>
            <a:pPr lvl="0" fontAlgn="auto">
              <a:lnSpc>
                <a:spcPct val="15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②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自信的中国人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对文化有底气</a:t>
            </a:r>
          </a:p>
          <a:p>
            <a:pPr lvl="0" fontAlgn="auto">
              <a:lnSpc>
                <a:spcPct val="150000"/>
              </a:lnSpc>
            </a:pP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③</a:t>
            </a:r>
            <a:r>
              <a:rPr sz="2800" b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自信的中国人</a:t>
            </a:r>
            <a:r>
              <a:rPr sz="2800" b="1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对发展有信心</a:t>
            </a:r>
            <a:r>
              <a:rPr sz="28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95419" y="1707654"/>
            <a:ext cx="8139609" cy="2973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Calibri" panose="020F0502020204030204"/>
                <a:ea typeface="黑体" panose="02010609060101010101" pitchFamily="49" charset="-122"/>
                <a:sym typeface="+mn-ea"/>
              </a:rPr>
              <a:t>①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自信不是妄自尊大，也不是故步自封。我们需要培育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理性平和、不卑不亢、开放包容的心态。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Calibri" panose="020F0502020204030204"/>
                <a:ea typeface="黑体" panose="02010609060101010101" pitchFamily="49" charset="-122"/>
                <a:sym typeface="+mn-ea"/>
              </a:rPr>
              <a:t>②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发扬实干精神。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实干才能梦想成真，辛勤劳动才能开创美好生活。</a:t>
            </a:r>
            <a:endParaRPr lang="zh-CN" altLang="en-US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Calibri" panose="020F0502020204030204"/>
                <a:ea typeface="黑体" panose="02010609060101010101" pitchFamily="49" charset="-122"/>
                <a:sym typeface="+mn-ea"/>
              </a:rPr>
              <a:t>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我们要坚定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“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四个自信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”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。（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中国特色社会主义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道路自信、理论自信、制度自信、文化自信。）</a:t>
            </a:r>
            <a:endParaRPr lang="zh-CN" altLang="en-US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 rot="10800000" flipV="1">
            <a:off x="683568" y="915566"/>
            <a:ext cx="5681578" cy="605041"/>
          </a:xfrm>
          <a:prstGeom prst="round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91440" tIns="45720" rIns="91440" bIns="45720"/>
          <a:lstStyle/>
          <a:p>
            <a:pPr fontAlgn="base">
              <a:defRPr/>
            </a:pPr>
            <a:r>
              <a:rPr lang="en-US" altLang="zh-CN" sz="2800" b="1" dirty="0" smtClean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6.</a:t>
            </a:r>
            <a:r>
              <a:rPr lang="zh-CN" altLang="en-US" sz="2800" b="1" dirty="0" smtClean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如何做自信中国人？（</a:t>
            </a:r>
            <a:r>
              <a:rPr lang="en-US" altLang="zh-CN" sz="2800" b="1" dirty="0" smtClean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P117-118</a:t>
            </a:r>
            <a:r>
              <a:rPr lang="zh-CN" altLang="en-US" sz="2800" b="1" dirty="0" smtClean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2800" b="1" strike="noStrike" spc="50" noProof="0" dirty="0" smtClean="0">
              <a:ln w="11430"/>
              <a:solidFill>
                <a:schemeClr val="bg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左大括号 19"/>
          <p:cNvSpPr/>
          <p:nvPr>
            <p:custDataLst>
              <p:tags r:id="rId1"/>
            </p:custDataLst>
          </p:nvPr>
        </p:nvSpPr>
        <p:spPr>
          <a:xfrm>
            <a:off x="4169018" y="1401762"/>
            <a:ext cx="186957" cy="701187"/>
          </a:xfrm>
          <a:prstGeom prst="leftBrace">
            <a:avLst>
              <a:gd name="adj1" fmla="val 50686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dirty="0">
              <a:ea typeface="黑体" panose="02010609060101010101" pitchFamily="49" charset="-122"/>
              <a:sym typeface="+mn-ea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10915" y="1271993"/>
            <a:ext cx="2838774" cy="2571989"/>
            <a:chOff x="335" y="1565"/>
            <a:chExt cx="5977" cy="7314"/>
          </a:xfrm>
        </p:grpSpPr>
        <p:sp>
          <p:nvSpPr>
            <p:cNvPr id="10" name="文本框 9"/>
            <p:cNvSpPr txBox="1"/>
            <p:nvPr>
              <p:custDataLst>
                <p:tags r:id="rId6"/>
              </p:custDataLst>
            </p:nvPr>
          </p:nvSpPr>
          <p:spPr>
            <a:xfrm>
              <a:off x="335" y="2183"/>
              <a:ext cx="939" cy="6513"/>
            </a:xfrm>
            <a:prstGeom prst="round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共圆中国梦</a:t>
              </a:r>
            </a:p>
          </p:txBody>
        </p:sp>
        <p:sp>
          <p:nvSpPr>
            <p:cNvPr id="11" name="文本框 10"/>
            <p:cNvSpPr txBox="1"/>
            <p:nvPr>
              <p:custDataLst>
                <p:tags r:id="rId7"/>
              </p:custDataLst>
            </p:nvPr>
          </p:nvSpPr>
          <p:spPr>
            <a:xfrm>
              <a:off x="1463" y="1565"/>
              <a:ext cx="4379" cy="236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圆梦大舞台</a:t>
              </a:r>
            </a:p>
          </p:txBody>
        </p:sp>
        <p:sp>
          <p:nvSpPr>
            <p:cNvPr id="19" name="左大括号 18"/>
            <p:cNvSpPr/>
            <p:nvPr>
              <p:custDataLst>
                <p:tags r:id="rId8"/>
              </p:custDataLst>
            </p:nvPr>
          </p:nvSpPr>
          <p:spPr>
            <a:xfrm>
              <a:off x="1684" y="2954"/>
              <a:ext cx="247" cy="4972"/>
            </a:xfrm>
            <a:prstGeom prst="leftBrace">
              <a:avLst>
                <a:gd name="adj1" fmla="val 131498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ea typeface="黑体" panose="02010609060101010101" pitchFamily="49" charset="-122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9"/>
              </p:custDataLst>
            </p:nvPr>
          </p:nvSpPr>
          <p:spPr>
            <a:xfrm>
              <a:off x="1525" y="6516"/>
              <a:ext cx="4787" cy="236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自信的中国人</a:t>
              </a:r>
            </a:p>
          </p:txBody>
        </p:sp>
      </p:grpSp>
      <p:sp>
        <p:nvSpPr>
          <p:cNvPr id="27" name="左大括号 26"/>
          <p:cNvSpPr/>
          <p:nvPr>
            <p:custDataLst>
              <p:tags r:id="rId3"/>
            </p:custDataLst>
          </p:nvPr>
        </p:nvSpPr>
        <p:spPr>
          <a:xfrm>
            <a:off x="4181608" y="3189109"/>
            <a:ext cx="174367" cy="819150"/>
          </a:xfrm>
          <a:prstGeom prst="leftBrace">
            <a:avLst>
              <a:gd name="adj1" fmla="val 19713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dirty="0"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4355975" y="1008871"/>
            <a:ext cx="3819604" cy="15113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indent="0">
              <a:lnSpc>
                <a:spcPct val="6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indent="0">
              <a:lnSpc>
                <a:spcPct val="6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Arial" panose="020B0604020202020204" pitchFamily="34" charset="0"/>
              </a:rPr>
              <a:t>1.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Arial" panose="020B0604020202020204" pitchFamily="34" charset="0"/>
              </a:rPr>
              <a:t>知道如何实现中国梦</a:t>
            </a:r>
          </a:p>
          <a:p>
            <a:pPr indent="0">
              <a:lnSpc>
                <a:spcPct val="6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indent="0">
              <a:lnSpc>
                <a:spcPct val="6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Arial" panose="020B0604020202020204" pitchFamily="34" charset="0"/>
              </a:rPr>
              <a:t>2.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Arial" panose="020B0604020202020204" pitchFamily="34" charset="0"/>
              </a:rPr>
              <a:t>新时代需要奋斗的原因</a:t>
            </a:r>
          </a:p>
          <a:p>
            <a:pPr indent="0">
              <a:lnSpc>
                <a:spcPct val="6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4436771" y="3046680"/>
            <a:ext cx="3718984" cy="132526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70000"/>
              </a:lnSpc>
            </a:pPr>
            <a:r>
              <a:rPr lang="en-US" altLang="zh-CN" sz="2400" b="1" kern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ea"/>
                <a:sym typeface="+mn-ea"/>
              </a:rPr>
              <a:t>1.</a:t>
            </a:r>
            <a:r>
              <a:rPr lang="zh-CN" altLang="en-US" sz="2400" b="1" kern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ea"/>
                <a:sym typeface="+mn-ea"/>
              </a:rPr>
              <a:t>中国人自信的原因</a:t>
            </a:r>
          </a:p>
          <a:p>
            <a:pPr>
              <a:lnSpc>
                <a:spcPct val="70000"/>
              </a:lnSpc>
            </a:pPr>
            <a:endParaRPr lang="en-US" altLang="zh-CN" sz="2400" b="1" kern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ea"/>
              <a:sym typeface="+mn-ea"/>
            </a:endParaRPr>
          </a:p>
          <a:p>
            <a:pPr>
              <a:lnSpc>
                <a:spcPct val="70000"/>
              </a:lnSpc>
            </a:pPr>
            <a:r>
              <a:rPr lang="en-US" altLang="zh-CN" sz="2400" b="1" kern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ea"/>
                <a:sym typeface="+mn-ea"/>
              </a:rPr>
              <a:t>2.</a:t>
            </a:r>
            <a:r>
              <a:rPr lang="zh-CN" altLang="en-US" sz="2400" b="1" kern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ea"/>
                <a:sym typeface="+mn-ea"/>
              </a:rPr>
              <a:t>自信中国人的表现</a:t>
            </a:r>
          </a:p>
          <a:p>
            <a:pPr>
              <a:lnSpc>
                <a:spcPct val="70000"/>
              </a:lnSpc>
            </a:pPr>
            <a:endParaRPr lang="en-US" altLang="zh-CN" sz="2400" b="1" kern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ea"/>
              <a:sym typeface="+mn-ea"/>
            </a:endParaRPr>
          </a:p>
          <a:p>
            <a:pPr>
              <a:lnSpc>
                <a:spcPct val="70000"/>
              </a:lnSpc>
            </a:pPr>
            <a:r>
              <a:rPr lang="en-US" altLang="zh-CN" sz="2400" b="1" kern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ea"/>
                <a:sym typeface="+mn-ea"/>
              </a:rPr>
              <a:t>3.</a:t>
            </a:r>
            <a:r>
              <a:rPr lang="zh-CN" altLang="en-US" sz="2400" b="1" kern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ea"/>
                <a:sym typeface="+mn-ea"/>
              </a:rPr>
              <a:t>如何做自信中国人</a:t>
            </a:r>
          </a:p>
          <a:p>
            <a:endParaRPr lang="zh-CN" altLang="en-US" sz="2400" b="1" kern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ea"/>
              <a:sym typeface="+mn-ea"/>
            </a:endParaRPr>
          </a:p>
          <a:p>
            <a:endParaRPr lang="zh-CN" altLang="en-US" sz="2400" b="1" kern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ea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11560" y="776386"/>
            <a:ext cx="8352928" cy="39333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dirty="0">
                <a:ea typeface="黑体" panose="02010609060101010101" pitchFamily="49" charset="-122"/>
              </a:rPr>
              <a:t>1.“中国力量”，归根结底还是人民的力量。“全国各族人民一定要牢记使命，心往一处想，劲往一处使，用十三亿人的智慧和力量汇集起不可战胜的磅礴力量。”这说明(　　)</a:t>
            </a:r>
          </a:p>
          <a:p>
            <a:pPr algn="just">
              <a:lnSpc>
                <a:spcPct val="130000"/>
              </a:lnSpc>
            </a:pPr>
            <a:r>
              <a:rPr lang="zh-CN" altLang="en-US" sz="2400" dirty="0">
                <a:ea typeface="黑体" panose="02010609060101010101" pitchFamily="49" charset="-122"/>
              </a:rPr>
              <a:t>①中国力量就是全国各族人民大团结的力量 </a:t>
            </a:r>
          </a:p>
          <a:p>
            <a:pPr algn="just">
              <a:lnSpc>
                <a:spcPct val="130000"/>
              </a:lnSpc>
            </a:pPr>
            <a:r>
              <a:rPr lang="zh-CN" altLang="en-US" sz="2400" dirty="0">
                <a:ea typeface="黑体" panose="02010609060101010101" pitchFamily="49" charset="-122"/>
              </a:rPr>
              <a:t>②人民是历史的创造者，是梦想的实现者</a:t>
            </a:r>
          </a:p>
          <a:p>
            <a:pPr algn="just">
              <a:lnSpc>
                <a:spcPct val="130000"/>
              </a:lnSpc>
            </a:pPr>
            <a:r>
              <a:rPr lang="zh-CN" altLang="en-US" sz="2400" dirty="0">
                <a:ea typeface="黑体" panose="02010609060101010101" pitchFamily="49" charset="-122"/>
              </a:rPr>
              <a:t>③个人的力量对于实现中国梦是可有可无的 </a:t>
            </a:r>
          </a:p>
          <a:p>
            <a:pPr algn="just">
              <a:lnSpc>
                <a:spcPct val="130000"/>
              </a:lnSpc>
            </a:pPr>
            <a:r>
              <a:rPr lang="zh-CN" altLang="en-US" sz="2400" dirty="0">
                <a:ea typeface="黑体" panose="02010609060101010101" pitchFamily="49" charset="-122"/>
              </a:rPr>
              <a:t>④实现中国梦必须凝聚中国力量</a:t>
            </a:r>
          </a:p>
          <a:p>
            <a:pPr algn="just">
              <a:lnSpc>
                <a:spcPct val="130000"/>
              </a:lnSpc>
            </a:pPr>
            <a:r>
              <a:rPr lang="zh-CN" altLang="en-US" sz="2400" dirty="0">
                <a:ea typeface="黑体" panose="02010609060101010101" pitchFamily="49" charset="-122"/>
              </a:rPr>
              <a:t>A．①②③     B．②③④     C．①②④     D．①③</a:t>
            </a:r>
            <a:r>
              <a:rPr lang="zh-CN" altLang="en-US" sz="2400" dirty="0" smtClean="0">
                <a:ea typeface="黑体" panose="02010609060101010101" pitchFamily="49" charset="-122"/>
              </a:rPr>
              <a:t>④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07127" y="1754168"/>
            <a:ext cx="338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/>
      <p:bldP spid="6" grpId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97456" y="915566"/>
            <a:ext cx="8352928" cy="20128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dirty="0">
                <a:ea typeface="黑体" panose="02010609060101010101" pitchFamily="49" charset="-122"/>
              </a:rPr>
              <a:t>2.实现中国梦必须弘扬中国精神。中国精神就是(   </a:t>
            </a:r>
            <a:r>
              <a:rPr lang="zh-CN" altLang="en-US" sz="2400" dirty="0" smtClean="0">
                <a:ea typeface="黑体" panose="02010609060101010101" pitchFamily="49" charset="-122"/>
              </a:rPr>
              <a:t>     </a:t>
            </a:r>
            <a:r>
              <a:rPr lang="zh-CN" altLang="en-US" sz="2400" dirty="0">
                <a:ea typeface="黑体" panose="02010609060101010101" pitchFamily="49" charset="-122"/>
              </a:rPr>
              <a:t>)</a:t>
            </a:r>
          </a:p>
          <a:p>
            <a:pPr algn="just">
              <a:lnSpc>
                <a:spcPct val="130000"/>
              </a:lnSpc>
            </a:pPr>
            <a:r>
              <a:rPr lang="zh-CN" altLang="en-US" sz="2400" dirty="0">
                <a:ea typeface="黑体" panose="02010609060101010101" pitchFamily="49" charset="-122"/>
              </a:rPr>
              <a:t>①民族精神        ②时代精神   </a:t>
            </a:r>
          </a:p>
          <a:p>
            <a:pPr algn="just">
              <a:lnSpc>
                <a:spcPct val="130000"/>
              </a:lnSpc>
            </a:pPr>
            <a:r>
              <a:rPr lang="zh-CN" altLang="en-US" sz="2400" dirty="0">
                <a:ea typeface="黑体" panose="02010609060101010101" pitchFamily="49" charset="-122"/>
              </a:rPr>
              <a:t>③奥运精神        ④雷锋精神</a:t>
            </a:r>
          </a:p>
          <a:p>
            <a:pPr algn="just">
              <a:lnSpc>
                <a:spcPct val="130000"/>
              </a:lnSpc>
            </a:pPr>
            <a:r>
              <a:rPr lang="zh-CN" altLang="en-US" sz="2400" dirty="0">
                <a:ea typeface="黑体" panose="02010609060101010101" pitchFamily="49" charset="-122"/>
              </a:rPr>
              <a:t>A.①②            B.②③  </a:t>
            </a:r>
            <a:r>
              <a:rPr lang="zh-CN" altLang="en-US" sz="2400" dirty="0" smtClean="0">
                <a:ea typeface="黑体" panose="02010609060101010101" pitchFamily="49" charset="-122"/>
              </a:rPr>
              <a:t>           </a:t>
            </a:r>
            <a:r>
              <a:rPr lang="zh-CN" altLang="en-US" sz="2400" dirty="0">
                <a:ea typeface="黑体" panose="02010609060101010101" pitchFamily="49" charset="-122"/>
              </a:rPr>
              <a:t>C.①③            D.②④</a:t>
            </a:r>
          </a:p>
        </p:txBody>
      </p:sp>
      <p:sp>
        <p:nvSpPr>
          <p:cNvPr id="3" name="文本框 4"/>
          <p:cNvSpPr txBox="1"/>
          <p:nvPr/>
        </p:nvSpPr>
        <p:spPr>
          <a:xfrm>
            <a:off x="7274396" y="939592"/>
            <a:ext cx="338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1"/>
          <p:cNvSpPr txBox="1"/>
          <p:nvPr/>
        </p:nvSpPr>
        <p:spPr>
          <a:xfrm>
            <a:off x="1835696" y="2036873"/>
            <a:ext cx="5400893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基础型作业：梳理本节课知识整理。</a:t>
            </a: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发展型作业：完成课时练习。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48169" y="3294106"/>
            <a:ext cx="7247667" cy="16201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板： 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材： 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/</a:t>
            </a:r>
            <a:endParaRPr lang="en-US" altLang="zh-CN" sz="12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表： 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Excel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件： 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2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248707"/>
            <a:ext cx="9144000" cy="1025122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396308" y="2323010"/>
            <a:ext cx="4103687" cy="896813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可以在下列情况使用</a:t>
            </a:r>
            <a:endParaRPr lang="zh-CN" altLang="en-US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人学习、研究。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572000" y="2323010"/>
            <a:ext cx="4103688" cy="896813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不可以在以下情况使用</a:t>
            </a:r>
            <a:endParaRPr lang="zh-CN" altLang="en-US" sz="1050" b="1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任何形式的在线付费下载。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刻录光碟销售。</a:t>
            </a:r>
            <a:endParaRPr lang="zh-CN" altLang="en-GB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106" y="267184"/>
            <a:ext cx="5919787" cy="1764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513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3cb5ca4-3200-47ea-8909-9a8b1196cda9"/>
  <p:tag name="COMMONDATA" val="eyJoZGlkIjoiNzY0YmM2NDNlODZiMzkwNDZkNDY0OTExYmY4ODNlODMifQ=="/>
  <p:tag name="commondata" val="eyJoZGlkIjoiMDc0YmVkNzIyYTUyMGViMjlkZjRjOWNkOGFjNWZiMm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08"/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0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0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8"/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38"/>
  <p:tag name="KSO_WM_BEAUTIFY_FLAG" val=""/>
  <p:tag name="KSO_WM_TAG_VERSION" val="1.0"/>
  <p:tag name="KSO_WM_TEMPLATE_CATEGORY" val="custom"/>
  <p:tag name="KSO_WM_TEMPLATE_INDEX" val="20180678"/>
  <p:tag name="KSO_WM_UNIT_COMPATIBLE" val="0"/>
  <p:tag name="KSO_WM_UNIT_DIAGRAM_ISNUMVISUAL" val="0"/>
  <p:tag name="KSO_WM_UNIT_DIAGRAM_ISREFERUNIT" val="0"/>
  <p:tag name="KSO_WM_UNIT_HIGHLIGHT" val="0"/>
  <p:tag name="KSO_WM_UNIT_ID" val="custom20180678_24*a*1"/>
  <p:tag name="KSO_WM_UNIT_INDEX" val="1"/>
  <p:tag name="KSO_WM_UNIT_ISCONTENTSTITLE" val="0"/>
  <p:tag name="KSO_WM_UNIT_LAYERLEVEL" val="1"/>
  <p:tag name="KSO_WM_UNIT_NOCLEAR" val="0"/>
  <p:tag name="KSO_WM_UNIT_PRESET_TEXT" val="请在此输入您的标题"/>
  <p:tag name="KSO_WM_UNIT_TYPE" val="a"/>
  <p:tag name="KSO_WM_UNIT_VALUE" val="3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"/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33"/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34"/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25"/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79"/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80"/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7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8"/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9"/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0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0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16"/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17"/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18"/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20"/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18"/>
  <p:tag name="KSO_WM_BEAUTIFY_FLAG" val=""/>
  <p:tag name="KSO_WM_TAG_VERSION" val="1.0"/>
  <p:tag name="KSO_WM_TEMPLATE_CATEGORY" val="mixed"/>
  <p:tag name="KSO_WM_TEMPLATE_INDEX" val="20201941"/>
  <p:tag name="KSO_WM_UNIT_COMPATIBLE" val="0"/>
  <p:tag name="KSO_WM_UNIT_DIAGRAM_ISNUMVISUAL" val="0"/>
  <p:tag name="KSO_WM_UNIT_DIAGRAM_ISREFERUNIT" val="0"/>
  <p:tag name="KSO_WM_UNIT_HIGHLIGHT" val="0"/>
  <p:tag name="KSO_WM_UNIT_ID" val="mixed20201941_419*f*1"/>
  <p:tag name="KSO_WM_UNIT_LAYERLEVEL" val="1"/>
  <p:tag name="KSO_WM_UNIT_NOCLEAR" val="1"/>
  <p:tag name="KSO_WM_UNIT_PRESET_TEXT" val="点击此处添加正文，文字是您思想的提炼，为了演示发布的良好效果，请言简意赅的阐述您的观点。&#10;您的正文已经经简明扼要，字字珠玑，但信息却千丝万缕、错综复杂，需要用更多。"/>
  <p:tag name="KSO_WM_UNIT_TEXTBOXSTYLE_GUID" val="{ef48886c-c533-4936-8379-96c4865862d4}"/>
  <p:tag name="KSO_WM_UNIT_TEXTBOXSTYLE_SHAPETYPE" val="0"/>
  <p:tag name="KSO_WM_UNIT_TEXTBOXSTYLE_TEMPLATEID" val="3135609"/>
  <p:tag name="KSO_WM_UNIT_TEXTBOXSTYLE_TEMPLATETYPE" val="1"/>
  <p:tag name="KSO_WM_UNIT_TEXTBOXSTYLE_TYPE" val="8"/>
  <p:tag name="KSO_WM_UNIT_VALUE" val="5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65"/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91"/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4"/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3"/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5"/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6"/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5"/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25"/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27"/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76"/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07"/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33"/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94"/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07"/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2"/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1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"/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13"/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14"/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"/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"/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"/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"/>
  <p:tag name="KSO_WM_BEAUTIFY_FLAG" val=""/>
</p:tagLst>
</file>

<file path=ppt/theme/theme1.xml><?xml version="1.0" encoding="utf-8"?>
<a:theme xmlns:a="http://schemas.openxmlformats.org/drawingml/2006/main" name="第一PPT模板网-WWW.1PPT.COM">
  <a:themeElements>
    <a:clrScheme name="自定义 15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2B3C5"/>
      </a:accent1>
      <a:accent2>
        <a:srgbClr val="F07474"/>
      </a:accent2>
      <a:accent3>
        <a:srgbClr val="FFBF53"/>
      </a:accent3>
      <a:accent4>
        <a:srgbClr val="673B77"/>
      </a:accent4>
      <a:accent5>
        <a:srgbClr val="00B9FA"/>
      </a:accent5>
      <a:accent6>
        <a:srgbClr val="BECE37"/>
      </a:accent6>
      <a:hlink>
        <a:srgbClr val="B381D9"/>
      </a:hlink>
      <a:folHlink>
        <a:srgbClr val="800080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>
          <a:noFill/>
        </a:ln>
        <a:effectLst>
          <a:outerShdw blurRad="444500" dist="254000" dir="8100000" algn="tr" rotWithShape="0">
            <a:prstClr val="black">
              <a:alpha val="5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1794</Words>
  <Application>Microsoft Office PowerPoint</Application>
  <PresentationFormat>全屏显示(16:9)</PresentationFormat>
  <Paragraphs>118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宋体</vt:lpstr>
      <vt:lpstr>微软雅黑</vt:lpstr>
      <vt:lpstr>Times New Roman</vt:lpstr>
      <vt:lpstr>Wingdings</vt:lpstr>
      <vt:lpstr>汉仪颜楷简</vt:lpstr>
      <vt:lpstr>楷体</vt:lpstr>
      <vt:lpstr>Wingdings 3</vt:lpstr>
      <vt:lpstr>Calibri</vt:lpstr>
      <vt:lpstr>黑体</vt:lpstr>
      <vt:lpstr>MiSans Bold</vt:lpstr>
      <vt:lpstr>Impact</vt:lpstr>
      <vt:lpstr>第一PPT模板网-WWW.1PPT.COM</vt:lpstr>
      <vt:lpstr>自定义设计方案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第一PPT模板网-WWW.1PPT.COM</dc:title>
  <dc:creator>第一PPT模板网-WWW.1PPT.COM</dc:creator>
  <cp:lastModifiedBy>123</cp:lastModifiedBy>
  <cp:revision>738</cp:revision>
  <dcterms:created xsi:type="dcterms:W3CDTF">2018-11-06T06:39:00Z</dcterms:created>
  <dcterms:modified xsi:type="dcterms:W3CDTF">2024-08-12T08:30:39Z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1DAA70FA7E1E4055B0B781FF9F41E698_13</vt:lpwstr>
  </property>
</Properties>
</file>