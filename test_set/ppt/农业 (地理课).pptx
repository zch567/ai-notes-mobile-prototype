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27"/>
  </p:notesMasterIdLst>
  <p:handoutMasterIdLst>
    <p:handoutMasterId r:id="rId28"/>
  </p:handoutMasterIdLst>
  <p:sldIdLst>
    <p:sldId id="524" r:id="rId3"/>
    <p:sldId id="507" r:id="rId4"/>
    <p:sldId id="690" r:id="rId5"/>
    <p:sldId id="691" r:id="rId6"/>
    <p:sldId id="692" r:id="rId7"/>
    <p:sldId id="693" r:id="rId8"/>
    <p:sldId id="688" r:id="rId9"/>
    <p:sldId id="710" r:id="rId10"/>
    <p:sldId id="689" r:id="rId11"/>
    <p:sldId id="683" r:id="rId12"/>
    <p:sldId id="684" r:id="rId13"/>
    <p:sldId id="680" r:id="rId14"/>
    <p:sldId id="696" r:id="rId15"/>
    <p:sldId id="697" r:id="rId16"/>
    <p:sldId id="695" r:id="rId17"/>
    <p:sldId id="675" r:id="rId18"/>
    <p:sldId id="676" r:id="rId19"/>
    <p:sldId id="698" r:id="rId20"/>
    <p:sldId id="677" r:id="rId21"/>
    <p:sldId id="601" r:id="rId22"/>
    <p:sldId id="602" r:id="rId23"/>
    <p:sldId id="603" r:id="rId24"/>
    <p:sldId id="633" r:id="rId25"/>
    <p:sldId id="711" r:id="rId26"/>
  </p:sldIdLst>
  <p:sldSz cx="12192000" cy="6858000"/>
  <p:notesSz cx="7104063" cy="10234613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1" orient="horz" pos="21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" initials="M" lastIdx="2" clrIdx="0"/>
  <p:cmAuthor id="2" name="微软用户" initials="微" lastIdx="3" clrIdx="1"/>
  <p:cmAuthor id="3" name="User" initials="U" lastIdx="4" clrIdx="2"/>
  <p:cmAuthor id="4" name="wei" initials="w" lastIdx="5" clrIdx="3"/>
  <p:cmAuthor id="5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8C"/>
    <a:srgbClr val="FFE600"/>
    <a:srgbClr val="1D12F2"/>
    <a:srgbClr val="FFFFFF"/>
    <a:srgbClr val="94C3F2"/>
    <a:srgbClr val="7E7E7E"/>
    <a:srgbClr val="061F3E"/>
    <a:srgbClr val="172A88"/>
    <a:srgbClr val="107392"/>
    <a:srgbClr val="1519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2" autoAdjust="0"/>
    <p:restoredTop sz="88054" autoAdjust="0"/>
  </p:normalViewPr>
  <p:slideViewPr>
    <p:cSldViewPr snapToGrid="0" showGuides="1">
      <p:cViewPr>
        <p:scale>
          <a:sx n="100" d="100"/>
          <a:sy n="100" d="100"/>
        </p:scale>
        <p:origin x="-774" y="-432"/>
      </p:cViewPr>
      <p:guideLst>
        <p:guide orient="horz" pos="2160"/>
        <p:guide orient="horz" pos="218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2024/9/2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009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2024/9/2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31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新课导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/>
          <p:nvPr userDrawn="1"/>
        </p:nvSpPr>
        <p:spPr>
          <a:xfrm>
            <a:off x="829184" y="129144"/>
            <a:ext cx="2208245" cy="584773"/>
          </a:xfrm>
          <a:prstGeom prst="rect">
            <a:avLst/>
          </a:prstGeom>
          <a:noFill/>
        </p:spPr>
        <p:txBody>
          <a:bodyPr wrap="square" lIns="91422" tIns="45718" rIns="91422" bIns="45718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新课导入</a:t>
            </a: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92112" y="260648"/>
            <a:ext cx="2247504" cy="473103"/>
            <a:chOff x="392112" y="375411"/>
            <a:chExt cx="2247503" cy="473102"/>
          </a:xfrm>
        </p:grpSpPr>
        <p:sp>
          <p:nvSpPr>
            <p:cNvPr id="6" name="菱形 5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3175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3" y="932723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温故知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/>
          <p:nvPr userDrawn="1"/>
        </p:nvSpPr>
        <p:spPr>
          <a:xfrm>
            <a:off x="829184" y="129144"/>
            <a:ext cx="2208245" cy="584773"/>
          </a:xfrm>
          <a:prstGeom prst="rect">
            <a:avLst/>
          </a:prstGeom>
          <a:noFill/>
        </p:spPr>
        <p:txBody>
          <a:bodyPr wrap="square" lIns="91422" tIns="45718" rIns="91422" bIns="45718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温故知新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92112" y="260648"/>
            <a:ext cx="2247504" cy="473103"/>
            <a:chOff x="392112" y="375411"/>
            <a:chExt cx="2247503" cy="473102"/>
          </a:xfrm>
        </p:grpSpPr>
        <p:sp>
          <p:nvSpPr>
            <p:cNvPr id="6" name="菱形 5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3175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3" y="932723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探究新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/>
          <p:nvPr userDrawn="1"/>
        </p:nvSpPr>
        <p:spPr>
          <a:xfrm>
            <a:off x="829184" y="129144"/>
            <a:ext cx="2208245" cy="584773"/>
          </a:xfrm>
          <a:prstGeom prst="rect">
            <a:avLst/>
          </a:prstGeom>
          <a:noFill/>
        </p:spPr>
        <p:txBody>
          <a:bodyPr wrap="square" lIns="91422" tIns="45718" rIns="91422" bIns="45718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探究新知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92112" y="260648"/>
            <a:ext cx="2247504" cy="473103"/>
            <a:chOff x="392112" y="375411"/>
            <a:chExt cx="2247503" cy="473102"/>
          </a:xfrm>
        </p:grpSpPr>
        <p:sp>
          <p:nvSpPr>
            <p:cNvPr id="6" name="菱形 5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3175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3" y="932723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拓展提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/>
          <p:nvPr userDrawn="1"/>
        </p:nvSpPr>
        <p:spPr>
          <a:xfrm>
            <a:off x="829184" y="129144"/>
            <a:ext cx="2208245" cy="584773"/>
          </a:xfrm>
          <a:prstGeom prst="rect">
            <a:avLst/>
          </a:prstGeom>
          <a:noFill/>
        </p:spPr>
        <p:txBody>
          <a:bodyPr wrap="square" lIns="91422" tIns="45718" rIns="91422" bIns="45718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拓展提升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92112" y="260648"/>
            <a:ext cx="2247504" cy="473103"/>
            <a:chOff x="392112" y="375411"/>
            <a:chExt cx="2247503" cy="473102"/>
          </a:xfrm>
        </p:grpSpPr>
        <p:sp>
          <p:nvSpPr>
            <p:cNvPr id="6" name="菱形 5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3175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3" y="932723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随堂练习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/>
          <p:nvPr userDrawn="1"/>
        </p:nvSpPr>
        <p:spPr>
          <a:xfrm>
            <a:off x="829184" y="129144"/>
            <a:ext cx="2208245" cy="584773"/>
          </a:xfrm>
          <a:prstGeom prst="rect">
            <a:avLst/>
          </a:prstGeom>
          <a:noFill/>
        </p:spPr>
        <p:txBody>
          <a:bodyPr wrap="square" lIns="91422" tIns="45718" rIns="91422" bIns="45718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随堂练习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92112" y="260648"/>
            <a:ext cx="2247504" cy="473103"/>
            <a:chOff x="392112" y="375411"/>
            <a:chExt cx="2247503" cy="473102"/>
          </a:xfrm>
        </p:grpSpPr>
        <p:sp>
          <p:nvSpPr>
            <p:cNvPr id="6" name="菱形 5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3175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3" y="932723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课堂小结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5"/>
          <p:cNvSpPr txBox="1"/>
          <p:nvPr userDrawn="1"/>
        </p:nvSpPr>
        <p:spPr>
          <a:xfrm>
            <a:off x="829184" y="129144"/>
            <a:ext cx="2208245" cy="584773"/>
          </a:xfrm>
          <a:prstGeom prst="rect">
            <a:avLst/>
          </a:prstGeom>
          <a:noFill/>
        </p:spPr>
        <p:txBody>
          <a:bodyPr wrap="square" lIns="91422" tIns="45718" rIns="91422" bIns="45718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课堂小结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92112" y="260648"/>
            <a:ext cx="2247504" cy="473103"/>
            <a:chOff x="392112" y="375411"/>
            <a:chExt cx="2247503" cy="473102"/>
          </a:xfrm>
        </p:grpSpPr>
        <p:sp>
          <p:nvSpPr>
            <p:cNvPr id="6" name="菱形 5"/>
            <p:cNvSpPr/>
            <p:nvPr>
              <p:custDataLst>
                <p:tags r:id="rId2"/>
              </p:custDataLst>
            </p:nvPr>
          </p:nvSpPr>
          <p:spPr>
            <a:xfrm>
              <a:off x="392112" y="375411"/>
              <a:ext cx="384000" cy="384000"/>
            </a:xfrm>
            <a:prstGeom prst="diamond">
              <a:avLst/>
            </a:prstGeom>
            <a:solidFill>
              <a:srgbClr val="009FB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kumimoji="1" lang="zh-CN" altLang="en-US" sz="100" strike="noStrike" noProof="1">
                <a:ln>
                  <a:solidFill>
                    <a:srgbClr val="E6A774"/>
                  </a:solidFill>
                </a:ln>
                <a:solidFill>
                  <a:srgbClr val="E6A774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3"/>
              </p:custDataLst>
            </p:nvPr>
          </p:nvCxnSpPr>
          <p:spPr>
            <a:xfrm>
              <a:off x="421415" y="848513"/>
              <a:ext cx="2218200" cy="0"/>
            </a:xfrm>
            <a:prstGeom prst="line">
              <a:avLst/>
            </a:prstGeom>
            <a:ln w="31750">
              <a:solidFill>
                <a:srgbClr val="009F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 userDrawn="1">
            <p:custDataLst>
              <p:tags r:id="rId1"/>
            </p:custDataLst>
          </p:nvPr>
        </p:nvCxnSpPr>
        <p:spPr>
          <a:xfrm>
            <a:off x="3" y="932723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横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>
            <p:custDataLst>
              <p:tags r:id="rId1"/>
            </p:custDataLst>
          </p:nvPr>
        </p:nvCxnSpPr>
        <p:spPr>
          <a:xfrm>
            <a:off x="3" y="932723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ea typeface="黑体" panose="02010609060101010101" pitchFamily="49" charset="-122"/>
              </a:defRPr>
            </a:lvl1pPr>
            <a:lvl2pPr>
              <a:defRPr>
                <a:ea typeface="黑体" panose="02010609060101010101" pitchFamily="49" charset="-122"/>
              </a:defRPr>
            </a:lvl2pPr>
            <a:lvl3pPr>
              <a:defRPr>
                <a:ea typeface="黑体" panose="02010609060101010101" pitchFamily="49" charset="-122"/>
              </a:defRPr>
            </a:lvl3pPr>
            <a:lvl4pPr>
              <a:defRPr>
                <a:ea typeface="黑体" panose="02010609060101010101" pitchFamily="49" charset="-122"/>
              </a:defRPr>
            </a:lvl4pPr>
            <a:lvl5pPr>
              <a:defRPr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黑体" panose="02010609060101010101" pitchFamily="49" charset="-122"/>
              </a:defRPr>
            </a:lvl1pPr>
          </a:lstStyle>
          <a:p>
            <a:fld id="{A67868E7-1ED2-4562-B205-C64EEFEE9AB8}" type="datetimeFigureOut">
              <a:rPr lang="zh-CN" altLang="en-US" smtClean="0"/>
              <a:t>2024/9/2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黑体" panose="02010609060101010101" pitchFamily="49" charset="-122"/>
              </a:defRPr>
            </a:lvl1pPr>
          </a:lstStyle>
          <a:p>
            <a:fld id="{1A8628EB-CB48-4042-A2FF-A972927195BC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138526"/>
            <a:ext cx="12192000" cy="0"/>
          </a:xfrm>
          <a:prstGeom prst="line">
            <a:avLst/>
          </a:prstGeom>
          <a:ln w="44450">
            <a:solidFill>
              <a:srgbClr val="E0F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5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013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504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846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38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701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788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86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819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358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07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2085" indent="-172085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985" indent="-172085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770" algn="l"/>
          <a:tab pos="1207770" algn="l"/>
          <a:tab pos="1207770" algn="l"/>
          <a:tab pos="1207770" algn="l"/>
        </a:tabLst>
        <a:defRPr sz="12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885" indent="-172085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785" indent="-172085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685" indent="-172085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722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23012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57302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92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69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4.xml"/><Relationship Id="rId7" Type="http://schemas.openxmlformats.org/officeDocument/2006/relationships/image" Target="../media/image1.png"/><Relationship Id="rId12" Type="http://schemas.openxmlformats.org/officeDocument/2006/relationships/image" Target="../media/image6.jpe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.jpeg"/><Relationship Id="rId4" Type="http://schemas.openxmlformats.org/officeDocument/2006/relationships/tags" Target="../tags/tag25.xml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8.xml"/><Relationship Id="rId7" Type="http://schemas.openxmlformats.org/officeDocument/2006/relationships/image" Target="../media/image7.jpe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30.xml"/><Relationship Id="rId10" Type="http://schemas.openxmlformats.org/officeDocument/2006/relationships/image" Target="../media/image10.png"/><Relationship Id="rId4" Type="http://schemas.openxmlformats.org/officeDocument/2006/relationships/tags" Target="../tags/tag29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10" Type="http://schemas.openxmlformats.org/officeDocument/2006/relationships/image" Target="../media/image12.jpeg"/><Relationship Id="rId4" Type="http://schemas.openxmlformats.org/officeDocument/2006/relationships/tags" Target="../tags/tag34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tags" Target="../tags/tag40.xml"/><Relationship Id="rId7" Type="http://schemas.openxmlformats.org/officeDocument/2006/relationships/image" Target="../media/image13.jpe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tags" Target="../tags/tag50.xml"/><Relationship Id="rId7" Type="http://schemas.openxmlformats.org/officeDocument/2006/relationships/image" Target="../media/image19.jpe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23.png"/><Relationship Id="rId5" Type="http://schemas.openxmlformats.org/officeDocument/2006/relationships/tags" Target="../tags/tag63.xml"/><Relationship Id="rId10" Type="http://schemas.openxmlformats.org/officeDocument/2006/relationships/image" Target="../media/image22.png"/><Relationship Id="rId4" Type="http://schemas.openxmlformats.org/officeDocument/2006/relationships/tags" Target="../tags/tag62.xml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tags" Target="../tags/tag78.xml"/><Relationship Id="rId18" Type="http://schemas.openxmlformats.org/officeDocument/2006/relationships/image" Target="../media/image24.png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5" Type="http://schemas.openxmlformats.org/officeDocument/2006/relationships/tags" Target="../tags/tag70.xml"/><Relationship Id="rId15" Type="http://schemas.openxmlformats.org/officeDocument/2006/relationships/tags" Target="../tags/tag80.xml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tags" Target="../tags/tag84.xml"/><Relationship Id="rId7" Type="http://schemas.openxmlformats.org/officeDocument/2006/relationships/image" Target="../media/image25.jpe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tags" Target="../tags/tag9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29.jpeg"/><Relationship Id="rId5" Type="http://schemas.openxmlformats.org/officeDocument/2006/relationships/tags" Target="../tags/tag92.xml"/><Relationship Id="rId10" Type="http://schemas.openxmlformats.org/officeDocument/2006/relationships/image" Target="../media/image28.jpeg"/><Relationship Id="rId4" Type="http://schemas.openxmlformats.org/officeDocument/2006/relationships/tags" Target="../tags/tag91.xml"/><Relationship Id="rId9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tags" Target="../tags/tag96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9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7" Type="http://schemas.openxmlformats.org/officeDocument/2006/relationships/image" Target="../media/image32.jpe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04.xml"/><Relationship Id="rId4" Type="http://schemas.openxmlformats.org/officeDocument/2006/relationships/tags" Target="../tags/tag10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tags" Target="../tags/tag107.xml"/><Relationship Id="rId7" Type="http://schemas.openxmlformats.org/officeDocument/2006/relationships/image" Target="../media/image33.jpeg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35.jpeg"/><Relationship Id="rId4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10" Type="http://schemas.openxmlformats.org/officeDocument/2006/relationships/image" Target="../media/image39.png"/><Relationship Id="rId4" Type="http://schemas.openxmlformats.org/officeDocument/2006/relationships/tags" Target="../tags/tag121.xml"/><Relationship Id="rId9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41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TextBox 6"/>
          <p:cNvSpPr/>
          <p:nvPr>
            <p:custDataLst>
              <p:tags r:id="rId1"/>
            </p:custDataLst>
          </p:nvPr>
        </p:nvSpPr>
        <p:spPr>
          <a:xfrm>
            <a:off x="0" y="1342420"/>
            <a:ext cx="12192000" cy="3693319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charset="-122"/>
              </a:defRPr>
            </a:lvl5pPr>
          </a:lstStyle>
          <a:p>
            <a:pPr lvl="0" algn="ctr">
              <a:lnSpc>
                <a:spcPct val="150000"/>
              </a:lnSpc>
            </a:pPr>
            <a:r>
              <a:rPr lang="zh-CN" altLang="en-US" sz="4000" baseline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第四章 中国的经济发展</a:t>
            </a:r>
            <a:endParaRPr lang="en-US" altLang="zh-CN" sz="4000" baseline="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algn="ctr">
              <a:lnSpc>
                <a:spcPct val="150000"/>
              </a:lnSpc>
            </a:pPr>
            <a:r>
              <a:rPr sz="7200" baseline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第二节 </a:t>
            </a:r>
            <a:r>
              <a:rPr sz="72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农业</a:t>
            </a:r>
            <a:r>
              <a:rPr lang="en-US" altLang="zh-CN" sz="72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sz="8800" b="1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algn="ctr">
              <a:lnSpc>
                <a:spcPct val="150000"/>
              </a:lnSpc>
            </a:pPr>
            <a:r>
              <a:rPr sz="40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第1</a:t>
            </a:r>
            <a:r>
              <a:rPr sz="4000" baseline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课时</a:t>
            </a:r>
            <a:endParaRPr sz="400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782920"/>
            <a:ext cx="12192000" cy="470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模板网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-WWW.1PPT.COM</a:t>
            </a:r>
            <a:endParaRPr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9" dur="500" fill="hold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9294" y="180984"/>
            <a:ext cx="389241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你的早餐吃了什么</a:t>
            </a:r>
            <a:r>
              <a:rPr lang="en-US" altLang="zh-CN" sz="3200" b="1" dirty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</a:p>
        </p:txBody>
      </p:sp>
      <p:pic>
        <p:nvPicPr>
          <p:cNvPr id="4101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5688" y="-18149887"/>
            <a:ext cx="2079625" cy="975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3" name="Picture 3" descr="121749732309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685" t="-5932" r="-5363" b="-11065"/>
          <a:stretch>
            <a:fillRect/>
          </a:stretch>
        </p:blipFill>
        <p:spPr>
          <a:xfrm>
            <a:off x="846577" y="1001395"/>
            <a:ext cx="3709035" cy="2959735"/>
          </a:xfrm>
          <a:prstGeom prst="roundRect">
            <a:avLst/>
          </a:prstGeom>
          <a:noFill/>
          <a:ln w="9525">
            <a:noFill/>
          </a:ln>
        </p:spPr>
      </p:pic>
      <p:pic>
        <p:nvPicPr>
          <p:cNvPr id="56334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8640" y="1202531"/>
            <a:ext cx="3924617" cy="249701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2" name="Picture 6" descr="11763620683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658" y="3996055"/>
            <a:ext cx="3417174" cy="233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图片 107"/>
          <p:cNvPicPr/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8957" y="3996055"/>
            <a:ext cx="3924300" cy="233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图片 108"/>
          <p:cNvPicPr/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932" y="2611120"/>
            <a:ext cx="1791335" cy="16357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3354708" y="174561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农业部门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pic>
        <p:nvPicPr>
          <p:cNvPr id="111" name="图片 110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23" y="1137110"/>
            <a:ext cx="3512185" cy="22631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图片 109"/>
          <p:cNvPicPr/>
          <p:nvPr>
            <p:custDataLst>
              <p:tags r:id="rId2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683" y="1137110"/>
            <a:ext cx="3602990" cy="22631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24" y="3952558"/>
            <a:ext cx="3512185" cy="227175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746684" y="3952558"/>
            <a:ext cx="3602990" cy="227175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452147" y="2720307"/>
            <a:ext cx="3065463" cy="1930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农业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主要包括种植业、畜牧业、林业、渔业等部门。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4855" y="1852295"/>
            <a:ext cx="4673600" cy="2933065"/>
          </a:xfrm>
          <a:prstGeom prst="rect">
            <a:avLst/>
          </a:prstGeom>
        </p:spPr>
      </p:pic>
      <p:pic>
        <p:nvPicPr>
          <p:cNvPr id="112" name="图片 111"/>
          <p:cNvPicPr/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"/>
          <a:stretch>
            <a:fillRect/>
          </a:stretch>
        </p:blipFill>
        <p:spPr>
          <a:xfrm>
            <a:off x="6300470" y="3303905"/>
            <a:ext cx="5340985" cy="33667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文本框 2"/>
          <p:cNvSpPr txBox="1"/>
          <p:nvPr>
            <p:custDataLst>
              <p:tags r:id="rId2"/>
            </p:custDataLst>
          </p:nvPr>
        </p:nvSpPr>
        <p:spPr>
          <a:xfrm>
            <a:off x="744855" y="1033993"/>
            <a:ext cx="8481809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同学们，读图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“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主要农业部门",请说各部门的特点。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4" name="文本框 3"/>
          <p:cNvSpPr txBox="1"/>
          <p:nvPr>
            <p:custDataLst>
              <p:tags r:id="rId3"/>
            </p:custDataLst>
          </p:nvPr>
        </p:nvSpPr>
        <p:spPr>
          <a:xfrm>
            <a:off x="6300469" y="1941857"/>
            <a:ext cx="5340985" cy="111376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种植业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是在耕地上种植水稻、小麦、大豆、棉花等农作物的生产部门。</a:t>
            </a:r>
          </a:p>
        </p:txBody>
      </p:sp>
      <p:sp>
        <p:nvSpPr>
          <p:cNvPr id="12296" name="文本框 5"/>
          <p:cNvSpPr txBox="1"/>
          <p:nvPr>
            <p:custDataLst>
              <p:tags r:id="rId4"/>
            </p:custDataLst>
          </p:nvPr>
        </p:nvSpPr>
        <p:spPr>
          <a:xfrm>
            <a:off x="744538" y="4916349"/>
            <a:ext cx="4672012" cy="166776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种植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、养育、保护、采伐林木及对树胶、松脂等林产品进行采集和加工的生产部门是林业。</a:t>
            </a: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0311130" y="6210300"/>
            <a:ext cx="1330325" cy="460375"/>
          </a:xfrm>
          <a:prstGeom prst="rect">
            <a:avLst/>
          </a:prstGeom>
          <a:solidFill>
            <a:schemeClr val="bg1">
              <a:lumMod val="95000"/>
              <a:alpha val="78000"/>
            </a:schemeClr>
          </a:solidFill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种植业</a:t>
            </a: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744855" y="4338029"/>
            <a:ext cx="939800" cy="460375"/>
          </a:xfrm>
          <a:prstGeom prst="rect">
            <a:avLst/>
          </a:prstGeom>
          <a:solidFill>
            <a:schemeClr val="bg1">
              <a:lumMod val="95000"/>
              <a:alpha val="78000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林业</a:t>
            </a: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3354708" y="174561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农业部门</a:t>
            </a:r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特点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2296" grpId="0"/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图片 113"/>
          <p:cNvPicPr/>
          <p:nvPr/>
        </p:nvPicPr>
        <p:blipFill>
          <a:blip r:embed="rId7"/>
          <a:stretch>
            <a:fillRect/>
          </a:stretch>
        </p:blipFill>
        <p:spPr>
          <a:xfrm>
            <a:off x="726440" y="1210310"/>
            <a:ext cx="4515485" cy="28460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图片 114"/>
          <p:cNvPicPr/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8930" y="3522671"/>
            <a:ext cx="4572635" cy="28460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253027" y="5908048"/>
            <a:ext cx="998538" cy="460375"/>
          </a:xfrm>
          <a:prstGeom prst="rect">
            <a:avLst/>
          </a:prstGeom>
          <a:solidFill>
            <a:schemeClr val="bg1">
              <a:lumMod val="95000"/>
              <a:alpha val="78000"/>
            </a:schemeClr>
          </a:solidFill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渔业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873500" y="3596005"/>
            <a:ext cx="1368425" cy="460375"/>
          </a:xfrm>
          <a:prstGeom prst="rect">
            <a:avLst/>
          </a:prstGeom>
          <a:solidFill>
            <a:schemeClr val="bg1">
              <a:lumMod val="95000"/>
              <a:alpha val="78000"/>
            </a:schemeClr>
          </a:solidFill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畜牧业</a:t>
            </a:r>
          </a:p>
        </p:txBody>
      </p:sp>
      <p:sp>
        <p:nvSpPr>
          <p:cNvPr id="13317" name="文本框 3"/>
          <p:cNvSpPr txBox="1"/>
          <p:nvPr>
            <p:custDataLst>
              <p:tags r:id="rId3"/>
            </p:custDataLst>
          </p:nvPr>
        </p:nvSpPr>
        <p:spPr>
          <a:xfrm>
            <a:off x="726439" y="4606250"/>
            <a:ext cx="4515485" cy="111376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靠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放牧或饲养牲畜及家禽等而获得产品的生产部门称为畜牧业。</a:t>
            </a:r>
          </a:p>
        </p:txBody>
      </p:sp>
      <p:sp>
        <p:nvSpPr>
          <p:cNvPr id="13319" name="文本框 5"/>
          <p:cNvSpPr txBox="1"/>
          <p:nvPr>
            <p:custDataLst>
              <p:tags r:id="rId4"/>
            </p:custDataLst>
          </p:nvPr>
        </p:nvSpPr>
        <p:spPr>
          <a:xfrm>
            <a:off x="6678929" y="1494790"/>
            <a:ext cx="4572635" cy="175432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在</a:t>
            </a:r>
            <a:r>
              <a:rPr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水域中进行天然捕捞,或者人工养殖有价值的水生生物的生产部门称为渔业。</a:t>
            </a: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3354708" y="174561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农业部门</a:t>
            </a:r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特点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317" grpId="0"/>
      <p:bldP spid="133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88770" y="2276475"/>
            <a:ext cx="9453245" cy="4423410"/>
          </a:xfrm>
          <a:prstGeom prst="rect">
            <a:avLst/>
          </a:prstGeom>
        </p:spPr>
      </p:pic>
      <p:sp>
        <p:nvSpPr>
          <p:cNvPr id="116" name="文本框 115"/>
          <p:cNvSpPr txBox="1"/>
          <p:nvPr/>
        </p:nvSpPr>
        <p:spPr>
          <a:xfrm>
            <a:off x="948811" y="962612"/>
            <a:ext cx="10206355" cy="13849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请</a:t>
            </a: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同学们结合生活实例，收集相关资料，从生产和生活两个方面举例说明农业的重要性</a:t>
            </a:r>
            <a:r>
              <a:rPr 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46605" y="2858135"/>
            <a:ext cx="3841750" cy="34168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210000"/>
              </a:lnSpc>
            </a:pPr>
            <a:r>
              <a:rPr 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肉蛋奶、粮食、水果等为食品加工工业提供原材料，畜牧业的皮毛和种植业的棉花为皮革工业和纺织工业提供原材料；林业为造纸工业和家具制造业提供原材料</a:t>
            </a:r>
            <a:r>
              <a:rPr lang="zh-CN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17360" y="2858135"/>
            <a:ext cx="3741420" cy="192745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210000"/>
              </a:lnSpc>
            </a:pPr>
            <a:r>
              <a:rPr 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我们吃的馒头、水果、蔬菜、肉、蛋、奶等，穿的棉纺织品、毛纺织品、皮鞋等都来源于农业。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3354708" y="174561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农业</a:t>
            </a:r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的重要性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6765" y="1107556"/>
            <a:ext cx="9836226" cy="1865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</a:rPr>
              <a:t>    自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</a:rPr>
              <a:t>20世纪70年代以来，杂交水稻等粮食作物品种相继育成并推广应用，其他农业技术也获得长足发展，中国众多人口的吃饭问题得以解决。中国用不足世界10%的耕地，养活了地球上约20%的人口。有人说：“这是一个奇迹！”阅读图4.8和图4.9，寻找证据，证明这个说法。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58050" y="3116323"/>
            <a:ext cx="7653655" cy="3355340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354708" y="174561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农业</a:t>
            </a:r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的重要性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3914" y="1148681"/>
            <a:ext cx="7129462" cy="534670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79041" y="2789853"/>
            <a:ext cx="240855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3600" b="0" dirty="0">
                <a:latin typeface="黑体" panose="02010609060101010101" pitchFamily="49" charset="-122"/>
                <a:ea typeface="黑体" panose="02010609060101010101" pitchFamily="49" charset="-122"/>
              </a:rPr>
              <a:t>全国各地</a:t>
            </a:r>
          </a:p>
          <a:p>
            <a:pPr indent="0" algn="ctr"/>
            <a:r>
              <a:rPr lang="zh-CN" sz="3600" b="0" dirty="0">
                <a:latin typeface="黑体" panose="02010609060101010101" pitchFamily="49" charset="-122"/>
                <a:ea typeface="黑体" panose="02010609060101010101" pitchFamily="49" charset="-122"/>
              </a:rPr>
              <a:t>特色美食</a:t>
            </a:r>
            <a:endParaRPr lang="zh-CN" altLang="en-US" sz="36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3354708" y="174561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农业</a:t>
            </a:r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的地区分布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文本框 115"/>
          <p:cNvSpPr txBox="1"/>
          <p:nvPr/>
        </p:nvSpPr>
        <p:spPr>
          <a:xfrm>
            <a:off x="446405" y="1100455"/>
            <a:ext cx="11289030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</a:pP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</a:rPr>
              <a:t>【东西差异】</a:t>
            </a:r>
            <a:r>
              <a:rPr lang="zh-CN" sz="2400" b="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</a:rPr>
              <a:t>“中国主要畜牧业区和种植业区”分布图、“中国地形图”“中国干湿地区分布图”，并出示问题。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  <a:cs typeface="方正楷体_GBK" panose="03000509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4010" y="2599306"/>
            <a:ext cx="4044315" cy="3348990"/>
          </a:xfrm>
          <a:prstGeom prst="rect">
            <a:avLst/>
          </a:prstGeom>
        </p:spPr>
      </p:pic>
      <p:pic>
        <p:nvPicPr>
          <p:cNvPr id="54276" name="Picture 27" descr="03601013"/>
          <p:cNvPicPr/>
          <p:nvPr>
            <p:custDataLst>
              <p:tags r:id="rId2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8290" y="2599305"/>
            <a:ext cx="3855720" cy="316293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54277" name="Picture 28" descr="02301006"/>
          <p:cNvPicPr/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325" y="2557396"/>
            <a:ext cx="3547110" cy="326263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354708" y="174561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农业</a:t>
            </a:r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的地区分布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7" dur="500" fill="hold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base">
                                        <p:cTn id="11" dur="500" fill="hold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东西差异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80975" y="1267367"/>
            <a:ext cx="9567743" cy="13849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请同学们试着总结分析农业在东西差异及原因。完成下表。并分析东部与西部的差异的原因。</a:t>
            </a:r>
            <a:endParaRPr lang="zh-CN" altLang="en-US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1055183" y="2994243"/>
          <a:ext cx="9560560" cy="2547817"/>
        </p:xfrm>
        <a:graphic>
          <a:graphicData uri="http://schemas.openxmlformats.org/drawingml/2006/table">
            <a:tbl>
              <a:tblPr/>
              <a:tblGrid>
                <a:gridCol w="1447800"/>
                <a:gridCol w="1951355"/>
                <a:gridCol w="2941955"/>
                <a:gridCol w="3219450"/>
              </a:tblGrid>
              <a:tr h="56268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err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地区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err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农业差异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err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界线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err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原因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726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err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东部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28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28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28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785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 err="1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西部</a:t>
                      </a:r>
                      <a:endParaRPr lang="en-US" altLang="en-US" sz="2800" b="0" dirty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28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28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28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759372" y="3811337"/>
            <a:ext cx="1418671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28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种植业</a:t>
            </a:r>
            <a:endParaRPr lang="zh-CN" altLang="en-US" sz="2800" b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05429" y="4756057"/>
            <a:ext cx="1326556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 algn="ctr">
              <a:defRPr sz="2800" b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dirty="0"/>
              <a:t>畜牧业</a:t>
            </a:r>
            <a:endParaRPr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479721" y="3586507"/>
            <a:ext cx="2877667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28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400㎜年等降水量线以东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479721" y="4576340"/>
            <a:ext cx="2886710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28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400㎜年等降水量线以西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499547" y="3577488"/>
            <a:ext cx="3112526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28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水源丰富，地势平坦，土壤肥沃</a:t>
            </a: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826455" y="4576339"/>
            <a:ext cx="2499995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28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有天然牧场，降水稀少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1835" y="5233670"/>
            <a:ext cx="80613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sz="28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+mn-ea"/>
              </a:rPr>
              <a:t>种植业、林业、渔业主要分布在什么地方</a:t>
            </a:r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  <a:sym typeface="+mn-ea"/>
              </a:rPr>
              <a:t>?</a:t>
            </a:r>
            <a:endParaRPr lang="en-US" altLang="en-US"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" y="1079063"/>
            <a:ext cx="4088130" cy="313436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835" y="4280535"/>
            <a:ext cx="1092369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8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2.</a:t>
            </a:r>
            <a:r>
              <a:rPr lang="zh-CN" sz="28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西部主要以畜牧业为主，能否发展种植业，若能，应分布在哪里？</a:t>
            </a:r>
            <a:endParaRPr lang="en-US" altLang="en-US" sz="2800" b="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1325" y="1079063"/>
            <a:ext cx="3429000" cy="31667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0180" y="1079064"/>
            <a:ext cx="4262120" cy="313436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076325" y="4794306"/>
            <a:ext cx="777113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能。种植业只在有水源的平原、河谷和绿洲。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076325" y="5740400"/>
            <a:ext cx="1044829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4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种植业分布在湿润和半湿润平原地区；林业分布在东北和西南的天然林区及东南人工林区；沿海地区是我国海洋渔业基地，南方地区淡水渔业发达。</a:t>
            </a: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东西差异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1"/>
      <p:bldP spid="13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015029" y="1909422"/>
          <a:ext cx="7630795" cy="4281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782955"/>
                <a:gridCol w="1390650"/>
                <a:gridCol w="1492885"/>
                <a:gridCol w="1480185"/>
                <a:gridCol w="1729740"/>
              </a:tblGrid>
              <a:tr h="683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地区</a:t>
                      </a: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地区</a:t>
                      </a: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耕地</a:t>
                      </a:r>
                      <a:r>
                        <a:rPr lang="zh-CN" altLang="en-US" sz="2000" dirty="0" smtClean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类型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作物熟制</a:t>
                      </a: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主要农作物</a:t>
                      </a: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差异原因分析</a:t>
                      </a:r>
                    </a:p>
                  </a:txBody>
                  <a:tcPr marL="91435" marR="91435" marT="45723" marB="45723" anchor="ctr"/>
                </a:tc>
              </a:tr>
              <a:tr h="12827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北方</a:t>
                      </a: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东北</a:t>
                      </a: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</a:tr>
              <a:tr h="12484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华北</a:t>
                      </a: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</a:tr>
              <a:tr h="1066648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南方</a:t>
                      </a:r>
                    </a:p>
                  </a:txBody>
                  <a:tcPr marL="91435" marR="91435" marT="45723" marB="4572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1435" marR="91435" marT="45723" marB="45723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5" marR="91435" marT="45723" marB="45723"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845734" y="3040376"/>
            <a:ext cx="803275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旱地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845734" y="5487230"/>
            <a:ext cx="900113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水田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5845734" y="4313192"/>
            <a:ext cx="1038225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旱地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119544" y="3045633"/>
            <a:ext cx="1275473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一年一熟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975641" y="4157669"/>
            <a:ext cx="1480578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一年两熟或两年三熟</a:t>
            </a: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8791499" y="2583968"/>
            <a:ext cx="1064260" cy="13234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春小麦、玉米、大豆、甜菜等</a:t>
            </a: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8485111" y="4159304"/>
            <a:ext cx="1464945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冬小麦、玉米、花生</a:t>
            </a: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975641" y="5333342"/>
            <a:ext cx="1460500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一年两熟到三熟</a:t>
            </a: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517813" y="5333342"/>
            <a:ext cx="1399539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水稻、棉花、油菜</a:t>
            </a: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10191039" y="2886488"/>
            <a:ext cx="1337310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纬度较高，气温较低</a:t>
            </a: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0146589" y="4159304"/>
            <a:ext cx="1426210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水、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较好</a:t>
            </a: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0191674" y="5333342"/>
            <a:ext cx="1454150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降水充沛，热量充足</a:t>
            </a:r>
          </a:p>
        </p:txBody>
      </p:sp>
      <p:sp>
        <p:nvSpPr>
          <p:cNvPr id="24629" name="Text Box 2"/>
          <p:cNvSpPr txBox="1"/>
          <p:nvPr>
            <p:custDataLst>
              <p:tags r:id="rId14"/>
            </p:custDataLst>
          </p:nvPr>
        </p:nvSpPr>
        <p:spPr>
          <a:xfrm>
            <a:off x="532556" y="1202296"/>
            <a:ext cx="1050735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读图“中国东部地区的农作物分布示意”，结合图中的信息,完成下列表格。</a:t>
            </a:r>
          </a:p>
        </p:txBody>
      </p:sp>
      <p:pic>
        <p:nvPicPr>
          <p:cNvPr id="58426" name="Picture 5"/>
          <p:cNvPicPr/>
          <p:nvPr>
            <p:custDataLst>
              <p:tags r:id="rId15"/>
            </p:custDataLst>
          </p:nvPr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944" y="1887523"/>
            <a:ext cx="3237865" cy="432338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dirty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南北</a:t>
            </a:r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差异</a:t>
            </a:r>
            <a:r>
              <a:rPr lang="en-US" altLang="zh-CN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 </a:t>
            </a:r>
            <a:endParaRPr lang="zh-CN" altLang="en-US" sz="3200" b="1" cap="none" spc="0" dirty="0" smtClean="0">
              <a:ln w="0"/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3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图片 6" descr="09501010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14407" y="1927871"/>
            <a:ext cx="5106035" cy="3510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9" name="文本框 2"/>
          <p:cNvSpPr txBox="1"/>
          <p:nvPr>
            <p:custDataLst>
              <p:tags r:id="rId2"/>
            </p:custDataLst>
          </p:nvPr>
        </p:nvSpPr>
        <p:spPr>
          <a:xfrm>
            <a:off x="627188" y="1037520"/>
            <a:ext cx="11327124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</a:rPr>
              <a:t>    从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</a:rPr>
              <a:t>确保国家粮食安全和食物安全的大局出发，为充分发挥各地区的优势条件，我国制订了农产品主要产区的建设规划。读中国农产品主要产区建设规划示意图，完成下列要求。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70469" y="5899161"/>
            <a:ext cx="10278745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从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我国地形图得出:我国农产品的主要产区大多分布在地形平坦、土壤肥沃的平原和盆地地区。</a:t>
            </a:r>
          </a:p>
        </p:txBody>
      </p:sp>
      <p:pic>
        <p:nvPicPr>
          <p:cNvPr id="26631" name="Picture 28" descr="0230100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357" y="2146946"/>
            <a:ext cx="4145280" cy="3291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870469" y="5438786"/>
            <a:ext cx="85020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对照中国地形图，说出我国农产品主要产区的地形特征。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合作探究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4729" y="1162367"/>
            <a:ext cx="10243297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2.说出我国西部地区的农产品主要产区的分布状况。这些地区发展种植业最主要的自然条件是什么？</a:t>
            </a:r>
          </a:p>
          <a:p>
            <a:pPr algn="just"/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3.我国东部地区南北方的主要农产品有哪些不同？试举例说明这样规划所依据的自然条件。</a:t>
            </a:r>
          </a:p>
        </p:txBody>
      </p:sp>
      <p:sp>
        <p:nvSpPr>
          <p:cNvPr id="27652" name="文本框 1"/>
          <p:cNvSpPr txBox="1"/>
          <p:nvPr/>
        </p:nvSpPr>
        <p:spPr>
          <a:xfrm>
            <a:off x="1014729" y="2050612"/>
            <a:ext cx="10243297" cy="11353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  </a:t>
            </a:r>
            <a:r>
              <a:rPr lang="zh-CN" altLang="en-US" dirty="0" smtClean="0">
                <a:latin typeface="Calibri" panose="020F0502020204030204" pitchFamily="34" charset="0"/>
                <a:ea typeface="黑体" panose="02010609060101010101" pitchFamily="49" charset="-122"/>
              </a:rPr>
              <a:t>  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我国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西部农产品主要产区主要分布在河流沿岸或山地的山麓地带。因为这里有充足的水源，地势低平，土壤肥沃，适合农作物的生长。</a:t>
            </a:r>
          </a:p>
          <a:p>
            <a:pPr algn="just">
              <a:lnSpc>
                <a:spcPct val="150000"/>
              </a:lnSpc>
            </a:pP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algn="just"/>
            <a:endParaRPr lang="zh-CN" altLang="en-US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28674" name="文本框 1"/>
          <p:cNvSpPr txBox="1"/>
          <p:nvPr/>
        </p:nvSpPr>
        <p:spPr>
          <a:xfrm>
            <a:off x="1014729" y="4270218"/>
            <a:ext cx="1024329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我国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部地区的南方主要农产品以水稻、油菜、甘蔗等为主，北方主要农产品以小麦、玉米、大豆等为主。如小麦属于耐旱的作物，北方地区降水少,热量少,适合种植小麦。水稻是一种喜温喜湿的作物，南方地区降水多，热量充足,适合种植水稻。</a:t>
            </a:r>
            <a:endParaRPr lang="zh-CN" altLang="en-US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合作探究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  <p:bldP spid="27652" grpId="1"/>
      <p:bldP spid="28674" grpId="0"/>
      <p:bldP spid="2867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2" descr="粮食作物分布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585" y="1336675"/>
            <a:ext cx="7324725" cy="5426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3" name="未知"/>
          <p:cNvSpPr/>
          <p:nvPr>
            <p:custDataLst>
              <p:tags r:id="rId2"/>
            </p:custDataLst>
          </p:nvPr>
        </p:nvSpPr>
        <p:spPr>
          <a:xfrm>
            <a:off x="6617335" y="4507230"/>
            <a:ext cx="1936750" cy="1651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381" h="164">
                <a:moveTo>
                  <a:pt x="0" y="36"/>
                </a:moveTo>
                <a:cubicBezTo>
                  <a:pt x="64" y="23"/>
                  <a:pt x="32" y="32"/>
                  <a:pt x="101" y="9"/>
                </a:cubicBezTo>
                <a:cubicBezTo>
                  <a:pt x="110" y="6"/>
                  <a:pt x="128" y="0"/>
                  <a:pt x="128" y="0"/>
                </a:cubicBezTo>
                <a:cubicBezTo>
                  <a:pt x="194" y="6"/>
                  <a:pt x="214" y="3"/>
                  <a:pt x="266" y="18"/>
                </a:cubicBezTo>
                <a:cubicBezTo>
                  <a:pt x="284" y="23"/>
                  <a:pt x="302" y="30"/>
                  <a:pt x="320" y="36"/>
                </a:cubicBezTo>
                <a:cubicBezTo>
                  <a:pt x="329" y="39"/>
                  <a:pt x="348" y="45"/>
                  <a:pt x="348" y="45"/>
                </a:cubicBezTo>
                <a:cubicBezTo>
                  <a:pt x="376" y="75"/>
                  <a:pt x="410" y="71"/>
                  <a:pt x="448" y="82"/>
                </a:cubicBezTo>
                <a:cubicBezTo>
                  <a:pt x="546" y="111"/>
                  <a:pt x="640" y="144"/>
                  <a:pt x="741" y="164"/>
                </a:cubicBezTo>
                <a:cubicBezTo>
                  <a:pt x="861" y="157"/>
                  <a:pt x="971" y="147"/>
                  <a:pt x="1088" y="128"/>
                </a:cubicBezTo>
                <a:cubicBezTo>
                  <a:pt x="1139" y="110"/>
                  <a:pt x="1192" y="99"/>
                  <a:pt x="1244" y="82"/>
                </a:cubicBezTo>
                <a:cubicBezTo>
                  <a:pt x="1262" y="76"/>
                  <a:pt x="1299" y="64"/>
                  <a:pt x="1299" y="64"/>
                </a:cubicBezTo>
                <a:cubicBezTo>
                  <a:pt x="1326" y="35"/>
                  <a:pt x="1356" y="43"/>
                  <a:pt x="1381" y="18"/>
                </a:cubicBezTo>
              </a:path>
            </a:pathLst>
          </a:custGeom>
          <a:noFill/>
          <a:ln w="57150" cap="flat" cmpd="sng">
            <a:solidFill>
              <a:srgbClr val="FF0066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4" name="Text Box 4"/>
          <p:cNvSpPr txBox="1"/>
          <p:nvPr>
            <p:custDataLst>
              <p:tags r:id="rId3"/>
            </p:custDataLst>
          </p:nvPr>
        </p:nvSpPr>
        <p:spPr>
          <a:xfrm>
            <a:off x="6901498" y="3865563"/>
            <a:ext cx="2808287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3600" b="1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秦岭</a:t>
            </a:r>
            <a:r>
              <a:rPr lang="en-US" altLang="zh-CN" sz="3600" b="1" dirty="0">
                <a:solidFill>
                  <a:srgbClr val="007A7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—</a:t>
            </a:r>
            <a:r>
              <a:rPr lang="zh-CN" altLang="en-US" sz="3600" b="1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淮河</a:t>
            </a:r>
          </a:p>
        </p:txBody>
      </p:sp>
      <p:sp>
        <p:nvSpPr>
          <p:cNvPr id="30730" name="Text Box 10"/>
          <p:cNvSpPr txBox="1"/>
          <p:nvPr>
            <p:custDataLst>
              <p:tags r:id="rId4"/>
            </p:custDataLst>
          </p:nvPr>
        </p:nvSpPr>
        <p:spPr>
          <a:xfrm>
            <a:off x="447675" y="2722245"/>
            <a:ext cx="2447925" cy="7067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accent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南稻北麦</a:t>
            </a:r>
          </a:p>
        </p:txBody>
      </p:sp>
      <p:sp>
        <p:nvSpPr>
          <p:cNvPr id="2" name="Text Box 5"/>
          <p:cNvSpPr txBox="1"/>
          <p:nvPr>
            <p:custDataLst>
              <p:tags r:id="rId5"/>
            </p:custDataLst>
          </p:nvPr>
        </p:nvSpPr>
        <p:spPr>
          <a:xfrm>
            <a:off x="447675" y="1855470"/>
            <a:ext cx="2109470" cy="645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3600" b="1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粮食作物</a:t>
            </a:r>
          </a:p>
        </p:txBody>
      </p:sp>
      <p:pic>
        <p:nvPicPr>
          <p:cNvPr id="117" name="图片 116"/>
          <p:cNvPicPr/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9910" y="1250950"/>
            <a:ext cx="2324735" cy="16052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图片 117"/>
          <p:cNvPicPr/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904" y="5192104"/>
            <a:ext cx="2577465" cy="15252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思维点拨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riveb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3073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2" descr="花生的分布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7398" y="2295455"/>
            <a:ext cx="4036060" cy="28467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1" name="Picture 2" descr="油菜的分布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8778" y="2296090"/>
            <a:ext cx="4045585" cy="28467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5"/>
          <p:cNvSpPr txBox="1"/>
          <p:nvPr>
            <p:custDataLst>
              <p:tags r:id="rId3"/>
            </p:custDataLst>
          </p:nvPr>
        </p:nvSpPr>
        <p:spPr>
          <a:xfrm>
            <a:off x="447675" y="1369060"/>
            <a:ext cx="2109470" cy="645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 eaLnBrk="0" hangingPunct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3600" b="1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油料作物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06065" y="1369060"/>
            <a:ext cx="29775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南油北花</a:t>
            </a:r>
          </a:p>
        </p:txBody>
      </p:sp>
      <p:sp>
        <p:nvSpPr>
          <p:cNvPr id="32771" name="Rectangle 3"/>
          <p:cNvSpPr/>
          <p:nvPr>
            <p:custDataLst>
              <p:tags r:id="rId4"/>
            </p:custDataLst>
          </p:nvPr>
        </p:nvSpPr>
        <p:spPr>
          <a:xfrm>
            <a:off x="6526585" y="5230190"/>
            <a:ext cx="3569970" cy="1131464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四川盆地</a:t>
            </a:r>
            <a:r>
              <a:rPr lang="zh-CN" altLang="en-US" sz="3200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endParaRPr lang="en-US" altLang="zh-CN" sz="3200" b="1" dirty="0" smtClean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 eaLnBrk="0" hangingPunct="0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3200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长江</a:t>
            </a: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中下游</a:t>
            </a:r>
            <a:r>
              <a:rPr lang="zh-CN" altLang="en-US" sz="3200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平原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747" name="Rectangle 3"/>
          <p:cNvSpPr/>
          <p:nvPr>
            <p:custDataLst>
              <p:tags r:id="rId5"/>
            </p:custDataLst>
          </p:nvPr>
        </p:nvSpPr>
        <p:spPr>
          <a:xfrm>
            <a:off x="2895497" y="5274745"/>
            <a:ext cx="1439862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 eaLnBrk="0" hangingPunct="0">
              <a:buFont typeface="Arial" panose="020B0604020202020204" pitchFamily="34" charset="0"/>
            </a:pP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华北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思维点拨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2771" grpId="0"/>
      <p:bldP spid="317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20" y="2014220"/>
            <a:ext cx="6048375" cy="38207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5" name="Rectangle 3"/>
          <p:cNvSpPr/>
          <p:nvPr>
            <p:custDataLst>
              <p:tags r:id="rId1"/>
            </p:custDataLst>
          </p:nvPr>
        </p:nvSpPr>
        <p:spPr>
          <a:xfrm>
            <a:off x="7347095" y="4712496"/>
            <a:ext cx="414401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eaLnBrk="0" hangingPunct="0">
              <a:buFont typeface="Arial" panose="020B0604020202020204" pitchFamily="34" charset="0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台湾省、福建、广东、广西、云南、四川、海南</a:t>
            </a:r>
          </a:p>
        </p:txBody>
      </p:sp>
      <p:sp>
        <p:nvSpPr>
          <p:cNvPr id="2" name="Rectangle 3"/>
          <p:cNvSpPr/>
          <p:nvPr>
            <p:custDataLst>
              <p:tags r:id="rId2"/>
            </p:custDataLst>
          </p:nvPr>
        </p:nvSpPr>
        <p:spPr>
          <a:xfrm>
            <a:off x="7347095" y="2198777"/>
            <a:ext cx="414401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eaLnBrk="0" hangingPunct="0">
              <a:buFont typeface="Arial" panose="020B0604020202020204" pitchFamily="34" charset="0"/>
            </a:pP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黑龙江、吉林、内蒙古、新疆</a:t>
            </a:r>
          </a:p>
        </p:txBody>
      </p:sp>
      <p:sp>
        <p:nvSpPr>
          <p:cNvPr id="3" name="Text Box 5"/>
          <p:cNvSpPr txBox="1"/>
          <p:nvPr>
            <p:custDataLst>
              <p:tags r:id="rId3"/>
            </p:custDataLst>
          </p:nvPr>
        </p:nvSpPr>
        <p:spPr>
          <a:xfrm>
            <a:off x="2509538" y="1226447"/>
            <a:ext cx="2109470" cy="645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 eaLnBrk="0" hangingPunct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3600" b="1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糖料作物</a:t>
            </a:r>
          </a:p>
        </p:txBody>
      </p:sp>
      <p:sp>
        <p:nvSpPr>
          <p:cNvPr id="31747" name="Rectangle 4"/>
          <p:cNvSpPr/>
          <p:nvPr>
            <p:custDataLst>
              <p:tags r:id="rId4"/>
            </p:custDataLst>
          </p:nvPr>
        </p:nvSpPr>
        <p:spPr>
          <a:xfrm>
            <a:off x="7347095" y="3676473"/>
            <a:ext cx="3476517" cy="5794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ctr" anchorCtr="0">
            <a:spAutoFit/>
          </a:bodyPr>
          <a:lstStyle/>
          <a:p>
            <a:pPr eaLnBrk="0" hangingPunct="0">
              <a:buFont typeface="Arial" panose="020B0604020202020204" pitchFamily="34" charset="0"/>
            </a:pPr>
            <a:r>
              <a:rPr lang="zh-CN" altLang="en-US" sz="3200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糖料作物北甜南甘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思维点拨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2" descr="棉花的分布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622" y="2384332"/>
            <a:ext cx="4765040" cy="3368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3" name="Text Box 3"/>
          <p:cNvSpPr txBox="1"/>
          <p:nvPr>
            <p:custDataLst>
              <p:tags r:id="rId2"/>
            </p:custDataLst>
          </p:nvPr>
        </p:nvSpPr>
        <p:spPr>
          <a:xfrm>
            <a:off x="3282858" y="1399857"/>
            <a:ext cx="8033892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buFont typeface="Arial" panose="020B0604020202020204" pitchFamily="34" charset="0"/>
            </a:pP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三大棉区：华北平原、长江流域、新疆南部</a:t>
            </a:r>
          </a:p>
        </p:txBody>
      </p:sp>
      <p:pic>
        <p:nvPicPr>
          <p:cNvPr id="32771" name="Picture 4" descr="棉花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719582" y="2384332"/>
            <a:ext cx="4597167" cy="336835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5"/>
          <p:cNvSpPr txBox="1"/>
          <p:nvPr>
            <p:custDataLst>
              <p:tags r:id="rId4"/>
            </p:custDataLst>
          </p:nvPr>
        </p:nvSpPr>
        <p:spPr>
          <a:xfrm>
            <a:off x="640622" y="1369060"/>
            <a:ext cx="2109470" cy="645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3600" b="1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纤维作物</a:t>
            </a: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思维点拨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图片 118"/>
          <p:cNvPicPr/>
          <p:nvPr/>
        </p:nvPicPr>
        <p:blipFill>
          <a:blip r:embed="rId5"/>
          <a:stretch>
            <a:fillRect/>
          </a:stretch>
        </p:blipFill>
        <p:spPr>
          <a:xfrm>
            <a:off x="2913316" y="1042332"/>
            <a:ext cx="8128000" cy="571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5"/>
          <p:cNvSpPr txBox="1"/>
          <p:nvPr>
            <p:custDataLst>
              <p:tags r:id="rId1"/>
            </p:custDataLst>
          </p:nvPr>
        </p:nvSpPr>
        <p:spPr>
          <a:xfrm>
            <a:off x="447675" y="1596390"/>
            <a:ext cx="2109470" cy="6451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 eaLnBrk="0" hangingPunct="0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3600" b="1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作物熟制</a:t>
            </a:r>
          </a:p>
        </p:txBody>
      </p:sp>
      <p:sp>
        <p:nvSpPr>
          <p:cNvPr id="31747" name="Rectangle 4"/>
          <p:cNvSpPr/>
          <p:nvPr>
            <p:custDataLst>
              <p:tags r:id="rId2"/>
            </p:custDataLst>
          </p:nvPr>
        </p:nvSpPr>
        <p:spPr>
          <a:xfrm>
            <a:off x="447675" y="3070225"/>
            <a:ext cx="2109470" cy="1076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 eaLnBrk="0" hangingPunct="0">
              <a:buFont typeface="Arial" panose="020B0604020202020204" pitchFamily="34" charset="0"/>
            </a:pPr>
            <a:r>
              <a:rPr lang="zh-CN" altLang="en-US" sz="3200" dirty="0">
                <a:solidFill>
                  <a:srgbClr val="007A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自南向北逐渐减少</a:t>
            </a: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134677" y="186207"/>
            <a:ext cx="526034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0"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思维点拨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本框 106"/>
          <p:cNvSpPr txBox="1"/>
          <p:nvPr/>
        </p:nvSpPr>
        <p:spPr>
          <a:xfrm>
            <a:off x="545465" y="1029970"/>
            <a:ext cx="11266234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73355" indent="-173355" algn="just"/>
            <a:r>
              <a:rPr sz="280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 </a:t>
            </a:r>
            <a:r>
              <a:rPr sz="2800" dirty="0" err="1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某APP在五一期间推出了“挖笋、采茶、观候鸟、编竹子”</a:t>
            </a:r>
            <a:r>
              <a:rPr sz="2800" dirty="0" err="1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的亲子活动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。</a:t>
            </a:r>
            <a:r>
              <a:rPr sz="2800" dirty="0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据此读图</a:t>
            </a:r>
            <a:r>
              <a:rPr sz="280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，</a:t>
            </a:r>
            <a:r>
              <a:rPr sz="2800" dirty="0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完成</a:t>
            </a:r>
            <a:r>
              <a:rPr lang="en-US" sz="2800" dirty="0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1-3</a:t>
            </a:r>
            <a:r>
              <a:rPr sz="2800" dirty="0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题</a:t>
            </a:r>
            <a:r>
              <a:rPr sz="280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。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5192459" y="2172970"/>
            <a:ext cx="6619240" cy="39333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30000"/>
              </a:lnSpc>
            </a:pP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活动中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，属于农业活动的有（     ）</a:t>
            </a:r>
          </a:p>
          <a:p>
            <a:pPr indent="0">
              <a:lnSpc>
                <a:spcPct val="130000"/>
              </a:lnSpc>
            </a:pP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①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挖笋②采茶③观候鸟④编竹子</a:t>
            </a:r>
            <a:endParaRPr sz="2400" b="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0">
              <a:lnSpc>
                <a:spcPct val="130000"/>
              </a:lnSpc>
            </a:pP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A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①②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	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B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①④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  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C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③④</a:t>
            </a:r>
            <a:r>
              <a:rPr lang="en-US" sz="240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sz="240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D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②③</a:t>
            </a:r>
            <a:endParaRPr sz="2400" b="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0">
              <a:lnSpc>
                <a:spcPct val="130000"/>
              </a:lnSpc>
            </a:pP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活动中的农业属于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（     ）</a:t>
            </a:r>
          </a:p>
          <a:p>
            <a:pPr indent="0">
              <a:lnSpc>
                <a:spcPct val="130000"/>
              </a:lnSpc>
            </a:pP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A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种植业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	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B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畜牧业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	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C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林业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 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D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渔业</a:t>
            </a:r>
            <a:endParaRPr sz="2400" b="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0">
              <a:lnSpc>
                <a:spcPct val="130000"/>
              </a:lnSpc>
            </a:pP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lang="en-US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开展活动的地理区域是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（     ）</a:t>
            </a:r>
          </a:p>
          <a:p>
            <a:pPr indent="0">
              <a:lnSpc>
                <a:spcPct val="130000"/>
              </a:lnSpc>
            </a:pP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A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北方地区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	</a:t>
            </a:r>
            <a:r>
              <a:rPr lang="en-US"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B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南方地区</a:t>
            </a:r>
            <a:endParaRPr sz="2400" b="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0">
              <a:lnSpc>
                <a:spcPct val="130000"/>
              </a:lnSpc>
            </a:pP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C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西北地区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	</a:t>
            </a:r>
            <a:r>
              <a:rPr lang="en-US" sz="2400" b="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D</a:t>
            </a:r>
            <a:r>
              <a:rPr lang="en-US"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.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青藏地区</a:t>
            </a:r>
            <a:endParaRPr sz="2400" b="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732645" y="2176211"/>
            <a:ext cx="46037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8502079" y="3638232"/>
            <a:ext cx="46037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9139508" y="4577686"/>
            <a:ext cx="46037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</a:p>
        </p:txBody>
      </p:sp>
      <p:pic>
        <p:nvPicPr>
          <p:cNvPr id="122" name="图片 121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161" y="2253932"/>
            <a:ext cx="4103008" cy="180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图片 122"/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160" y="4207819"/>
            <a:ext cx="4291965" cy="180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3220" y="979496"/>
            <a:ext cx="1054481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农业是我们的衣食之源、生存之本，粮食生产更是重中之重。下图示意我国主要粮食作物分布。读图，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完成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4-5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题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方正楷体_GBK" panose="03000509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90865" y="2168752"/>
            <a:ext cx="7422835" cy="41549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我国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     ）</a:t>
            </a: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秦岭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—淮河是小麦种植的北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玉米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仅种植在北方地区</a:t>
            </a: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粮食作物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多分布在东部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季风区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D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水稻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集中产区分布最广</a:t>
            </a: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与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小麦集中产区相比，水稻集中产区农业生产的优势条件是（     ）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①地形较为平坦     ②灌溉水源充足  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③热量条件较好     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④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年降水量较多</a:t>
            </a: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③      B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④      C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③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④      D</a:t>
            </a:r>
            <a:r>
              <a:rPr lang="en-US" altLang="zh-CN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③④</a:t>
            </a: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095996" y="2168752"/>
            <a:ext cx="46037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865809" y="4187521"/>
            <a:ext cx="460375" cy="5103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</a:p>
        </p:txBody>
      </p:sp>
      <p:pic>
        <p:nvPicPr>
          <p:cNvPr id="124" name="图片 123"/>
          <p:cNvPicPr/>
          <p:nvPr/>
        </p:nvPicPr>
        <p:blipFill>
          <a:blip r:embed="rId4"/>
          <a:stretch>
            <a:fillRect/>
          </a:stretch>
        </p:blipFill>
        <p:spPr>
          <a:xfrm>
            <a:off x="285732" y="2582862"/>
            <a:ext cx="3910330" cy="3326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文本框 108"/>
          <p:cNvSpPr txBox="1"/>
          <p:nvPr/>
        </p:nvSpPr>
        <p:spPr>
          <a:xfrm>
            <a:off x="620077" y="1002927"/>
            <a:ext cx="53835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73355" indent="-173355"/>
            <a:r>
              <a:rPr lang="en-US" altLang="zh-CN" sz="2400" b="0" dirty="0" smtClean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</a:rPr>
              <a:t>6.</a:t>
            </a:r>
            <a:r>
              <a:rPr sz="2400" dirty="0">
                <a:latin typeface="黑体" panose="02010609060101010101" pitchFamily="49" charset="-122"/>
                <a:ea typeface="黑体" panose="02010609060101010101" pitchFamily="49" charset="-122"/>
                <a:cs typeface="方正楷体_GBK" panose="03000509000000000000" charset="-122"/>
                <a:sym typeface="+mn-ea"/>
              </a:rPr>
              <a:t>读我国农业地区分布图，回答问题。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  <a:cs typeface="方正楷体_GBK" panose="03000509000000000000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525145" y="3736975"/>
            <a:ext cx="11378834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/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图中曲线为</a:t>
            </a:r>
            <a:r>
              <a:rPr lang="en-US" sz="2400" b="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sz="2400" b="0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毫米年等降水量线，该线以东以</a:t>
            </a:r>
            <a:r>
              <a:rPr lang="en-US" sz="2400" b="0" u="sng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sz="2400" b="0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业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（农业生产部门）为主，主要地形类型以</a:t>
            </a:r>
            <a:r>
              <a:rPr lang="en-US" sz="2400" b="0" u="sng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sz="2400" b="0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和丘陵为主，该线以西以</a:t>
            </a:r>
            <a:r>
              <a:rPr lang="en-US" sz="2400" b="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sz="2400" b="0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业为主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indent="0" algn="just"/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西部地区天然草场广布，A所在的区域是我国四大牧区中的</a:t>
            </a:r>
            <a:r>
              <a:rPr lang="en-US" sz="2400" b="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牧区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indent="0" algn="just"/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西部地区的种植业只分布在有灌溉水源的平原、河谷和绿洲，主要种植小麦、玉米、棉花等农作物。西部地区有我国最大的棉花产区B</a:t>
            </a:r>
            <a:r>
              <a:rPr lang="en-US" sz="2400" b="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sz="2400" b="0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省级行政区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），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当地生产的长绒棉品质优良，享誉全国</a:t>
            </a:r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indent="0" algn="just"/>
            <a:r>
              <a:rPr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sz="24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东部地区中，甲、乙、</a:t>
            </a:r>
            <a:r>
              <a:rPr sz="2400" b="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丙三地发展农业共同的优势气候条件是</a:t>
            </a:r>
            <a:r>
              <a:rPr lang="en-US" sz="2400" b="0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sz="24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2" name="文本框 68621"/>
          <p:cNvSpPr txBox="1"/>
          <p:nvPr>
            <p:custDataLst>
              <p:tags r:id="rId1"/>
            </p:custDataLst>
          </p:nvPr>
        </p:nvSpPr>
        <p:spPr>
          <a:xfrm>
            <a:off x="2896140" y="3736658"/>
            <a:ext cx="699230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400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224520" y="3748921"/>
            <a:ext cx="803425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种植</a:t>
            </a: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879636" y="4089686"/>
            <a:ext cx="803425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平原</a:t>
            </a: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8368721" y="4089685"/>
            <a:ext cx="803425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畜牧</a:t>
            </a: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9293355" y="4461729"/>
            <a:ext cx="1112805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内蒙古</a:t>
            </a: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8119916" y="5203578"/>
            <a:ext cx="2659702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新疆维吾尔自治区</a:t>
            </a: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9508490" y="5907488"/>
            <a:ext cx="1422184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雨热同期</a:t>
            </a:r>
          </a:p>
        </p:txBody>
      </p:sp>
      <p:pic>
        <p:nvPicPr>
          <p:cNvPr id="100003" name="图片 100003" descr="@@@cd0b54d4-3bf4-467d-bafd-a395a27fad8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8418" y="669925"/>
            <a:ext cx="4257675" cy="3067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2" grpId="0"/>
      <p:bldP spid="4" grpId="0"/>
      <p:bldP spid="14" grpId="0"/>
      <p:bldP spid="16" grpId="0"/>
      <p:bldP spid="18" grpId="0"/>
      <p:bldP spid="20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5514" y="1680845"/>
            <a:ext cx="9865995" cy="409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64223" y="4392141"/>
            <a:ext cx="9663556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410" y="3097350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50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刻录光碟销售。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9476" y="356250"/>
            <a:ext cx="7893049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230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c0YmVkNzIyYTUyMGViMjlkZjRjOWNkOGFjNWZiM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752*152"/>
  <p:tag name="TABLE_ENDDRAG_RECT" val="124*151*752*15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00*352"/>
  <p:tag name="TABLE_ENDDRAG_RECT" val="97*106*600*35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模板网-WWW.1PPT.COM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1870</Words>
  <Application>Microsoft Office PowerPoint</Application>
  <PresentationFormat>自定义</PresentationFormat>
  <Paragraphs>164</Paragraphs>
  <Slides>24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第一PPT模板网-WWW.1PPT.COM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第一PPT模板网-WWW.1PPT.COM</dc:creator>
  <cp:lastModifiedBy>123</cp:lastModifiedBy>
  <cp:revision>109</cp:revision>
  <dcterms:created xsi:type="dcterms:W3CDTF">2020-02-01T11:49:00Z</dcterms:created>
  <dcterms:modified xsi:type="dcterms:W3CDTF">2024-09-02T09:21:04Z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AE74050797C74E658E4EBF76FAACC020_12</vt:lpwstr>
  </property>
</Properties>
</file>