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35"/>
  </p:handoutMasterIdLst>
  <p:sldIdLst>
    <p:sldId id="16672310" r:id="rId4"/>
    <p:sldId id="11088818" r:id="rId5"/>
    <p:sldId id="16672242" r:id="rId6"/>
    <p:sldId id="16672301" r:id="rId8"/>
    <p:sldId id="16672303" r:id="rId9"/>
    <p:sldId id="16672302" r:id="rId10"/>
    <p:sldId id="16672304" r:id="rId11"/>
    <p:sldId id="16672319" r:id="rId12"/>
    <p:sldId id="16672325" r:id="rId13"/>
    <p:sldId id="16672323" r:id="rId14"/>
    <p:sldId id="16672341" r:id="rId15"/>
    <p:sldId id="16672334" r:id="rId16"/>
    <p:sldId id="16672335" r:id="rId17"/>
    <p:sldId id="16672324" r:id="rId18"/>
    <p:sldId id="16672307" r:id="rId19"/>
    <p:sldId id="16672312" r:id="rId20"/>
    <p:sldId id="16672313" r:id="rId21"/>
    <p:sldId id="16672314" r:id="rId22"/>
    <p:sldId id="16672321" r:id="rId23"/>
    <p:sldId id="16672326" r:id="rId24"/>
    <p:sldId id="16672327" r:id="rId25"/>
    <p:sldId id="16672328" r:id="rId26"/>
    <p:sldId id="16672330" r:id="rId27"/>
    <p:sldId id="16672331" r:id="rId28"/>
    <p:sldId id="16672333" r:id="rId29"/>
    <p:sldId id="16672338" r:id="rId30"/>
    <p:sldId id="16672339" r:id="rId31"/>
    <p:sldId id="16672340" r:id="rId32"/>
    <p:sldId id="16672305" r:id="rId33"/>
    <p:sldId id="1667229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FFF"/>
    <a:srgbClr val="FBAD19"/>
    <a:srgbClr val="FB8F3C"/>
    <a:srgbClr val="F8A651"/>
    <a:srgbClr val="FBAD20"/>
    <a:srgbClr val="F3CA3C"/>
    <a:srgbClr val="F3CC46"/>
    <a:srgbClr val="FFF2D9"/>
    <a:srgbClr val="FFEC4A"/>
    <a:srgbClr val="FFD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6" autoAdjust="0"/>
    <p:restoredTop sz="90402"/>
  </p:normalViewPr>
  <p:slideViewPr>
    <p:cSldViewPr snapToGrid="0" snapToObjects="1" showGuides="1">
      <p:cViewPr varScale="1">
        <p:scale>
          <a:sx n="100" d="100"/>
          <a:sy n="100" d="100"/>
        </p:scale>
        <p:origin x="360" y="48"/>
      </p:cViewPr>
      <p:guideLst>
        <p:guide orient="horz" pos="2148"/>
        <p:guide pos="38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B6A7B-1B4F-1140-92A6-C6824A8D2EC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3F247-190E-8442-A6E6-7354B66410C5}" type="datetimeFigureOut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F4C82-C2E4-B543-8475-BD56381FBFD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0" i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defRPr>
            </a:lvl1pPr>
          </a:lstStyle>
          <a:p>
            <a:r>
              <a:rPr lang="zh-CN" altLang="en-US" noProof="0" dirty="0"/>
              <a:t> </a:t>
            </a:r>
            <a:endParaRPr lang="en-GB" noProof="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62753"/>
            <a:ext cx="12192000" cy="952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3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34" name="图片 33"/>
          <p:cNvPicPr>
            <a:picLocks noChangeAspect="1"/>
          </p:cNvPicPr>
          <p:nvPr userDrawn="1"/>
        </p:nvPicPr>
        <p:blipFill rotWithShape="1">
          <a:blip r:embed="rId2"/>
          <a:srcRect b="34876"/>
          <a:stretch>
            <a:fillRect/>
          </a:stretch>
        </p:blipFill>
        <p:spPr>
          <a:xfrm>
            <a:off x="914400" y="5022954"/>
            <a:ext cx="10363200" cy="18350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2581" y="1228647"/>
            <a:ext cx="6630313" cy="3830317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289281" y="235741"/>
            <a:ext cx="11568287" cy="1365673"/>
          </a:xfr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735" b="0" i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0" dirty="0"/>
              <a:t>目录</a:t>
            </a:r>
            <a:br>
              <a:rPr lang="en-US" altLang="zh-CN" noProof="0" dirty="0"/>
            </a:br>
            <a:endParaRPr lang="en-GB" noProof="0" dirty="0"/>
          </a:p>
        </p:txBody>
      </p:sp>
      <p:sp>
        <p:nvSpPr>
          <p:cNvPr id="26" name="Inhaltsplatzhalter 2"/>
          <p:cNvSpPr>
            <a:spLocks noGrp="1"/>
          </p:cNvSpPr>
          <p:nvPr>
            <p:ph idx="16" hasCustomPrompt="1"/>
          </p:nvPr>
        </p:nvSpPr>
        <p:spPr>
          <a:xfrm>
            <a:off x="3263900" y="2592691"/>
            <a:ext cx="5664200" cy="3909711"/>
          </a:xfrm>
        </p:spPr>
        <p:txBody>
          <a:bodyPr vert="horz" lIns="0" tIns="0" rIns="0" bIns="0" rtlCol="0" anchor="t" anchorCtr="0">
            <a:noAutofit/>
          </a:bodyPr>
          <a:lstStyle>
            <a:lvl1pPr marL="304800" indent="-304800" algn="l" hangingPunct="0">
              <a:lnSpc>
                <a:spcPct val="150000"/>
              </a:lnSpc>
              <a:buFont typeface="+mj-lt"/>
              <a:buAutoNum type="arabicPeriod"/>
              <a:defRPr lang="de-DE" sz="2135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0" marR="0" indent="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-"/>
              <a:defRPr lang="de-DE" sz="2135" b="0" i="0" dirty="0" smtClean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25000"/>
              </a:lnSpc>
              <a:defRPr lang="de-DE" sz="1335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de-DE" sz="1600" dirty="0" smtClean="0"/>
            </a:lvl4pPr>
            <a:lvl5pPr>
              <a:defRPr lang="de-DE" sz="1600" dirty="0"/>
            </a:lvl5pPr>
          </a:lstStyle>
          <a:p>
            <a:pPr lvl="0"/>
            <a:r>
              <a:rPr lang="zh-CN" altLang="en-US" dirty="0"/>
              <a:t>编辑题目</a:t>
            </a:r>
            <a:r>
              <a:rPr lang="en-US" altLang="zh-CN" dirty="0"/>
              <a:t> 16pt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F2403-3A2B-7341-859C-AF9A1DF858CC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6.xml"/><Relationship Id="rId3" Type="http://schemas.openxmlformats.org/officeDocument/2006/relationships/image" Target="../media/image7.jpe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8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0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4.xml"/><Relationship Id="rId2" Type="http://schemas.openxmlformats.org/officeDocument/2006/relationships/image" Target="../media/image14.png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7.xml"/><Relationship Id="rId3" Type="http://schemas.openxmlformats.org/officeDocument/2006/relationships/image" Target="../media/image15.png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33.xml"/><Relationship Id="rId3" Type="http://schemas.openxmlformats.org/officeDocument/2006/relationships/image" Target="../media/image16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36.xml"/><Relationship Id="rId3" Type="http://schemas.openxmlformats.org/officeDocument/2006/relationships/image" Target="../media/image17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39.xml"/><Relationship Id="rId3" Type="http://schemas.openxmlformats.org/officeDocument/2006/relationships/image" Target="../media/image18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51.xml"/><Relationship Id="rId3" Type="http://schemas.openxmlformats.org/officeDocument/2006/relationships/image" Target="../media/image19.png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53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52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56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59.xml"/><Relationship Id="rId3" Type="http://schemas.openxmlformats.org/officeDocument/2006/relationships/image" Target="../media/image24.png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0518" y="2273300"/>
            <a:ext cx="83419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latin typeface="宋体" charset="0"/>
                <a:ea typeface="宋体" charset="0"/>
                <a:cs typeface="宋体" charset="0"/>
              </a:rPr>
              <a:t>2026</a:t>
            </a:r>
            <a:r>
              <a:rPr kumimoji="1" lang="zh-CN" altLang="en-US" sz="3600" b="1" dirty="0">
                <a:latin typeface="宋体" charset="0"/>
                <a:ea typeface="宋体" charset="0"/>
                <a:cs typeface="宋体" charset="0"/>
              </a:rPr>
              <a:t>年中国高校计算机大赛</a:t>
            </a:r>
            <a:r>
              <a:rPr kumimoji="1" lang="en-US" altLang="zh-CN" sz="3600" b="1" dirty="0">
                <a:latin typeface="宋体" charset="0"/>
                <a:ea typeface="宋体" charset="0"/>
                <a:cs typeface="宋体" charset="0"/>
              </a:rPr>
              <a:t>-AIGC</a:t>
            </a:r>
            <a:r>
              <a:rPr kumimoji="1" lang="zh-CN" altLang="en-US" sz="3600" b="1" dirty="0">
                <a:latin typeface="宋体" charset="0"/>
                <a:ea typeface="宋体" charset="0"/>
                <a:cs typeface="宋体" charset="0"/>
              </a:rPr>
              <a:t>创新赛</a:t>
            </a:r>
            <a:endParaRPr kumimoji="1" lang="zh-CN" altLang="en-US" sz="3600" b="1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64900" y="3762757"/>
            <a:ext cx="6535918" cy="1476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宋体" charset="0"/>
                <a:ea typeface="宋体" charset="0"/>
                <a:cs typeface="宋体" charset="0"/>
              </a:rPr>
              <a:t>作品名称：</a:t>
            </a:r>
            <a:r>
              <a:rPr kumimoji="1" lang="en-US" altLang="zh-CN" sz="2000" b="1" dirty="0">
                <a:latin typeface="宋体" charset="0"/>
                <a:ea typeface="宋体" charset="0"/>
                <a:cs typeface="宋体" charset="0"/>
              </a:rPr>
              <a:t>《</a:t>
            </a:r>
            <a:r>
              <a:rPr kumimoji="1" lang="zh-CN" altLang="en-US" sz="2000" b="1" dirty="0">
                <a:latin typeface="宋体" charset="0"/>
                <a:ea typeface="宋体" charset="0"/>
                <a:cs typeface="宋体" charset="0"/>
              </a:rPr>
              <a:t>智序知识助手——</a:t>
            </a:r>
            <a:r>
              <a:rPr kumimoji="1" lang="en-US" altLang="zh-CN" sz="2000" b="1" dirty="0">
                <a:latin typeface="宋体" charset="0"/>
                <a:ea typeface="宋体" charset="0"/>
                <a:cs typeface="宋体" charset="0"/>
              </a:rPr>
              <a:t>AI</a:t>
            </a:r>
            <a:r>
              <a:rPr kumimoji="1" lang="zh-CN" altLang="en-US" sz="2000" b="1" dirty="0">
                <a:latin typeface="宋体" charset="0"/>
                <a:ea typeface="宋体" charset="0"/>
                <a:cs typeface="宋体" charset="0"/>
              </a:rPr>
              <a:t>时代的完整学习闭环</a:t>
            </a:r>
            <a:r>
              <a:rPr kumimoji="1" lang="en-US" altLang="zh-CN" sz="2000" b="1" dirty="0">
                <a:latin typeface="宋体" charset="0"/>
                <a:ea typeface="宋体" charset="0"/>
                <a:cs typeface="宋体" charset="0"/>
              </a:rPr>
              <a:t>》</a:t>
            </a:r>
            <a:endParaRPr kumimoji="1" lang="en-US" altLang="zh-CN" sz="2000" b="1" dirty="0">
              <a:latin typeface="宋体" charset="0"/>
              <a:ea typeface="宋体" charset="0"/>
              <a:cs typeface="宋体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宋体" charset="0"/>
                <a:ea typeface="宋体" charset="0"/>
                <a:cs typeface="宋体" charset="0"/>
              </a:rPr>
              <a:t>团队名称：人见人</a:t>
            </a:r>
            <a:r>
              <a:rPr kumimoji="1" lang="en-US" altLang="zh-CN" sz="2000" b="1" dirty="0">
                <a:latin typeface="宋体" charset="0"/>
                <a:ea typeface="宋体" charset="0"/>
                <a:cs typeface="宋体" charset="0"/>
              </a:rPr>
              <a:t>eye</a:t>
            </a:r>
            <a:r>
              <a:rPr kumimoji="1" lang="zh-CN" altLang="en-US" sz="2000" b="1" dirty="0">
                <a:latin typeface="宋体" charset="0"/>
                <a:ea typeface="宋体" charset="0"/>
                <a:cs typeface="宋体" charset="0"/>
              </a:rPr>
              <a:t>队</a:t>
            </a:r>
            <a:endParaRPr kumimoji="1" lang="zh-CN" altLang="en-US" sz="2000" b="1" dirty="0">
              <a:latin typeface="宋体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2907292" cy="3095235"/>
            <a:chOff x="3702795" y="1590672"/>
            <a:chExt cx="2907292" cy="3095235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/>
                  </a:solidFill>
                  <a:latin typeface="宋体" charset="0"/>
                  <a:ea typeface="宋体" charset="0"/>
                  <a:cs typeface="宋体" charset="0"/>
                </a:rPr>
                <a:t>1.</a:t>
              </a:r>
              <a:endParaRPr kumimoji="1" lang="zh-CN" altLang="en-US" sz="4000" b="1" dirty="0">
                <a:solidFill>
                  <a:srgbClr val="446FFF"/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40000"/>
                    </a:srgbClr>
                  </a:solidFill>
                  <a:latin typeface="宋体" charset="0"/>
                  <a:ea typeface="宋体" charset="0"/>
                  <a:cs typeface="宋体" charset="0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40000"/>
                  </a:srgbClr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宋体" charset="0"/>
                  <a:ea typeface="宋体" charset="0"/>
                  <a:cs typeface="宋体" charset="0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宋体" charset="0"/>
                  <a:ea typeface="宋体" charset="0"/>
                  <a:cs typeface="vivo Sans Extrabold" panose="02000500000000000000" pitchFamily="2" charset="-122"/>
                </a:rPr>
                <a:t>团队介绍</a:t>
              </a:r>
              <a:endParaRPr kumimoji="1" lang="zh-CN" altLang="en-US" sz="3735" dirty="0">
                <a:solidFill>
                  <a:prstClr val="black"/>
                </a:solidFill>
                <a:latin typeface="宋体" charset="0"/>
                <a:ea typeface="宋体" charset="0"/>
                <a:cs typeface="vivo Sans Extrabold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宋体" charset="0"/>
                  <a:ea typeface="宋体" charset="0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宋体" charset="0"/>
                <a:ea typeface="宋体" charset="0"/>
                <a:cs typeface="vivo Sans Medium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宋体" charset="0"/>
                  <a:ea typeface="宋体" charset="0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宋体" charset="0"/>
                <a:ea typeface="宋体" charset="0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宋体" charset="0"/>
                <a:ea typeface="宋体" charset="0"/>
                <a:cs typeface="vivo Sans" panose="02000500000000000000" pitchFamily="2" charset="-122"/>
              </a:rPr>
              <a:t>团队介绍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11503" y="1274470"/>
            <a:ext cx="5619068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团队名称：人见人</a:t>
            </a:r>
            <a:r>
              <a:rPr lang="en-US" altLang="zh-CN" dirty="0">
                <a:effectLst/>
                <a:latin typeface="宋体" charset="0"/>
                <a:ea typeface="宋体" charset="0"/>
                <a:cs typeface="宋体" charset="0"/>
              </a:rPr>
              <a:t>eye</a:t>
            </a: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队</a:t>
            </a:r>
            <a:endParaRPr lang="en-US" altLang="zh-CN" dirty="0">
              <a:effectLst/>
              <a:latin typeface="宋体" charset="0"/>
              <a:ea typeface="宋体" charset="0"/>
              <a:cs typeface="宋体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dirty="0">
                <a:latin typeface="宋体" charset="0"/>
                <a:ea typeface="宋体" charset="0"/>
                <a:cs typeface="宋体" charset="0"/>
              </a:rPr>
              <a:t>团队成员：</a:t>
            </a:r>
            <a:endParaRPr kumimoji="1"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宋体" charset="0"/>
                <a:ea typeface="宋体" charset="0"/>
                <a:cs typeface="宋体" charset="0"/>
              </a:rPr>
              <a:t>张楚浛 南开大学  </a:t>
            </a:r>
            <a:r>
              <a:rPr kumimoji="1" lang="en-US" altLang="zh-CN" dirty="0">
                <a:latin typeface="宋体" charset="0"/>
                <a:ea typeface="宋体" charset="0"/>
                <a:cs typeface="宋体" charset="0"/>
              </a:rPr>
              <a:t>（UI</a:t>
            </a:r>
            <a:r>
              <a:rPr kumimoji="1" lang="zh-CN" altLang="en-US" dirty="0">
                <a:latin typeface="宋体" charset="0"/>
                <a:ea typeface="宋体" charset="0"/>
                <a:cs typeface="宋体" charset="0"/>
              </a:rPr>
              <a:t>与交互设计）</a:t>
            </a:r>
            <a:endParaRPr kumimoji="1" lang="zh-CN" altLang="en-US" dirty="0">
              <a:latin typeface="宋体" charset="0"/>
              <a:ea typeface="宋体" charset="0"/>
              <a:cs typeface="宋体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宋体" charset="0"/>
                <a:ea typeface="宋体" charset="0"/>
                <a:cs typeface="宋体" charset="0"/>
              </a:rPr>
              <a:t>宗子路 南开大学  （产品经理）</a:t>
            </a:r>
            <a:endParaRPr kumimoji="1" lang="zh-CN" altLang="en-US" dirty="0">
              <a:latin typeface="宋体" charset="0"/>
              <a:ea typeface="宋体" charset="0"/>
              <a:cs typeface="宋体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宋体" charset="0"/>
                <a:ea typeface="宋体" charset="0"/>
                <a:cs typeface="宋体" charset="0"/>
              </a:rPr>
              <a:t>贺昭雄 南开大学  （前端开发）</a:t>
            </a:r>
            <a:endParaRPr kumimoji="1" lang="zh-CN" altLang="en-US" dirty="0">
              <a:latin typeface="宋体" charset="0"/>
              <a:ea typeface="宋体" charset="0"/>
              <a:cs typeface="宋体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宋体" charset="0"/>
                <a:ea typeface="宋体" charset="0"/>
                <a:cs typeface="宋体" charset="0"/>
              </a:rPr>
              <a:t>陈志敏 南开大学  （服务端开发）</a:t>
            </a:r>
            <a:endParaRPr kumimoji="1"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宋体" charset="0"/>
                <a:ea typeface="宋体" charset="0"/>
                <a:cs typeface="宋体" charset="0"/>
              </a:rPr>
              <a:t>指导老师：高楠</a:t>
            </a:r>
            <a:endParaRPr kumimoji="1" lang="en-US" altLang="zh-CN" dirty="0"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2907292" cy="3095235"/>
            <a:chOff x="3702795" y="1590672"/>
            <a:chExt cx="2907292" cy="3095235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宋体" charset="0"/>
                  <a:ea typeface="宋体" charset="0"/>
                  <a:cs typeface="宋体" charset="0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/>
                  </a:solidFill>
                  <a:latin typeface="宋体" charset="0"/>
                  <a:ea typeface="宋体" charset="0"/>
                  <a:cs typeface="宋体" charset="0"/>
                </a:rPr>
                <a:t>2.</a:t>
              </a:r>
              <a:endParaRPr kumimoji="1" lang="zh-CN" altLang="en-US" sz="4000" b="1" dirty="0">
                <a:solidFill>
                  <a:srgbClr val="FF5292"/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宋体" charset="0"/>
                  <a:ea typeface="宋体" charset="0"/>
                  <a:cs typeface="宋体" charset="0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宋体" charset="0"/>
                  <a:ea typeface="宋体" charset="0"/>
                  <a:cs typeface="vivo Sans Medium" panose="02000500000000000000" pitchFamily="2" charset="-122"/>
                </a:rPr>
                <a:t>团队介绍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宋体" charset="0"/>
                <a:ea typeface="宋体" charset="0"/>
                <a:cs typeface="vivo Sans Medium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宋体" charset="0"/>
                  <a:ea typeface="宋体" charset="0"/>
                  <a:cs typeface="vivo Sans Extrabold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prstClr val="black"/>
                </a:solidFill>
                <a:latin typeface="宋体" charset="0"/>
                <a:ea typeface="宋体" charset="0"/>
                <a:cs typeface="vivo Sans Extrabold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宋体" charset="0"/>
                  <a:ea typeface="宋体" charset="0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宋体" charset="0"/>
                <a:ea typeface="宋体" charset="0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宋体" charset="0"/>
                <a:ea typeface="宋体" charset="0"/>
                <a:cs typeface="vivo Sans" panose="02000500000000000000" pitchFamily="2" charset="-122"/>
              </a:rPr>
              <a:t>作品简介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8313" y="1106730"/>
            <a:ext cx="6697592" cy="54500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宋体" charset="0"/>
                <a:ea typeface="宋体" charset="0"/>
                <a:cs typeface="宋体" charset="0"/>
              </a:rPr>
              <a:t>作品名称：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智序知识助手——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时代的完整学习闭环</a:t>
            </a:r>
            <a:endParaRPr lang="en-US" altLang="zh-CN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宋体" charset="0"/>
              </a:rPr>
              <a:t>作品概述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：</a:t>
            </a:r>
            <a:br>
              <a:rPr lang="zh-CN" altLang="en-US" dirty="0">
                <a:latin typeface="宋体" charset="0"/>
                <a:ea typeface="宋体" charset="0"/>
                <a:cs typeface="宋体" charset="0"/>
              </a:rPr>
            </a:b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	    </a:t>
            </a: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智序知识助手是一款面向学生、备考用户与泛学习人群的</a:t>
            </a:r>
            <a:r>
              <a:rPr lang="en-US" altLang="zh-CN" dirty="0">
                <a:effectLst/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原生学习系统。产品聚焦“资料很多但学不会”的核心痛点，支持文本、</a:t>
            </a:r>
            <a:r>
              <a:rPr lang="en-US" altLang="zh-CN" dirty="0">
                <a:effectLst/>
                <a:latin typeface="宋体" charset="0"/>
                <a:ea typeface="宋体" charset="0"/>
                <a:cs typeface="宋体" charset="0"/>
              </a:rPr>
              <a:t>PDF、PPT</a:t>
            </a: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等学习资料一键导入，通过大模型自动完成知识提炼、结构化笔记生成、思维导图构建、引用回链与复习功能生成。</a:t>
            </a:r>
            <a:b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</a:b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       相比传统笔记工具仅解决“记录”问题，智序更关注“学习闭环”：用户不仅能够快速理解知识结构，还可以通过错题回链、</a:t>
            </a:r>
            <a:r>
              <a:rPr lang="en-US" altLang="zh-CN" dirty="0">
                <a:effectLst/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对话、复习计划等功能持续巩固学习内容。系统利用</a:t>
            </a:r>
            <a:r>
              <a:rPr lang="en-US" altLang="zh-CN" dirty="0">
                <a:effectLst/>
                <a:latin typeface="宋体" charset="0"/>
                <a:ea typeface="宋体" charset="0"/>
                <a:cs typeface="宋体" charset="0"/>
              </a:rPr>
              <a:t>RAG</a:t>
            </a: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与来源索引机制，将</a:t>
            </a:r>
            <a:r>
              <a:rPr lang="en-US" altLang="zh-CN" dirty="0">
                <a:effectLst/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effectLst/>
                <a:latin typeface="宋体" charset="0"/>
                <a:ea typeface="宋体" charset="0"/>
                <a:cs typeface="宋体" charset="0"/>
              </a:rPr>
              <a:t>生成结果与原始资料绑定，提升学习可信度，帮助用户把碎片化资料真正转化为可理解、可追溯、可复习的长期知识资产。</a:t>
            </a:r>
            <a:endParaRPr lang="en-US" altLang="zh-CN" dirty="0">
              <a:effectLst/>
              <a:latin typeface="宋体" charset="0"/>
              <a:ea typeface="宋体" charset="0"/>
              <a:cs typeface="宋体" charset="0"/>
            </a:endParaRPr>
          </a:p>
          <a:p>
            <a:pPr indent="0">
              <a:lnSpc>
                <a:spcPct val="150000"/>
              </a:lnSpc>
              <a:buNone/>
            </a:pPr>
            <a:endParaRPr lang="en-US" altLang="zh-CN" dirty="0">
              <a:solidFill>
                <a:srgbClr val="415FFF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491" y="150568"/>
            <a:ext cx="4358205" cy="655682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632826" y="1590672"/>
            <a:ext cx="2907292" cy="3095235"/>
            <a:chOff x="3702795" y="1590672"/>
            <a:chExt cx="2907292" cy="3095235"/>
          </a:xfrm>
        </p:grpSpPr>
        <p:sp>
          <p:nvSpPr>
            <p:cNvPr id="2" name="文本框 1"/>
            <p:cNvSpPr txBox="1"/>
            <p:nvPr/>
          </p:nvSpPr>
          <p:spPr>
            <a:xfrm>
              <a:off x="3702799" y="1590672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宋体" charset="0"/>
                  <a:ea typeface="宋体" charset="0"/>
                  <a:cs typeface="宋体" charset="0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702795" y="2766689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5292">
                      <a:alpha val="50000"/>
                    </a:srgbClr>
                  </a:solidFill>
                  <a:latin typeface="宋体" charset="0"/>
                  <a:ea typeface="宋体" charset="0"/>
                  <a:cs typeface="宋体" charset="0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50000"/>
                  </a:srgbClr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702795" y="3979152"/>
              <a:ext cx="565150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 dirty="0">
                  <a:solidFill>
                    <a:srgbClr val="FFB000"/>
                  </a:solidFill>
                  <a:latin typeface="宋体" charset="0"/>
                  <a:ea typeface="宋体" charset="0"/>
                  <a:cs typeface="宋体" charset="0"/>
                </a:rPr>
                <a:t>3.</a:t>
              </a:r>
              <a:endParaRPr kumimoji="1" lang="zh-CN" altLang="en-US" sz="4000" b="1" dirty="0">
                <a:solidFill>
                  <a:srgbClr val="FFB000"/>
                </a:solidFill>
                <a:latin typeface="宋体" charset="0"/>
                <a:ea typeface="宋体" charset="0"/>
                <a:cs typeface="宋体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27287" y="1611222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宋体" charset="0"/>
                  <a:ea typeface="宋体" charset="0"/>
                  <a:cs typeface="vivo Sans Medium" panose="02000500000000000000" pitchFamily="2" charset="-122"/>
                </a:rPr>
                <a:t>团队简介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宋体" charset="0"/>
                <a:ea typeface="宋体" charset="0"/>
                <a:cs typeface="vivo Sans Medium" panose="02000500000000000000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527287" y="2787239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srgbClr val="E7E6E6">
                      <a:lumMod val="90000"/>
                    </a:srgbClr>
                  </a:solidFill>
                  <a:latin typeface="宋体" charset="0"/>
                  <a:ea typeface="宋体" charset="0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 dirty="0">
                <a:solidFill>
                  <a:srgbClr val="E7E6E6">
                    <a:lumMod val="90000"/>
                  </a:srgbClr>
                </a:solidFill>
                <a:latin typeface="宋体" charset="0"/>
                <a:ea typeface="宋体" charset="0"/>
                <a:cs typeface="vivo Sans Medium" panose="02000500000000000000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527287" y="3999702"/>
              <a:ext cx="2082800" cy="6661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 dirty="0">
                  <a:solidFill>
                    <a:prstClr val="black"/>
                  </a:solidFill>
                  <a:latin typeface="宋体" charset="0"/>
                  <a:ea typeface="宋体" charset="0"/>
                  <a:cs typeface="vivo Sans Extrabold" panose="02000500000000000000" pitchFamily="2" charset="-122"/>
                </a:rPr>
                <a:t>作品策划</a:t>
              </a:r>
              <a:endParaRPr kumimoji="1" lang="zh-CN" altLang="en-US" sz="3735" dirty="0">
                <a:solidFill>
                  <a:prstClr val="black"/>
                </a:solidFill>
                <a:latin typeface="宋体" charset="0"/>
                <a:ea typeface="宋体" charset="0"/>
                <a:cs typeface="vivo Sans Extrabold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作品设计理念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charset="0"/>
                <a:ea typeface="微软雅黑" charset="0"/>
                <a:cs typeface="微软雅黑" charset="0"/>
              </a:rPr>
              <a:t>作品设计理念</a:t>
            </a:r>
            <a:endParaRPr kumimoji="1" lang="zh-CN" altLang="en-US" sz="1600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765" y="1163877"/>
            <a:ext cx="10891518" cy="53037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宋体" charset="0"/>
                <a:ea typeface="宋体" charset="0"/>
                <a:cs typeface="vivo Sans" panose="02000500000000000000" pitchFamily="2" charset="-122"/>
              </a:rPr>
              <a:t>核心创新点：</a:t>
            </a:r>
            <a:br>
              <a:rPr lang="zh-CN" altLang="en-US" dirty="0">
                <a:solidFill>
                  <a:srgbClr val="415FFF"/>
                </a:solidFill>
                <a:effectLst/>
                <a:latin typeface="vivo Sans" charset="0"/>
                <a:ea typeface="vivo Sans" charset="0"/>
                <a:cs typeface="vivo Sans" charset="0"/>
              </a:rPr>
            </a:br>
            <a:r>
              <a:rPr lang="zh-CN" altLang="en-US" dirty="0">
                <a:solidFill>
                  <a:srgbClr val="415FFF"/>
                </a:solidFill>
                <a:effectLst/>
                <a:latin typeface="vivo Sans" charset="0"/>
                <a:ea typeface="vivo Sans" charset="0"/>
                <a:cs typeface="vivo Sans" charset="0"/>
              </a:rPr>
              <a:t>	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基于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AIGC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构建“资料输入—知识理解—复习巩固—长期沉淀”的完整学习闭环，让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真正参与学习全过程。</a:t>
            </a:r>
            <a:endParaRPr lang="zh-CN" altLang="en-US" i="1" dirty="0">
              <a:solidFill>
                <a:srgbClr val="FF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vivo Sans" charset="0"/>
              </a:rPr>
              <a:t>设计背景与洞察</a:t>
            </a: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vivo Sans" panose="02000500000000000000" pitchFamily="2" charset="-122"/>
              </a:rPr>
              <a:t>：</a:t>
            </a:r>
            <a:br>
              <a:rPr lang="zh-CN" altLang="en-US" dirty="0">
                <a:solidFill>
                  <a:srgbClr val="415FFF"/>
                </a:solidFill>
                <a:latin typeface="vivo Sans" charset="0"/>
                <a:ea typeface="vivo Sans" charset="0"/>
                <a:cs typeface="vivo Sans" charset="0"/>
              </a:rPr>
            </a:br>
            <a:r>
              <a:rPr lang="zh-CN" altLang="en-US" dirty="0">
                <a:solidFill>
                  <a:srgbClr val="415FFF"/>
                </a:solidFill>
                <a:latin typeface="vivo Sans" charset="0"/>
                <a:ea typeface="vivo Sans" charset="0"/>
                <a:cs typeface="vivo Sans" charset="0"/>
              </a:rPr>
              <a:t>	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（1）</a:t>
            </a:r>
            <a:r>
              <a:rPr lang="zh-CN" altLang="en-US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学习资料越来越碎片化</a:t>
            </a:r>
            <a:endParaRPr lang="zh-CN" altLang="en-US" b="1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学生的学习内容分散在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PPT、PDF、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网课、截图和文档中，信息获取容易，但知识沉淀越来越困难。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（2）</a:t>
            </a:r>
            <a:r>
              <a:rPr lang="zh-CN" altLang="en-US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“收藏即学会”的假象</a:t>
            </a:r>
            <a:endParaRPr lang="zh-CN" altLang="en-US" b="1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大量资料被保存却从未真正复习，学习链路停留在“保存”阶段，无法形成长期掌握。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（3）</a:t>
            </a:r>
            <a:r>
              <a:rPr lang="zh-CN" altLang="en-US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传统笔记工具存在局限</a:t>
            </a:r>
            <a:endParaRPr lang="zh-CN" altLang="en-US" b="1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传统工具强调记录与归档，但无法主动帮助用户建立知识结构、生成复习路径与理解关系。</a:t>
            </a:r>
            <a:b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</a:b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（4）</a:t>
            </a:r>
            <a:r>
              <a:rPr lang="en-US" altLang="zh-CN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摘要不等于真正学习</a:t>
            </a:r>
            <a:endParaRPr lang="zh-CN" altLang="en-US" b="1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普通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工具只能生成摘要，但难以保证可信度，也无法形成完整复习闭环。</a:t>
            </a:r>
            <a:endParaRPr lang="zh-CN" altLang="en-US" i="1" dirty="0">
              <a:solidFill>
                <a:srgbClr val="FF0000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作品设计理念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729" y="1182313"/>
            <a:ext cx="10891518" cy="29716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宋体" charset="0"/>
              </a:rPr>
              <a:t>理念贯穿性：</a:t>
            </a:r>
            <a:endParaRPr lang="zh-CN" altLang="en-US" dirty="0">
              <a:solidFill>
                <a:srgbClr val="415FFF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本产品以“让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真正参与学习全过程”为核心理念，围绕“资料输入—知识理解—复习巩固—知识沉淀”的学习闭环进行设计。该理念贯穿于产品的功能流程、界面与交互设计中：用户可直接上传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PDF、PPT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或文本资料，系统自动生成结构化笔记与思维导图，并通过引用回链、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对话和复习建议帮助用户持续理解与巩固知识，实现从“保存资料”到“真正学会”的转变。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765" y="1163877"/>
            <a:ext cx="10891518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宋体" charset="0"/>
                <a:ea typeface="宋体" charset="0"/>
                <a:cs typeface="宋体" charset="0"/>
              </a:rPr>
              <a:t>核心功能解读： </a:t>
            </a:r>
            <a:br>
              <a:rPr lang="zh-CN" altLang="en-US" dirty="0">
                <a:solidFill>
                  <a:srgbClr val="415FFF"/>
                </a:solidFill>
                <a:effectLst/>
                <a:latin typeface="宋体" charset="0"/>
                <a:ea typeface="宋体" charset="0"/>
                <a:cs typeface="宋体" charset="0"/>
              </a:rPr>
            </a:br>
            <a:r>
              <a:rPr lang="zh-CN" altLang="en-US" dirty="0">
                <a:solidFill>
                  <a:srgbClr val="415FFF"/>
                </a:solidFill>
                <a:effectLst/>
                <a:latin typeface="宋体" charset="0"/>
                <a:ea typeface="宋体" charset="0"/>
                <a:cs typeface="宋体" charset="0"/>
              </a:rPr>
              <a:t>	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智序知识助手可一键导入文本、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PDF、PPT 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等资料，自动提炼重点、生成结构化笔记与思维导图，并通过引用回链保证内容可追溯，形成完整的学习闭环。</a:t>
            </a:r>
            <a:endParaRPr lang="zh-CN" altLang="en-US" i="1" dirty="0">
              <a:solidFill>
                <a:srgbClr val="FF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宋体" charset="0"/>
              </a:rPr>
              <a:t>作品的界面设计：</a:t>
            </a:r>
            <a:b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宋体" charset="0"/>
              </a:rPr>
            </a:b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宋体" charset="0"/>
              </a:rPr>
              <a:t>	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整体视觉风格：极简，以大面积留白、清晰层级、简洁图标和模块化卡片突出产品核心功能，符合 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学习工具“高效、清晰、智能”的产品气质。以白色和蓝色为主色调，白色增强画面的干净感和阅读舒适度，蓝色传达科技感、理性与可信赖，提升识别度与专业感；整体配色克制，能够突出“学习资料被有序整理”的产品卖点</a:t>
            </a:r>
            <a:r>
              <a:rPr lang="zh-CN" altLang="en-US" sz="1600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。</a:t>
            </a:r>
            <a:endParaRPr lang="zh-CN" altLang="en-US" i="1" dirty="0">
              <a:solidFill>
                <a:srgbClr val="FF0000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8791645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34" y="922217"/>
            <a:ext cx="2381477" cy="5601653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3580763" y="3082945"/>
            <a:ext cx="2515856" cy="69220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导入笔记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/PPT/PDF,</a:t>
            </a:r>
            <a:endParaRPr lang="en-US" altLang="zh-CN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自动生成结构化笔记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61578077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173" y="852776"/>
            <a:ext cx="2706494" cy="574052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584237" y="3152475"/>
            <a:ext cx="1783080" cy="92202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预览笔记效果，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沟通修改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78" y="1036670"/>
            <a:ext cx="2478952" cy="430094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932590" y="5337612"/>
            <a:ext cx="5221106" cy="121629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宋体" charset="0"/>
                <a:ea typeface="宋体" charset="0"/>
                <a:cs typeface="vivo Sans" charset="0"/>
              </a:rPr>
              <a:t>引用回链功能：</a:t>
            </a:r>
            <a:endParaRPr lang="zh-CN" altLang="en-US" sz="1600" b="1" dirty="0">
              <a:solidFill>
                <a:srgbClr val="000000"/>
              </a:solidFill>
              <a:latin typeface="宋体" charset="0"/>
              <a:ea typeface="宋体" charset="0"/>
              <a:cs typeface="vivo Sans" charset="0"/>
            </a:endParaRPr>
          </a:p>
          <a:p>
            <a:pPr marL="0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dirty="0">
                <a:solidFill>
                  <a:srgbClr val="000000"/>
                </a:solidFill>
                <a:latin typeface="宋体" charset="0"/>
                <a:ea typeface="宋体" charset="0"/>
                <a:cs typeface="vivo Sans" charset="0"/>
              </a:rPr>
              <a:t>用户点击引用编号后，自动弹出引用窗口，展示该知识点对应的原始文本段落，并对相关内容进行高亮标注。</a:t>
            </a:r>
            <a:endParaRPr lang="zh-CN" altLang="en-US" sz="1600" dirty="0">
              <a:solidFill>
                <a:srgbClr val="000000"/>
              </a:solidFill>
              <a:latin typeface="宋体" charset="0"/>
              <a:ea typeface="宋体" charset="0"/>
              <a:cs typeface="vivo Sans" charset="0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062" y="1036696"/>
            <a:ext cx="2380582" cy="44043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30567" y="5441017"/>
            <a:ext cx="6061456" cy="125304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sz="1600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对话辅助功能：</a:t>
            </a:r>
            <a:endParaRPr lang="zh-CN" altLang="en-US" sz="1600" b="1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marL="0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00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用户可以围绕学习内容向 </a:t>
            </a:r>
            <a:r>
              <a:rPr lang="en-US" altLang="zh-CN" sz="1600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sz="1600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提问，进一步解释难点、补充示例或调整生成结果，帮助用户在互动中深化理解并完善学习资料。</a:t>
            </a:r>
            <a:endParaRPr lang="zh-CN" altLang="en-US" sz="1600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9519578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82" y="1005815"/>
            <a:ext cx="5054584" cy="2531326"/>
          </a:xfrm>
          <a:prstGeom prst="rect">
            <a:avLst/>
          </a:prstGeom>
        </p:spPr>
      </p:pic>
      <p:pic>
        <p:nvPicPr>
          <p:cNvPr id="138646359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603" y="3759678"/>
            <a:ext cx="5054542" cy="2712039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1146336" y="1913811"/>
            <a:ext cx="4209818" cy="322407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indent="45720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思维导图页通过 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将笔记内容转化为更加直观、清晰的知识结构图，帮助用户快速理解知识层级与关联关系；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marL="0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marL="0" indent="45720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同时支持用户自主编辑与调整，进一步提升知识整理和学习效率。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278" y="852776"/>
            <a:ext cx="2784415" cy="5757529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5706766" y="2357017"/>
            <a:ext cx="5016767" cy="2408553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indent="45720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vivo Sans" charset="0"/>
              </a:rPr>
              <a:t>基于笔记内容生成复习建议与掌握度评估，在检验用户学习效果的同时，根据评估结果提供针对性复习方案。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vivo Sans" charset="0"/>
            </a:endParaRPr>
          </a:p>
          <a:p>
            <a:pPr marL="0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vivo Sans" charset="0"/>
            </a:endParaRPr>
          </a:p>
          <a:p>
            <a:pPr marL="0" indent="45720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vivo Sans" charset="0"/>
              </a:rPr>
              <a:t>该功能主要分为三大模块：问题生成、掌握度评估与复习建议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vivo Sans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产品原型设计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760" y="995498"/>
            <a:ext cx="10891518" cy="58095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vivo Sans" panose="02000500000000000000" pitchFamily="2" charset="-122"/>
              </a:rPr>
              <a:t>作品的交互设计：</a:t>
            </a:r>
            <a:endParaRPr lang="en-US" altLang="zh-CN" dirty="0">
              <a:solidFill>
                <a:srgbClr val="415FFF"/>
              </a:solidFill>
              <a:latin typeface="宋体" charset="0"/>
              <a:ea typeface="宋体" charset="0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i="1" dirty="0">
              <a:solidFill>
                <a:srgbClr val="FF0000"/>
              </a:solidFill>
              <a:effectLst/>
              <a:latin typeface="宋体" charset="0"/>
              <a:ea typeface="宋体" charset="0"/>
              <a:cs typeface="vivo Sans Bold" panose="02000500000000000000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760" y="5459062"/>
            <a:ext cx="1089151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宋体" charset="0"/>
                <a:ea typeface="宋体" charset="0"/>
                <a:cs typeface="vivo Sans" panose="02000500000000000000" pitchFamily="2" charset="-122"/>
              </a:rPr>
              <a:t>大模型的具体应用说明：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大模型可对文本、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PPT、PDF 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等多模态学习资料进行智能处理与内容总结，自动生成结构化笔记、思维导图和练习题，并基于练习结果评估学习效果，提供个性化学习建议。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791" y="4473538"/>
            <a:ext cx="10891518" cy="58095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宋体" charset="0"/>
                <a:ea typeface="宋体" charset="0"/>
                <a:cs typeface="vivo Sans" panose="02000500000000000000" pitchFamily="2" charset="-122"/>
              </a:rPr>
              <a:t>交互设计创新：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vivo Sans" charset="0"/>
              </a:rPr>
              <a:t>首次采用笔记、思维导图、练习题与复习建议相结合的多模态反馈模式，从知识整理、结构理解、效果检验到复习巩固，形成完整的学习支持闭环。</a:t>
            </a:r>
            <a:endParaRPr lang="en-US" altLang="zh-CN" dirty="0">
              <a:solidFill>
                <a:srgbClr val="415FFF"/>
              </a:solidFill>
              <a:latin typeface="宋体" charset="0"/>
              <a:ea typeface="宋体" charset="0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i="1" dirty="0">
              <a:solidFill>
                <a:srgbClr val="FF0000"/>
              </a:solidFill>
              <a:effectLst/>
              <a:latin typeface="宋体" charset="0"/>
              <a:ea typeface="宋体" charset="0"/>
              <a:cs typeface="vivo Sans Bold" panose="02000500000000000000" pitchFamily="2" charset="-122"/>
            </a:endParaRPr>
          </a:p>
        </p:txBody>
      </p:sp>
      <p:pic>
        <p:nvPicPr>
          <p:cNvPr id="13" name="图片 12" descr="post_object_image_3141378751"/>
          <p:cNvPicPr>
            <a:picLocks noChangeAspect="1"/>
          </p:cNvPicPr>
          <p:nvPr/>
        </p:nvPicPr>
        <p:blipFill>
          <a:blip r:embed="rId3"/>
          <a:srcRect t="31762" b="26965"/>
          <a:stretch>
            <a:fillRect/>
          </a:stretch>
        </p:blipFill>
        <p:spPr>
          <a:xfrm>
            <a:off x="823983" y="1589151"/>
            <a:ext cx="10483073" cy="2884424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宋体" charset="0"/>
                <a:ea typeface="宋体" charset="0"/>
                <a:cs typeface="vivo Sans" panose="02000500000000000000" pitchFamily="2" charset="-122"/>
              </a:rPr>
              <a:t>创新点说明</a:t>
            </a:r>
            <a:endParaRPr lang="zh-CN" altLang="en-US" sz="3200" spc="230" dirty="0">
              <a:solidFill>
                <a:schemeClr val="tx1"/>
              </a:solidFill>
              <a:uFillTx/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作品设计理念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产品原型设计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9551" y="1402470"/>
            <a:ext cx="10142850" cy="14541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本项目的创新性体现在将 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AIGC 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深度嵌入文档型学习资料处理的完整流程中。相比传统笔记工具和普通 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摘要工具，本产品从输入、理解、可视化、验证、复习到知识沉淀都围绕学习场景重新设计，形成了具有差异化的 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原生学习闭环。综上，我们总结出以下三个创新点：</a:t>
            </a:r>
            <a:b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</a:b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760650" y="3035402"/>
            <a:ext cx="8670662" cy="2866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创新点一 </a:t>
            </a:r>
            <a:r>
              <a:rPr lang="zh-CN" altLang="en-US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学习闭环：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从 “静态记录” 到 “主动学习”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创新点二 </a:t>
            </a:r>
            <a:r>
              <a:rPr lang="zh-CN" altLang="en-US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多模态输出：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从 “线性文本” 到 “结构化知识”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创新点三 </a:t>
            </a:r>
            <a:r>
              <a:rPr lang="zh-CN" altLang="en-US" b="1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引用回链机制：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让</a:t>
            </a:r>
            <a:r>
              <a:rPr lang="en-US" altLang="zh-CN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AI</a:t>
            </a:r>
            <a:r>
              <a:rPr lang="zh-CN" altLang="en-US" dirty="0">
                <a:solidFill>
                  <a:srgbClr val="000000"/>
                </a:solidFill>
                <a:latin typeface="宋体" charset="0"/>
                <a:ea typeface="宋体" charset="0"/>
                <a:cs typeface="宋体" charset="0"/>
              </a:rPr>
              <a:t>输出可追溯、可验证</a:t>
            </a: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000000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21101" y="231921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 defTabSz="4572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charset="0"/>
                <a:ea typeface="vivo Sans" charset="0"/>
                <a:cs typeface="vivo Sans" charset="0"/>
              </a:rPr>
              <a:t>创新点一：学习闭环，从 “静态记录” 到 “主动学习”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charset="0"/>
              <a:ea typeface="vivo Sans" charset="0"/>
              <a:cs typeface="vivo San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69865" y="247474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6170" y="1299885"/>
            <a:ext cx="5059395" cy="5094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传统笔记工具停留在 “记录 - 存档” 的静态阶段，用户整理完笔记后往往缺乏后续的复习、巩固与追踪机制，导致笔记变成 “看过即忘” 的存档文件。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本产品围绕学习场景重新设计了完整的学习闭环：从资料输入、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结构化生成笔记，到自动生成复习题目、错题回溯，再到基于遗忘曲线的个性化复习计划推送，让用户从 “被动记录” 转向 “主动学习”，真正实现 “输入 - 理解 - 巩固 - 掌握” 的完整链路，让笔记不再只是知识的载体，而是驱动学习的引擎。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 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3" name="图片 2" descr="post_object_image_2604382036"/>
          <p:cNvPicPr>
            <a:picLocks noChangeAspect="1"/>
          </p:cNvPicPr>
          <p:nvPr/>
        </p:nvPicPr>
        <p:blipFill>
          <a:blip r:embed="rId3"/>
          <a:srcRect t="3306" b="13225"/>
          <a:stretch>
            <a:fillRect/>
          </a:stretch>
        </p:blipFill>
        <p:spPr>
          <a:xfrm>
            <a:off x="6585223" y="1172439"/>
            <a:ext cx="4692003" cy="522180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21130" y="536721"/>
            <a:ext cx="84881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 defTabSz="4572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charset="0"/>
                <a:ea typeface="vivo Sans" charset="0"/>
                <a:cs typeface="vivo Sans" charset="0"/>
              </a:rPr>
              <a:t>创新点二：多模态输出，从 “线性文本” 到 “结构化知识”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charset="0"/>
              <a:ea typeface="vivo Sans" charset="0"/>
              <a:cs typeface="vivo Sans" charset="0"/>
            </a:endParaRPr>
          </a:p>
          <a:p>
            <a:endParaRPr lang="zh-CN" altLang="en-US" sz="2000" b="1" spc="230" dirty="0">
              <a:solidFill>
                <a:schemeClr val="tx1"/>
              </a:solidFill>
              <a:uFillTx/>
              <a:latin typeface="vivo Sans" charset="0"/>
              <a:ea typeface="vivo Sans" charset="0"/>
              <a:cs typeface="vivo San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12355" y="247474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4617" y="1269956"/>
            <a:ext cx="5082356" cy="5094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课程 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PPT、PDF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讲义等原始资料多为线性呈现，用户需要自行梳理逻辑、提炼重点，才能搭建知识框架，效率低下且容易遗漏关键信息。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本产品支持多模态智能输出：基于原始材料，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可自动生成结构化层级笔记、思维导图、关键词总结与复习要点，将线性的文本内容转化为层次清晰、逻辑明确的知识体系，让用户无需手动梳理，就能直观掌握知识的层级、因果与关联关系，实现从 “被动阅读” 到 “主动构建知识框架” 的跨越。 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985760" y="304165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endParaRPr lang="zh-CN" altLang="en-US"/>
          </a:p>
        </p:txBody>
      </p:sp>
      <p:pic>
        <p:nvPicPr>
          <p:cNvPr id="4" name="图片 3" descr="post_object_image_2520472196"/>
          <p:cNvPicPr>
            <a:picLocks noChangeAspect="1"/>
          </p:cNvPicPr>
          <p:nvPr/>
        </p:nvPicPr>
        <p:blipFill>
          <a:blip r:embed="rId3"/>
          <a:srcRect t="8218" b="1761"/>
          <a:stretch>
            <a:fillRect/>
          </a:stretch>
        </p:blipFill>
        <p:spPr>
          <a:xfrm>
            <a:off x="6551608" y="1088555"/>
            <a:ext cx="5044761" cy="5684427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421101" y="231921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 defTabSz="4572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charset="0"/>
              </a:rPr>
              <a:t>创新点三：引用回链机制，让</a:t>
            </a:r>
            <a:r>
              <a:rPr lang="en-US" altLang="zh-CN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charset="0"/>
              </a:rPr>
              <a:t>AI</a:t>
            </a: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charset="0"/>
              </a:rPr>
              <a:t>输出可追溯、可验证</a:t>
            </a:r>
            <a:endParaRPr lang="zh-CN" altLang="en-US" sz="2000" b="1" spc="230" dirty="0">
              <a:solidFill>
                <a:schemeClr val="tx1"/>
              </a:solidFill>
              <a:uFillTx/>
              <a:latin typeface="宋体" pitchFamily="2" charset="-122"/>
              <a:ea typeface="宋体" pitchFamily="2" charset="-122"/>
              <a:cs typeface="vivo San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00852" y="247474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创新点说明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3366" y="1195562"/>
            <a:ext cx="5587966" cy="5094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学习场景中，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生成内容的可信度非常重要。如果 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总结错误或生成无依据内容，用户可能会形成错误理解。因此，本产品将引用回链作为核心创新之一。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系统在生成笔记时，将关键内容与原始文本段落建立联系，并在笔记中展示引用编号。用户点击引用编号后，可以查看对应的原始文本来源和高亮段落，从而验证 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生成内容是否准确。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这种设计解决了普通 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摘要工具中“生成了但不知道从哪里来”的问题。它让 </a:t>
            </a:r>
            <a:r>
              <a:rPr lang="en-US" altLang="zh-CN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charset="0"/>
                <a:ea typeface="宋体" charset="0"/>
                <a:cs typeface="宋体" charset="0"/>
              </a:rPr>
              <a:t>输出从不可追溯的文本，转变为可以被查证、可以被修正的学习内容。 </a:t>
            </a:r>
            <a:endParaRPr lang="zh-CN" altLang="en-US" dirty="0">
              <a:solidFill>
                <a:srgbClr val="000000"/>
              </a:solidFill>
              <a:effectLst/>
              <a:latin typeface="宋体" charset="0"/>
              <a:ea typeface="宋体" charset="0"/>
              <a:cs typeface="宋体" charset="0"/>
            </a:endParaRPr>
          </a:p>
        </p:txBody>
      </p:sp>
      <p:pic>
        <p:nvPicPr>
          <p:cNvPr id="3" name="图片 2" descr="post_object_image_1825631020"/>
          <p:cNvPicPr>
            <a:picLocks noChangeAspect="1"/>
          </p:cNvPicPr>
          <p:nvPr/>
        </p:nvPicPr>
        <p:blipFill>
          <a:blip r:embed="rId3"/>
          <a:srcRect t="17235" b="22261"/>
          <a:stretch>
            <a:fillRect/>
          </a:stretch>
        </p:blipFill>
        <p:spPr>
          <a:xfrm>
            <a:off x="6504786" y="1745531"/>
            <a:ext cx="5240969" cy="4165879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1812" y="1210704"/>
            <a:ext cx="11220867" cy="5077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b="1" dirty="0"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核心用户一：在校大学生——课程资料整理与期末复习用户</a:t>
            </a:r>
            <a:endParaRPr lang="zh-CN" altLang="en-US" b="1" dirty="0">
              <a:latin typeface="宋体" pitchFamily="2" charset="-122"/>
              <a:ea typeface="宋体" pitchFamily="2" charset="-122"/>
              <a:cs typeface="vivo Sans" panose="02000500000000000000" pitchFamily="2" charset="-122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一般18—25 岁的本科生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/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研究生，日常学习中需要处理大量课程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PPT、PDF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讲义、电子教材片段、实验文档和课堂笔记。他们通常在课后复习、期末备考、课程汇报时，需要重新理解课程内容。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对他们来说，资料获取并不困难，但资料结构化整理成本高。很多课程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PPT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页数多、信息密度大，知识点之间的逻辑关系并不总是显性呈现。学生在课堂上可能听懂了，但课后复习时又需要重新翻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PPT、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划重点、整理笔记和搭建知识框架。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他们使用本产品的核心动机是：希望快速把课程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PPT、PDF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讲义或文字资料转化为结构化笔记和思维导图，在较短时间内掌握课程框架，并通过复习建议查缺补漏。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8084" y="4838861"/>
            <a:ext cx="10724609" cy="2272742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/>
              <a:t>小林，20 岁，计算机专业大二学生。他正在复习“机器学习导论”，手里有几十页课程 </a:t>
            </a:r>
            <a:r>
              <a:rPr lang="en-US" altLang="zh-CN"/>
              <a:t>PPT </a:t>
            </a:r>
            <a:r>
              <a:rPr lang="zh-CN" altLang="en-US"/>
              <a:t>和老师发的 </a:t>
            </a:r>
            <a:r>
              <a:rPr lang="en-US" altLang="zh-CN"/>
              <a:t>PDF </a:t>
            </a:r>
            <a:r>
              <a:rPr lang="zh-CN" altLang="en-US"/>
              <a:t>讲义。传统方式下，她需要逐页翻课件、手动整理知识点。使用本产品后，她可以上传 </a:t>
            </a:r>
            <a:r>
              <a:rPr lang="en-US" altLang="zh-CN"/>
              <a:t>PPT/PDF，</a:t>
            </a:r>
            <a:r>
              <a:rPr lang="zh-CN" altLang="en-US"/>
              <a:t>自动生成结构化笔记和思维导图，并通过引用回链查看知识点对应的原始页码。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366564" y="268635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 defTabSz="4572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charset="0"/>
                <a:ea typeface="vivo Sans" charset="0"/>
                <a:cs typeface="vivo Sans" charset="0"/>
              </a:rPr>
              <a:t>目标用户画像与使用场景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charset="0"/>
              <a:ea typeface="vivo Sans" charset="0"/>
              <a:cs typeface="vivo Sans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1812" y="1199202"/>
            <a:ext cx="11257918" cy="5077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b="1" dirty="0"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核心用户二：备考人群——高强度资料归纳与复习用户</a:t>
            </a:r>
            <a:endParaRPr lang="zh-CN" altLang="en-US" b="1" dirty="0">
              <a:latin typeface="宋体" pitchFamily="2" charset="-122"/>
              <a:ea typeface="宋体" pitchFamily="2" charset="-122"/>
              <a:cs typeface="vivo Sans" panose="02000500000000000000" pitchFamily="2" charset="-122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主要为 18—30 岁的考研、考公、考证用户。他们通常拥有明确考试目标和较强时间压力，需要长期处理讲义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PDF、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真题解析、课程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PPT、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知识点文档和个人错题资料。</a:t>
            </a:r>
            <a:endParaRPr lang="zh-CN" altLang="en-US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这类用户的典型特点是：资料量大、重复内容多、复习周期长、薄弱点需要持续跟踪。对于他们而言，单纯保存资料并不能提高复习效率，真正重要的是快速提炼考点、建立知识体系、发现易错点，并围绕薄弱知识点进行反复复习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他们使用本产品的核心动机是：希望将分散的备考资料转化为清晰的复习框架，通过思维导图快速把握知识体系，并借助复习建议和知识库持续沉淀薄弱点。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69482" y="4852107"/>
            <a:ext cx="10222541" cy="1489214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/>
              <a:t>小陈，23 岁，正在准备考研专业课。他手里有多份 </a:t>
            </a:r>
            <a:r>
              <a:rPr lang="en-US" altLang="zh-CN"/>
              <a:t>PDF </a:t>
            </a:r>
            <a:r>
              <a:rPr lang="zh-CN" altLang="en-US"/>
              <a:t>讲义、历年真题解析和课程 </a:t>
            </a:r>
            <a:r>
              <a:rPr lang="en-US" altLang="zh-CN"/>
              <a:t>PPT。</a:t>
            </a:r>
            <a:r>
              <a:rPr lang="zh-CN" altLang="en-US"/>
              <a:t>资料很多，但每次复习都要重新翻找重点。使用本产品后，他可以批量导入讲义和 </a:t>
            </a:r>
            <a:r>
              <a:rPr lang="en-US" altLang="zh-CN"/>
              <a:t>PPT，</a:t>
            </a:r>
            <a:r>
              <a:rPr lang="zh-CN" altLang="en-US"/>
              <a:t>让 </a:t>
            </a:r>
            <a:r>
              <a:rPr lang="en-US" altLang="zh-CN"/>
              <a:t>AI </a:t>
            </a:r>
            <a:r>
              <a:rPr lang="zh-CN" altLang="en-US"/>
              <a:t>自动提炼章节考点、易混淆概念和复习重点，并生成备考思维导图。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45031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 defTabSz="4572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charset="0"/>
                <a:ea typeface="vivo Sans" charset="0"/>
                <a:cs typeface="vivo Sans" charset="0"/>
              </a:rPr>
              <a:t>目标用户画像与使用场景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charset="0"/>
              <a:ea typeface="vivo Sans" charset="0"/>
              <a:cs typeface="vivo Sans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 defTabSz="4572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charset="0"/>
                <a:ea typeface="vivo Sans" charset="0"/>
                <a:cs typeface="vivo Sans" charset="0"/>
              </a:rPr>
              <a:t>目标用户画像与使用场景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charset="0"/>
              <a:ea typeface="vivo Sans" charset="0"/>
              <a:cs typeface="vivo Sans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1812" y="1199202"/>
            <a:ext cx="11026529" cy="5077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b="1" dirty="0"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拓展用户：论文/长文阅读用户：复杂文档快速结构化用户</a:t>
            </a:r>
            <a:endParaRPr lang="zh-CN" altLang="en-US" b="1" dirty="0">
              <a:latin typeface="宋体" pitchFamily="2" charset="-122"/>
              <a:ea typeface="宋体" pitchFamily="2" charset="-122"/>
              <a:cs typeface="vivo Sans" panose="02000500000000000000" pitchFamily="2" charset="-122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这类用户主要包括本科高年级学生、研究生、科研入门者和职场学习者，年龄大多集中在 20—35 岁。他们经常需要阅读论文、研究报告、行业白皮书、产品文档或长篇学习材料。</a:t>
            </a:r>
            <a:endParaRPr lang="zh-CN" altLang="en-US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这类用户的典型特点是：阅读材料篇幅长、结构复杂、信息密度高，读完之后容易只留下零散印象，很难快速提炼研究问题、核心观点、方法框架、结论和局限。传统阅读笔记往往依赖手工摘抄和总结，效率较低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他们使用本产品的核心动机是：希望快速将长文档转化为结构化阅读笔记和思维导图，便于理解、复盘、汇报和后续引用。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81470" y="4869032"/>
            <a:ext cx="9984443" cy="2813347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/>
              <a:t>小周，研二学生，正在阅读一篇专业论文。论文篇幅较长，方法和实验部分信息密集。使用本产品后，她可以上传 </a:t>
            </a:r>
            <a:r>
              <a:rPr lang="en-US" altLang="zh-CN"/>
              <a:t>PDF，</a:t>
            </a:r>
            <a:r>
              <a:rPr lang="zh-CN" altLang="en-US"/>
              <a:t>让系统生成“研究问题—方法框架—实验结果—结论局限”的结构化笔记，并通过思维导图把握论文主线。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57269" y="243423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痛点一：资料不是没有，而是有了却用不起来</a:t>
            </a:r>
            <a:endParaRPr lang="zh-CN" altLang="en-US" sz="2000" b="1" spc="230" dirty="0">
              <a:solidFill>
                <a:schemeClr val="tx1"/>
              </a:solidFill>
              <a:uFillTx/>
              <a:latin typeface="宋体" pitchFamily="2" charset="-122"/>
              <a:ea typeface="宋体" pitchFamily="2" charset="-122"/>
              <a:cs typeface="vivo Sans" panose="02000500000000000000" pitchFamily="2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7264535" y="1241361"/>
            <a:ext cx="4209818" cy="460084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>
                <a:latin typeface="宋体" charset="0"/>
                <a:ea typeface="宋体" charset="0"/>
                <a:cs typeface="宋体" charset="0"/>
              </a:rPr>
              <a:t>用户的学习资料常常分散在课程 </a:t>
            </a:r>
            <a:r>
              <a:rPr lang="en-US" altLang="zh-CN">
                <a:latin typeface="宋体" charset="0"/>
                <a:ea typeface="宋体" charset="0"/>
                <a:cs typeface="宋体" charset="0"/>
              </a:rPr>
              <a:t>PPT、PDF </a:t>
            </a:r>
            <a:r>
              <a:rPr lang="zh-CN" altLang="en-US">
                <a:latin typeface="宋体" charset="0"/>
                <a:ea typeface="宋体" charset="0"/>
                <a:cs typeface="宋体" charset="0"/>
              </a:rPr>
              <a:t>讲义、电子文档、文字摘录和论文材料中。真正将这些资料整理成可学习、可复习的笔记，需要大量手工操作，包括复制粘贴、提炼重点、划分层级、总结关键词和建立目录。</a:t>
            </a:r>
            <a:endParaRPr lang="zh-CN" altLang="en-US">
              <a:latin typeface="宋体" charset="0"/>
              <a:ea typeface="宋体" charset="0"/>
              <a:cs typeface="宋体" charset="0"/>
            </a:endParaRPr>
          </a:p>
          <a:p>
            <a:pPr algn="l">
              <a:lnSpc>
                <a:spcPct val="150000"/>
              </a:lnSpc>
            </a:pPr>
            <a:endParaRPr lang="en-US" altLang="zh-CN">
              <a:latin typeface="宋体" charset="0"/>
              <a:ea typeface="宋体" charset="0"/>
              <a:cs typeface="宋体" charset="0"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>
                <a:latin typeface="宋体" charset="0"/>
                <a:ea typeface="宋体" charset="0"/>
                <a:cs typeface="宋体" charset="0"/>
              </a:rPr>
              <a:t>本作品通过文本、文档、</a:t>
            </a:r>
            <a:r>
              <a:rPr lang="en-US" altLang="zh-CN">
                <a:latin typeface="宋体" charset="0"/>
                <a:ea typeface="宋体" charset="0"/>
                <a:cs typeface="宋体" charset="0"/>
              </a:rPr>
              <a:t>PDF、PPT </a:t>
            </a:r>
            <a:r>
              <a:rPr lang="zh-CN" altLang="en-US">
                <a:latin typeface="宋体" charset="0"/>
                <a:ea typeface="宋体" charset="0"/>
                <a:cs typeface="宋体" charset="0"/>
              </a:rPr>
              <a:t>等输入方式，将资料直接交给 </a:t>
            </a:r>
            <a:r>
              <a:rPr lang="en-US" altLang="zh-CN"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>
                <a:latin typeface="宋体" charset="0"/>
                <a:ea typeface="宋体" charset="0"/>
                <a:cs typeface="宋体" charset="0"/>
              </a:rPr>
              <a:t>处理，自动完成解析、提炼和结构化生成，降低用户手动整理的成本。</a:t>
            </a:r>
            <a:endParaRPr lang="zh-CN" altLang="en-US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417881" y="6031278"/>
            <a:ext cx="329120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l" defTabSz="45720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200" b="1">
                <a:solidFill>
                  <a:schemeClr val="tx1"/>
                </a:solidFill>
                <a:latin typeface="vivo Sans" charset="0"/>
                <a:ea typeface="vivo Sans" charset="0"/>
                <a:cs typeface="vivo Sans" charset="0"/>
              </a:rPr>
              <a:t>保存资料 ≠ 可以直接学习</a:t>
            </a:r>
            <a:endParaRPr lang="zh-CN" altLang="en-US" sz="2200" b="1">
              <a:solidFill>
                <a:schemeClr val="tx1"/>
              </a:solidFill>
              <a:latin typeface="vivo Sans" charset="0"/>
              <a:ea typeface="vivo Sans" charset="0"/>
              <a:cs typeface="vivo Sans" charset="0"/>
            </a:endParaRPr>
          </a:p>
        </p:txBody>
      </p:sp>
      <p:pic>
        <p:nvPicPr>
          <p:cNvPr id="13" name="图片 12" descr="post_object_image_3226945472"/>
          <p:cNvPicPr>
            <a:picLocks noChangeAspect="1"/>
          </p:cNvPicPr>
          <p:nvPr/>
        </p:nvPicPr>
        <p:blipFill>
          <a:blip r:embed="rId3"/>
          <a:srcRect b="17970"/>
          <a:stretch>
            <a:fillRect/>
          </a:stretch>
        </p:blipFill>
        <p:spPr>
          <a:xfrm>
            <a:off x="327240" y="1377050"/>
            <a:ext cx="6525923" cy="40208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357269" y="243423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痛点二：</a:t>
            </a:r>
            <a:r>
              <a:rPr lang="en-US" altLang="zh-CN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PPT</a:t>
            </a: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和</a:t>
            </a:r>
            <a:r>
              <a:rPr lang="en-US" altLang="zh-CN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PDF</a:t>
            </a: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是线性的，但学习需要结构</a:t>
            </a:r>
            <a:endParaRPr lang="zh-CN" altLang="en-US" sz="2000" b="1" spc="230" dirty="0">
              <a:solidFill>
                <a:schemeClr val="tx1"/>
              </a:solidFill>
              <a:uFillTx/>
              <a:latin typeface="宋体" pitchFamily="2" charset="-122"/>
              <a:ea typeface="宋体" pitchFamily="2" charset="-122"/>
              <a:cs typeface="vivo Sans" panose="020005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1070" y="1166265"/>
            <a:ext cx="10569903" cy="16037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课程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PPT、PDF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讲义和论文通常按页面或段落顺序展开，但用户真正需要的是知识之间的层级、因果、并列和前置关系。读完材料不等于看清结构。</a:t>
            </a:r>
            <a:br>
              <a:rPr lang="zh-CN" altLang="en-US" dirty="0">
                <a:latin typeface="宋体" charset="0"/>
                <a:ea typeface="宋体" charset="0"/>
                <a:cs typeface="宋体" charset="0"/>
              </a:rPr>
            </a:b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	本作品通过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结构化笔记和思维导图，帮助用户更快理解材料整体框架。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1259368" y="2677897"/>
            <a:ext cx="3611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/>
              <a:t>原始资料：从第一页读到最后一页</a:t>
            </a:r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7710689" y="2677933"/>
            <a:ext cx="26974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/>
              <a:t>学习真正需要：知识框架</a:t>
            </a:r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368110" y="6166196"/>
            <a:ext cx="6902450" cy="42989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 sz="2200" b="1">
                <a:latin typeface="vivo Sans" charset="0"/>
                <a:ea typeface="vivo Sans" charset="0"/>
                <a:cs typeface="vivo Sans" charset="0"/>
              </a:rPr>
              <a:t>用户需要的不是“更多内容”，而是“更清晰的知识结构”</a:t>
            </a:r>
            <a:endParaRPr lang="zh-CN" altLang="en-US" sz="2200" b="1">
              <a:latin typeface="vivo Sans" charset="0"/>
              <a:ea typeface="vivo Sans" charset="0"/>
              <a:cs typeface="vivo Sans" charset="0"/>
            </a:endParaRPr>
          </a:p>
        </p:txBody>
      </p:sp>
      <p:pic>
        <p:nvPicPr>
          <p:cNvPr id="14" name="图片 13" descr="post_object_image_445034176"/>
          <p:cNvPicPr>
            <a:picLocks noChangeAspect="1"/>
          </p:cNvPicPr>
          <p:nvPr/>
        </p:nvPicPr>
        <p:blipFill>
          <a:blip r:embed="rId2"/>
          <a:srcRect t="23374" b="22328"/>
          <a:stretch>
            <a:fillRect/>
          </a:stretch>
        </p:blipFill>
        <p:spPr>
          <a:xfrm>
            <a:off x="811095" y="3203176"/>
            <a:ext cx="4860545" cy="2807354"/>
          </a:xfrm>
          <a:prstGeom prst="rect">
            <a:avLst/>
          </a:prstGeom>
        </p:spPr>
      </p:pic>
      <p:pic>
        <p:nvPicPr>
          <p:cNvPr id="17" name="图片 16" descr="post_object_image_3300533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764" y="3047484"/>
            <a:ext cx="5155266" cy="296305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66270" y="1848261"/>
            <a:ext cx="6588660" cy="3044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在严肃学习和备考场景中，用户不仅关心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是否能总结内容，更关心总结是否准确、是否有依据。如果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漏掉关键考点、误解原文，或生成没有来源的结论，可能会影响用户的学习判断。</a:t>
            </a:r>
            <a:endParaRPr lang="zh-CN" altLang="en-US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本作品通过“引用回链”机制，将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生成内容与原始文档段落、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PPT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页码或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PDF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页码建立联系。用户点击引用编号即可查看原文依据，从而降低 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幻觉风险，增强学习内容的可信度。</a:t>
            </a: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57269" y="243423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痛点三：</a:t>
            </a:r>
            <a:r>
              <a:rPr lang="en-US" altLang="zh-CN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AI</a:t>
            </a: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总结很快，但真的能信吗？</a:t>
            </a:r>
            <a:endParaRPr lang="zh-CN" altLang="en-US" sz="2000" b="1" spc="230" dirty="0">
              <a:solidFill>
                <a:schemeClr val="tx1"/>
              </a:solidFill>
              <a:uFillTx/>
              <a:latin typeface="宋体" pitchFamily="2" charset="-122"/>
              <a:ea typeface="宋体" pitchFamily="2" charset="-122"/>
              <a:cs typeface="vivo Sans" panose="02000500000000000000" pitchFamily="2" charset="-122"/>
            </a:endParaRPr>
          </a:p>
        </p:txBody>
      </p:sp>
      <p:pic>
        <p:nvPicPr>
          <p:cNvPr id="10" name="图片 9" descr="post_object_image_11331411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5" y="1642471"/>
            <a:ext cx="4064221" cy="1221710"/>
          </a:xfrm>
          <a:prstGeom prst="rect">
            <a:avLst/>
          </a:prstGeom>
        </p:spPr>
      </p:pic>
      <p:pic>
        <p:nvPicPr>
          <p:cNvPr id="12" name="图片 11" descr="post_object_image_35437807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40" y="2943564"/>
            <a:ext cx="971550" cy="971550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591334" y="3047096"/>
            <a:ext cx="2118360" cy="216852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/>
              <a:t>用户</a:t>
            </a:r>
            <a:r>
              <a:rPr lang="zh-CN" altLang="en-US">
                <a:cs typeface="Arial" panose="020B0604020202020204" pitchFamily="34" charset="0"/>
              </a:rPr>
              <a:t>内心</a:t>
            </a:r>
            <a:r>
              <a:rPr lang="en-US" altLang="zh-CN">
                <a:cs typeface="Arial" panose="020B0604020202020204" pitchFamily="34" charset="0"/>
              </a:rPr>
              <a:t>OS</a:t>
            </a:r>
            <a:r>
              <a:rPr lang="zh-CN" altLang="en-US">
                <a:cs typeface="Arial" panose="020B0604020202020204" pitchFamily="34" charset="0"/>
              </a:rPr>
              <a:t>：</a:t>
            </a:r>
            <a:endParaRPr lang="zh-CN" altLang="en-US"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cs typeface="Arial" panose="020B0604020202020204" pitchFamily="34" charset="0"/>
              </a:rPr>
              <a:t>这句话来自哪里？ </a:t>
            </a:r>
            <a:endParaRPr lang="zh-CN" altLang="en-US"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cs typeface="Arial" panose="020B0604020202020204" pitchFamily="34" charset="0"/>
              </a:rPr>
              <a:t>有没有漏掉重点？ </a:t>
            </a:r>
            <a:endParaRPr lang="zh-CN" altLang="en-US"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cs typeface="Arial" panose="020B0604020202020204" pitchFamily="34" charset="0"/>
              </a:rPr>
              <a:t>会不会是 </a:t>
            </a:r>
            <a:r>
              <a:rPr lang="en-US" altLang="zh-CN">
                <a:cs typeface="Arial" panose="020B0604020202020204" pitchFamily="34" charset="0"/>
              </a:rPr>
              <a:t>AI </a:t>
            </a:r>
            <a:r>
              <a:rPr lang="zh-CN" altLang="en-US">
                <a:cs typeface="Arial" panose="020B0604020202020204" pitchFamily="34" charset="0"/>
              </a:rPr>
              <a:t>编的？</a:t>
            </a:r>
            <a:br>
              <a:rPr lang="zh-CN" altLang="en-US">
                <a:cs typeface="Arial" panose="020B0604020202020204" pitchFamily="34" charset="0"/>
              </a:rPr>
            </a:br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711081" y="5487796"/>
            <a:ext cx="438340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l" defTabSz="45720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200" b="1">
                <a:solidFill>
                  <a:schemeClr val="tx1"/>
                </a:solidFill>
                <a:latin typeface="vivo Sans" charset="0"/>
                <a:ea typeface="vivo Sans" charset="0"/>
                <a:cs typeface="vivo Sans" charset="0"/>
              </a:rPr>
              <a:t>生成得快不够，生成得可信才重要</a:t>
            </a:r>
            <a:endParaRPr lang="zh-CN" altLang="en-US" sz="2200" b="1">
              <a:solidFill>
                <a:schemeClr val="tx1"/>
              </a:solidFill>
              <a:latin typeface="vivo Sans" charset="0"/>
              <a:ea typeface="vivo Sans" charset="0"/>
              <a:cs typeface="vivo Sans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712" y="1459935"/>
            <a:ext cx="4403235" cy="21568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传统笔记工具通常以记录和保存为终点，但真实学习需要不断复习、检测、反馈和查漏补缺。很多用户虽然整理了笔记，却很少真正复习，最终导致“笔记很多，掌握很少”。</a:t>
            </a:r>
            <a:endParaRPr lang="zh-CN" altLang="en-US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endParaRPr lang="en-US" altLang="zh-CN" dirty="0">
              <a:latin typeface="宋体" charset="0"/>
              <a:ea typeface="宋体" charset="0"/>
              <a:cs typeface="宋体" charset="0"/>
            </a:endParaRPr>
          </a:p>
          <a:p>
            <a:pPr indent="457200">
              <a:lnSpc>
                <a:spcPct val="150000"/>
              </a:lnSpc>
              <a:buNone/>
            </a:pP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本作品在生成结构化笔记后，进一步提供复习建议、掌握度评估、</a:t>
            </a:r>
            <a:r>
              <a:rPr lang="en-US" altLang="zh-CN" dirty="0"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latin typeface="宋体" charset="0"/>
                <a:ea typeface="宋体" charset="0"/>
                <a:cs typeface="宋体" charset="0"/>
              </a:rPr>
              <a:t>对话辅助和知识库沉淀，使笔记不只是静态资料，而是能够继续参与学习过程。</a:t>
            </a:r>
            <a:endParaRPr lang="zh-CN" altLang="en-US" dirty="0"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57269" y="243423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宋体" pitchFamily="2" charset="-122"/>
                <a:ea typeface="宋体" pitchFamily="2" charset="-122"/>
                <a:cs typeface="vivo Sans" panose="02000500000000000000" pitchFamily="2" charset="-122"/>
              </a:rPr>
              <a:t>痛点四：笔记整理完，不等于真正学会</a:t>
            </a:r>
            <a:endParaRPr lang="zh-CN" altLang="en-US" sz="2000" b="1" spc="230" dirty="0">
              <a:solidFill>
                <a:schemeClr val="tx1"/>
              </a:solidFill>
              <a:uFillTx/>
              <a:latin typeface="宋体" pitchFamily="2" charset="-122"/>
              <a:ea typeface="宋体" pitchFamily="2" charset="-122"/>
              <a:cs typeface="vivo Sans" panose="02000500000000000000" pitchFamily="2" charset="-122"/>
            </a:endParaRPr>
          </a:p>
        </p:txBody>
      </p:sp>
      <p:pic>
        <p:nvPicPr>
          <p:cNvPr id="10" name="图片 9" descr="post_object_image_34683996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02" y="933265"/>
            <a:ext cx="6885871" cy="5172100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3321794" y="6105386"/>
            <a:ext cx="4943475" cy="4298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l" defTabSz="45720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200" b="1">
                <a:solidFill>
                  <a:schemeClr val="tx1"/>
                </a:solidFill>
                <a:latin typeface="vivo Sans" charset="0"/>
                <a:ea typeface="vivo Sans" charset="0"/>
                <a:cs typeface="vivo Sans" charset="0"/>
              </a:rPr>
              <a:t>笔记的终点不该是存档，而应该是掌握</a:t>
            </a:r>
            <a:endParaRPr lang="zh-CN" altLang="en-US" sz="2200" b="1">
              <a:solidFill>
                <a:schemeClr val="tx1"/>
              </a:solidFill>
              <a:latin typeface="vivo Sans" charset="0"/>
              <a:ea typeface="vivo Sans" charset="0"/>
              <a:cs typeface="vivo Sans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57269" y="243423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社会价值：让 </a:t>
            </a:r>
            <a:r>
              <a:rPr lang="en-US" altLang="zh-CN" sz="2000" b="1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AI </a:t>
            </a: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帮助更多人真正学会知识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840495" y="1363599"/>
            <a:ext cx="10152679" cy="5180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降低学习门槛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通过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AIGC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将文档、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PDF、PPT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等资料转化为结构化笔记和思维导图，减少用户手动整理成本，帮助更多学习者更快进入学习状态。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提升学习效率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将分散、复杂的学习资料转化为清晰的知识结构，帮助用户快速把握重点，减少重复翻找和低效复习。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推动可信 </a:t>
            </a:r>
            <a:r>
              <a:rPr lang="en-US" altLang="zh-CN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教育应用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通过引用回链和来源验证，让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生成内容可追溯、可核对，降低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幻觉对学习的影响。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促进长期知识沉淀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通过笔记库、导图库、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对话和复习建议，帮助用户将单次学习积累为长期知识资产，支持持续学习和终身学习。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1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57269" y="243423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市场</a:t>
            </a: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Arial" panose="020B0604020202020204" pitchFamily="34" charset="0"/>
              </a:rPr>
              <a:t>分析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85126" y="1402334"/>
            <a:ext cx="11218549" cy="514232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传统笔记工具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以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Notion、Obsidian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等为代表的传统笔记工具，在内容编辑、资料归档、标签管理和知识库搭建方面较为成熟，能够帮助用户长期保存和组织学习资料。即使引入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插件后，这类工具也更多是在原有笔记体系上增强总结、润色或问答能力，本质上仍然以“记录与管理”为核心，不能解决用户高效率学习的需求。</a:t>
            </a:r>
            <a:endParaRPr lang="en-US" altLang="zh-CN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普通 </a:t>
            </a:r>
            <a:r>
              <a:rPr lang="en-US" altLang="zh-CN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摘要工具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普通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摘要工具可以快速总结文章、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PDF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或长文本，降低阅读成本。但这类工具通常以一次性摘要为主，输出结果多为连续文本，缺少面向学习场景的结构化笔记、思维导图、复习建议和知识库沉淀。更重要的是，普通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摘要工具往往缺少可靠的引用回链机制，用户难以判断生成内容是否准确、是否来自原文。</a:t>
            </a:r>
            <a:endParaRPr lang="en-US" altLang="zh-CN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普通思维导图工具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传统思维导图工具能够帮助用户可视化知识结构，在节点编辑、层级调整和图形展示方面较为成熟。即使部分工具已经引入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辅助生成能力，其核心仍主要停留在“将内容整理成导图”这一环节，侧重于知识结构的呈现，而较少进一步参与用户后续的理解、练习、评估与复习过程。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926230" y="909538"/>
            <a:ext cx="10576560" cy="64516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/>
              <a:t>目前市场上与本作品相关的解决方案主要包括三类：传统笔记工具、思维导图工具和普通 </a:t>
            </a:r>
            <a:r>
              <a:rPr lang="en-US" altLang="zh-CN"/>
              <a:t>AI </a:t>
            </a:r>
            <a:r>
              <a:rPr lang="zh-CN" altLang="en-US"/>
              <a:t>摘要工具。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前景评估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357269" y="243423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市场</a:t>
            </a:r>
            <a:r>
              <a:rPr lang="zh-CN" altLang="en-US" sz="2000" b="1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Arial" panose="020B0604020202020204" pitchFamily="34" charset="0"/>
              </a:rPr>
              <a:t>分析</a:t>
            </a:r>
            <a:endParaRPr lang="zh-CN" altLang="en-US" sz="2000" b="1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619760" y="1429669"/>
            <a:ext cx="10400306" cy="512851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从文档到学习闭环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本作品不是单一的笔记工具、摘要工具或思维导图工具，而是围绕学习过程构建完整闭环，覆盖用户从资料整理到复习巩固的关键过程，使产品更贴近真实学习场景。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低摩擦移动端体验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45720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首页、笔记、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AI、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导图、我的五个入口，用户可快速上传资料并生成结果。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引用回链增强信任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lvl="1" indent="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与普通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摘要工具相比，本作品强调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生成内容的可追溯性。通过引用编号、原文弹窗和高亮段落，用户可以验证 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AI 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生成内容是否有依据，能够增强用户对产品的信任感。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笔记 + 导图结合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45720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“笔记 + 导图”的组合能够更好地满足学习者对理解、复习和输出的需求。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marL="285750" indent="-28575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知识库长期沉淀</a:t>
            </a:r>
            <a:endParaRPr lang="zh-CN" altLang="en-US" b="1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  <a:p>
            <a:pPr indent="457200" algn="l" defTabSz="4572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本作品通过笔记</a:t>
            </a:r>
            <a:r>
              <a:rPr lang="en-US" altLang="zh-CN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宋体" charset="0"/>
                <a:ea typeface="宋体" charset="0"/>
                <a:cs typeface="宋体" charset="0"/>
              </a:rPr>
              <a:t>导图库，将生成结果沉淀。用户可以反复查看、编辑、复习和检索历史内容。</a:t>
            </a:r>
            <a:endParaRPr lang="zh-CN" altLang="en-US" dirty="0">
              <a:solidFill>
                <a:schemeClr val="tx1"/>
              </a:solidFill>
              <a:latin typeface="宋体" charset="0"/>
              <a:ea typeface="宋体" charset="0"/>
              <a:cs typeface="宋体" charset="0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068126" y="957869"/>
            <a:ext cx="4526280" cy="64516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zh-CN" altLang="en-US"/>
              <a:t>相比行业现有方案，本作品具有以下优势：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0628" y="764091"/>
            <a:ext cx="10132541" cy="4201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作品提交说明：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、本次大赛允许使用三方工具与三方大模型协助输出最终作品，推荐使用蓝心大模型。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、凡投稿到本次大赛的作品，请确保参赛队伍拥有投稿作品的版权、著作权等所有权。并按照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《2026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中国高校计算机大赛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-AIGC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创新赛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-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参赛声明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》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自参赛作品提交之日起，即视为许可组委会和维沃移动通信有限公司及其关联公司</a:t>
            </a:r>
            <a:r>
              <a:rPr lang="en-US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(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下称“</a:t>
            </a:r>
            <a:r>
              <a:rPr lang="en-GB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vivo”)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对参赛作品无偿永久拥有在任何渠道、平台、媒体进行发表、复制、展览、信息网络传播、展示、宣传等权利</a:t>
            </a:r>
            <a:r>
              <a:rPr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；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组委会及 </a:t>
            </a:r>
            <a:r>
              <a:rPr lang="en-GB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vivo 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会保障作者的署名权 。</a:t>
            </a:r>
            <a:endParaRPr lang="zh-CN" altLang="en-US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在同等条件下，维沃移动通信有限公司及其关联公司拥有参赛作品的优先合作权，具体合作情况将另行协商确定。</a:t>
            </a:r>
            <a:endParaRPr lang="zh-CN" altLang="en-US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75869" y="2828836"/>
            <a:ext cx="38404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 dirty="0">
                <a:solidFill>
                  <a:schemeClr val="bg1"/>
                </a:solidFill>
                <a:latin typeface="宋体" charset="0"/>
                <a:ea typeface="宋体" charset="0"/>
                <a:cs typeface="vivo Sans" panose="02000500000000000000" pitchFamily="2" charset="-122"/>
              </a:rPr>
              <a:t>感谢观看</a:t>
            </a:r>
            <a:endParaRPr kumimoji="1" lang="zh-CN" altLang="en-US" sz="7200" dirty="0">
              <a:solidFill>
                <a:schemeClr val="bg1"/>
              </a:solidFill>
              <a:latin typeface="宋体" charset="0"/>
              <a:ea typeface="宋体" charset="0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6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9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2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5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8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0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2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4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27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0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6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39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2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5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8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51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53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56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59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62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65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67.xml><?xml version="1.0" encoding="utf-8"?>
<p:tagLst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F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6351</Words>
  <Application>WPS Office WWO_wpscloud_20260623190606-b172d4396d</Application>
  <PresentationFormat>宽屏</PresentationFormat>
  <Paragraphs>359</Paragraphs>
  <Slides>30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54" baseType="lpstr">
      <vt:lpstr>Arial</vt:lpstr>
      <vt:lpstr>宋体</vt:lpstr>
      <vt:lpstr>Wingdings</vt:lpstr>
      <vt:lpstr>vivo Sans</vt:lpstr>
      <vt:lpstr>Noto Serif CJK SC</vt:lpstr>
      <vt:lpstr>vivo Sans Bold</vt:lpstr>
      <vt:lpstr>系统字体常规体</vt:lpstr>
      <vt:lpstr>微软雅黑</vt:lpstr>
      <vt:lpstr>汉仪旗黑KW 55S</vt:lpstr>
      <vt:lpstr>宋体</vt:lpstr>
      <vt:lpstr>汉仪书宋二KW</vt:lpstr>
      <vt:lpstr>vivo Sans Extrabold</vt:lpstr>
      <vt:lpstr>vivo Sans Medium</vt:lpstr>
      <vt:lpstr>等线</vt:lpstr>
      <vt:lpstr>等线</vt:lpstr>
      <vt:lpstr>Gill Sans MT</vt:lpstr>
      <vt:lpstr>Noto Sans Lao</vt:lpstr>
      <vt:lpstr>微软雅黑</vt:lpstr>
      <vt:lpstr>vivo Sans</vt:lpstr>
      <vt:lpstr>Kingsoft Confetti</vt:lpstr>
      <vt:lpstr>汉仪中等线KW</vt:lpstr>
      <vt:lpstr>华文中宋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mac 004</dc:creator>
  <cp:lastModifiedBy>3420628922@qq.com</cp:lastModifiedBy>
  <dcterms:created xsi:type="dcterms:W3CDTF">2026-07-05T06:43:21Z</dcterms:created>
  <dcterms:modified xsi:type="dcterms:W3CDTF">2026-07-05T06:43:21Z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032D1D781F891E144A22006AB5249E87_42</vt:lpwstr>
  </property>
  <property fmtid="{D5CDD505-2E9C-101B-9397-08002B2CF9AE}" pid="3" name="KSOProductBuildVer">
    <vt:lpwstr>2052-12.9.0.27451</vt:lpwstr>
  </property>
</Properties>
</file>